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救済者の負荷（%）</c:v>
                </c:pt>
              </c:strCache>
            </c:strRef>
          </c:tx>
          <c:spPr>
            <a:solidFill>
              <a:srgbClr val="E2665A"/>
            </a:solidFill>
            <a:ln w="9525" cap="flat">
              <a:solidFill>
                <a:srgbClr val="0B1220"/>
              </a:solidFill>
              <a:prstDash val="solid"/>
              <a:round/>
            </a:ln>
            <a:effectLst/>
          </c:spPr>
          <c:invertIfNegative val="0"/>
          <c:dLbls>
            <c:numFmt formatCode="#,##0" sourceLinked="0"/>
            <c:txPr>
              <a:bodyPr/>
              <a:lstStyle/>
              <a:p>
                <a:pPr>
                  <a:defRPr b="0" i="0" strike="noStrike" sz="1100" u="none">
                    <a:solidFill>
                      <a:srgbClr val="FFFFFF"/>
                    </a:solidFill>
                    <a:latin typeface="Arial"/>
                  </a:defRPr>
                </a:pPr>
              </a:p>
            </c:txPr>
            <c:showLegendKey val="0"/>
            <c:showVal val="1"/>
            <c:showCatName val="0"/>
            <c:showSerName val="0"/>
            <c:showPercent val="0"/>
            <c:showBubbleSize val="0"/>
            <c:showLeaderLines val="0"/>
          </c:dLbls>
          <c:cat>
            <c:multiLvlStrRef>
              <c:f>Sheet1!$A$2:$A$4</c:f>
              <c:multiLvlStrCache>
                <c:ptCount val="3"/>
                <c:lvl>
                  <c:pt idx="0">
                    <c:v>A</c:v>
                  </c:pt>
                  <c:pt idx="1">
                    <c:v>B</c:v>
                  </c:pt>
                  <c:pt idx="2">
                    <c:v>C</c:v>
                  </c:pt>
                </c:lvl>
              </c:multiLvlStrCache>
            </c:multiLvlStrRef>
          </c:cat>
          <c:val>
            <c:numRef>
              <c:f>Sheet1!$B$2:$B$4</c:f>
              <c:numCache>
                <c:formatCode>General</c:formatCode>
                <c:ptCount val="3"/>
                <c:pt idx="0">
                  <c:v>93</c:v>
                </c:pt>
                <c:pt idx="1">
                  <c:v>95</c:v>
                </c:pt>
                <c:pt idx="2">
                  <c:v>53</c:v>
                </c:pt>
              </c:numCache>
            </c:numRef>
          </c:val>
        </c:ser>
        <c:ser>
          <c:idx val="1"/>
          <c:order val="1"/>
          <c:tx>
            <c:strRef>
              <c:f>Sheet1!$C$1</c:f>
              <c:strCache>
                <c:ptCount val="1"/>
                <c:pt idx="0">
                  <c:v>村の自律度スコア</c:v>
                </c:pt>
              </c:strCache>
            </c:strRef>
          </c:tx>
          <c:spPr>
            <a:solidFill>
              <a:srgbClr val="1BAF7A"/>
            </a:solidFill>
            <a:ln w="9525" cap="flat">
              <a:solidFill>
                <a:srgbClr val="0B1220"/>
              </a:solidFill>
              <a:prstDash val="solid"/>
              <a:round/>
            </a:ln>
            <a:effectLst/>
          </c:spPr>
          <c:invertIfNegative val="0"/>
          <c:dLbls>
            <c:numFmt formatCode="#,##0" sourceLinked="0"/>
            <c:txPr>
              <a:bodyPr/>
              <a:lstStyle/>
              <a:p>
                <a:pPr>
                  <a:defRPr b="0" i="0" strike="noStrike" sz="1100" u="none">
                    <a:solidFill>
                      <a:srgbClr val="FFFFFF"/>
                    </a:solidFill>
                    <a:latin typeface="Arial"/>
                  </a:defRPr>
                </a:pPr>
              </a:p>
            </c:txPr>
            <c:showLegendKey val="0"/>
            <c:showVal val="1"/>
            <c:showCatName val="0"/>
            <c:showSerName val="0"/>
            <c:showPercent val="0"/>
            <c:showBubbleSize val="0"/>
            <c:showLeaderLines val="0"/>
          </c:dLbls>
          <c:cat>
            <c:multiLvlStrRef>
              <c:f>Sheet1!$A$2:$A$4</c:f>
              <c:multiLvlStrCache>
                <c:ptCount val="3"/>
                <c:lvl>
                  <c:pt idx="0">
                    <c:v>A</c:v>
                  </c:pt>
                  <c:pt idx="1">
                    <c:v>B</c:v>
                  </c:pt>
                  <c:pt idx="2">
                    <c:v>C</c:v>
                  </c:pt>
                </c:lvl>
              </c:multiLvlStrCache>
            </c:multiLvlStrRef>
          </c:cat>
          <c:val>
            <c:numRef>
              <c:f>Sheet1!$C$2:$C$4</c:f>
              <c:numCache>
                <c:formatCode>General</c:formatCode>
                <c:ptCount val="3"/>
                <c:pt idx="0">
                  <c:v>17</c:v>
                </c:pt>
                <c:pt idx="1">
                  <c:v>15</c:v>
                </c:pt>
                <c:pt idx="2">
                  <c:v>53</c:v>
                </c:pt>
              </c:numCache>
            </c:numRef>
          </c:val>
        </c:ser>
        <c:dLbls>
          <c:numFmt formatCode="#,##0" sourceLinked="0"/>
          <c:txPr>
            <a:bodyPr/>
            <a:lstStyle/>
            <a:p>
              <a:pPr>
                <a:defRPr b="0" i="0" strike="noStrike" sz="1100" u="none">
                  <a:solidFill>
                    <a:srgbClr val="FFFFFF"/>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AFC9EE"/>
                </a:solidFill>
                <a:latin typeface="Arial"/>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9525" cap="flat">
              <a:solidFill>
                <a:srgbClr val="2A3752"/>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9AA4C0"/>
                </a:solidFill>
                <a:latin typeface="Arial"/>
              </a:defRPr>
            </a:pPr>
            <a:endParaRPr lang="en-US"/>
          </a:p>
        </c:txPr>
        <c:crossAx val="2094734554"/>
        <c:crosses val="autoZero"/>
        <c:crossBetween val="between"/>
      </c:valAx>
      <c:spPr>
        <a:solidFill>
          <a:srgbClr val="0B1220">
            <a:alpha val="0"/>
          </a:srgbClr>
        </a:solidFill>
        <a:ln>
          <a:noFill/>
        </a:ln>
        <a:effectLst/>
      </c:spPr>
    </c:plotArea>
    <c:legend>
      <c:legendPos val="b"/>
      <c:overlay val="0"/>
      <c:txPr>
        <a:bodyPr/>
        <a:lstStyle/>
        <a:p>
          <a:pPr>
            <a:defRPr sz="1100">
              <a:solidFill>
                <a:srgbClr val="AFC9EE"/>
              </a:solidFill>
            </a:defRPr>
          </a:pPr>
          <a:endParaRPr lang="en-US"/>
        </a:p>
      </c:txPr>
    </c:legend>
    <c:plotVisOnly val="1"/>
    <c:dispBlanksAs val="span"/>
  </c:chart>
  <c:spPr>
    <a:solidFill>
      <a:srgbClr val="0B1220">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220"/>
        </a:solidFill>
      </p:bgPr>
    </p:bg>
    <p:spTree>
      <p:nvGrpSpPr>
        <p:cNvPr id="1" name=""/>
        <p:cNvGrpSpPr/>
        <p:nvPr/>
      </p:nvGrpSpPr>
      <p:grpSpPr>
        <a:xfrm>
          <a:off x="0" y="0"/>
          <a:ext cx="0" cy="0"/>
          <a:chOff x="0" y="0"/>
          <a:chExt cx="0" cy="0"/>
        </a:xfrm>
      </p:grpSpPr>
      <p:sp>
        <p:nvSpPr>
          <p:cNvPr id="2" name="Shape 0"/>
          <p:cNvSpPr/>
          <p:nvPr/>
        </p:nvSpPr>
        <p:spPr>
          <a:xfrm>
            <a:off x="1188720" y="1097280"/>
            <a:ext cx="1188720" cy="-457200"/>
          </a:xfrm>
          <a:prstGeom prst="line">
            <a:avLst/>
          </a:prstGeom>
          <a:noFill/>
          <a:ln w="9525">
            <a:solidFill>
              <a:srgbClr val="E8A33D">
                <a:alpha val="45000"/>
              </a:srgbClr>
            </a:solidFill>
            <a:prstDash val="solid"/>
          </a:ln>
        </p:spPr>
      </p:sp>
      <p:sp>
        <p:nvSpPr>
          <p:cNvPr id="3" name="Shape 1"/>
          <p:cNvSpPr/>
          <p:nvPr/>
        </p:nvSpPr>
        <p:spPr>
          <a:xfrm>
            <a:off x="2377440" y="640080"/>
            <a:ext cx="914400" cy="822960"/>
          </a:xfrm>
          <a:prstGeom prst="line">
            <a:avLst/>
          </a:prstGeom>
          <a:noFill/>
          <a:ln w="9525">
            <a:solidFill>
              <a:srgbClr val="E8A33D">
                <a:alpha val="45000"/>
              </a:srgbClr>
            </a:solidFill>
            <a:prstDash val="solid"/>
          </a:ln>
        </p:spPr>
      </p:sp>
      <p:sp>
        <p:nvSpPr>
          <p:cNvPr id="4" name="Shape 2"/>
          <p:cNvSpPr/>
          <p:nvPr/>
        </p:nvSpPr>
        <p:spPr>
          <a:xfrm>
            <a:off x="1188720" y="1097280"/>
            <a:ext cx="-274320" cy="1280160"/>
          </a:xfrm>
          <a:prstGeom prst="line">
            <a:avLst/>
          </a:prstGeom>
          <a:noFill/>
          <a:ln w="9525">
            <a:solidFill>
              <a:srgbClr val="E8A33D">
                <a:alpha val="45000"/>
              </a:srgbClr>
            </a:solidFill>
            <a:prstDash val="solid"/>
          </a:ln>
        </p:spPr>
      </p:sp>
      <p:sp>
        <p:nvSpPr>
          <p:cNvPr id="5" name="Shape 3"/>
          <p:cNvSpPr/>
          <p:nvPr/>
        </p:nvSpPr>
        <p:spPr>
          <a:xfrm>
            <a:off x="914400" y="2377440"/>
            <a:ext cx="1097280" cy="274320"/>
          </a:xfrm>
          <a:prstGeom prst="line">
            <a:avLst/>
          </a:prstGeom>
          <a:noFill/>
          <a:ln w="9525">
            <a:solidFill>
              <a:srgbClr val="E8A33D">
                <a:alpha val="45000"/>
              </a:srgbClr>
            </a:solidFill>
            <a:prstDash val="solid"/>
          </a:ln>
        </p:spPr>
      </p:sp>
      <p:sp>
        <p:nvSpPr>
          <p:cNvPr id="6" name="Shape 4"/>
          <p:cNvSpPr/>
          <p:nvPr/>
        </p:nvSpPr>
        <p:spPr>
          <a:xfrm>
            <a:off x="2377440" y="640080"/>
            <a:ext cx="-365760" cy="2011680"/>
          </a:xfrm>
          <a:prstGeom prst="line">
            <a:avLst/>
          </a:prstGeom>
          <a:noFill/>
          <a:ln w="9525">
            <a:solidFill>
              <a:srgbClr val="E8A33D">
                <a:alpha val="45000"/>
              </a:srgbClr>
            </a:solidFill>
            <a:prstDash val="solid"/>
          </a:ln>
        </p:spPr>
      </p:sp>
      <p:sp>
        <p:nvSpPr>
          <p:cNvPr id="7" name="Shape 5"/>
          <p:cNvSpPr/>
          <p:nvPr/>
        </p:nvSpPr>
        <p:spPr>
          <a:xfrm>
            <a:off x="10424160" y="1005840"/>
            <a:ext cx="914400" cy="731520"/>
          </a:xfrm>
          <a:prstGeom prst="line">
            <a:avLst/>
          </a:prstGeom>
          <a:noFill/>
          <a:ln w="9525">
            <a:solidFill>
              <a:srgbClr val="E8A33D">
                <a:alpha val="45000"/>
              </a:srgbClr>
            </a:solidFill>
            <a:prstDash val="solid"/>
          </a:ln>
        </p:spPr>
      </p:sp>
      <p:sp>
        <p:nvSpPr>
          <p:cNvPr id="8" name="Shape 6"/>
          <p:cNvSpPr/>
          <p:nvPr/>
        </p:nvSpPr>
        <p:spPr>
          <a:xfrm>
            <a:off x="11338560" y="1737360"/>
            <a:ext cx="-1645920" cy="365760"/>
          </a:xfrm>
          <a:prstGeom prst="line">
            <a:avLst/>
          </a:prstGeom>
          <a:noFill/>
          <a:ln w="9525">
            <a:solidFill>
              <a:srgbClr val="E8A33D">
                <a:alpha val="45000"/>
              </a:srgbClr>
            </a:solidFill>
            <a:prstDash val="solid"/>
          </a:ln>
        </p:spPr>
      </p:sp>
      <p:sp>
        <p:nvSpPr>
          <p:cNvPr id="9" name="Shape 7"/>
          <p:cNvSpPr/>
          <p:nvPr/>
        </p:nvSpPr>
        <p:spPr>
          <a:xfrm>
            <a:off x="10424160" y="1005840"/>
            <a:ext cx="1188720" cy="-365760"/>
          </a:xfrm>
          <a:prstGeom prst="line">
            <a:avLst/>
          </a:prstGeom>
          <a:noFill/>
          <a:ln w="9525">
            <a:solidFill>
              <a:srgbClr val="E8A33D">
                <a:alpha val="45000"/>
              </a:srgbClr>
            </a:solidFill>
            <a:prstDash val="solid"/>
          </a:ln>
        </p:spPr>
      </p:sp>
      <p:sp>
        <p:nvSpPr>
          <p:cNvPr id="10" name="Shape 8"/>
          <p:cNvSpPr/>
          <p:nvPr/>
        </p:nvSpPr>
        <p:spPr>
          <a:xfrm>
            <a:off x="9692640" y="2103120"/>
            <a:ext cx="1188720" cy="914400"/>
          </a:xfrm>
          <a:prstGeom prst="line">
            <a:avLst/>
          </a:prstGeom>
          <a:noFill/>
          <a:ln w="9525">
            <a:solidFill>
              <a:srgbClr val="E8A33D">
                <a:alpha val="45000"/>
              </a:srgbClr>
            </a:solidFill>
            <a:prstDash val="solid"/>
          </a:ln>
        </p:spPr>
      </p:sp>
      <p:sp>
        <p:nvSpPr>
          <p:cNvPr id="11" name="Shape 9"/>
          <p:cNvSpPr/>
          <p:nvPr/>
        </p:nvSpPr>
        <p:spPr>
          <a:xfrm>
            <a:off x="11338560" y="1737360"/>
            <a:ext cx="274320" cy="-1097280"/>
          </a:xfrm>
          <a:prstGeom prst="line">
            <a:avLst/>
          </a:prstGeom>
          <a:noFill/>
          <a:ln w="9525">
            <a:solidFill>
              <a:srgbClr val="E8A33D">
                <a:alpha val="45000"/>
              </a:srgbClr>
            </a:solidFill>
            <a:prstDash val="solid"/>
          </a:ln>
        </p:spPr>
      </p:sp>
      <p:sp>
        <p:nvSpPr>
          <p:cNvPr id="12" name="Shape 10"/>
          <p:cNvSpPr/>
          <p:nvPr/>
        </p:nvSpPr>
        <p:spPr>
          <a:xfrm>
            <a:off x="1371600" y="5760720"/>
            <a:ext cx="1097280" cy="457200"/>
          </a:xfrm>
          <a:prstGeom prst="line">
            <a:avLst/>
          </a:prstGeom>
          <a:noFill/>
          <a:ln w="9525">
            <a:solidFill>
              <a:srgbClr val="E8A33D">
                <a:alpha val="45000"/>
              </a:srgbClr>
            </a:solidFill>
            <a:prstDash val="solid"/>
          </a:ln>
        </p:spPr>
      </p:sp>
      <p:sp>
        <p:nvSpPr>
          <p:cNvPr id="13" name="Shape 11"/>
          <p:cNvSpPr/>
          <p:nvPr/>
        </p:nvSpPr>
        <p:spPr>
          <a:xfrm>
            <a:off x="1371600" y="5760720"/>
            <a:ext cx="-640080" cy="-640080"/>
          </a:xfrm>
          <a:prstGeom prst="line">
            <a:avLst/>
          </a:prstGeom>
          <a:noFill/>
          <a:ln w="9525">
            <a:solidFill>
              <a:srgbClr val="E8A33D">
                <a:alpha val="45000"/>
              </a:srgbClr>
            </a:solidFill>
            <a:prstDash val="solid"/>
          </a:ln>
        </p:spPr>
      </p:sp>
      <p:sp>
        <p:nvSpPr>
          <p:cNvPr id="14" name="Shape 12"/>
          <p:cNvSpPr/>
          <p:nvPr/>
        </p:nvSpPr>
        <p:spPr>
          <a:xfrm>
            <a:off x="2468880" y="6217920"/>
            <a:ext cx="7772400" cy="-365760"/>
          </a:xfrm>
          <a:prstGeom prst="line">
            <a:avLst/>
          </a:prstGeom>
          <a:noFill/>
          <a:ln w="9525">
            <a:solidFill>
              <a:srgbClr val="E8A33D">
                <a:alpha val="45000"/>
              </a:srgbClr>
            </a:solidFill>
            <a:prstDash val="solid"/>
          </a:ln>
        </p:spPr>
      </p:sp>
      <p:sp>
        <p:nvSpPr>
          <p:cNvPr id="15" name="Shape 13"/>
          <p:cNvSpPr/>
          <p:nvPr/>
        </p:nvSpPr>
        <p:spPr>
          <a:xfrm>
            <a:off x="10241280" y="5852160"/>
            <a:ext cx="1005840" cy="-457200"/>
          </a:xfrm>
          <a:prstGeom prst="line">
            <a:avLst/>
          </a:prstGeom>
          <a:noFill/>
          <a:ln w="9525">
            <a:solidFill>
              <a:srgbClr val="E8A33D">
                <a:alpha val="45000"/>
              </a:srgbClr>
            </a:solidFill>
            <a:prstDash val="solid"/>
          </a:ln>
        </p:spPr>
      </p:sp>
      <p:sp>
        <p:nvSpPr>
          <p:cNvPr id="16" name="Shape 14"/>
          <p:cNvSpPr/>
          <p:nvPr/>
        </p:nvSpPr>
        <p:spPr>
          <a:xfrm>
            <a:off x="11247120" y="5394960"/>
            <a:ext cx="-274320" cy="914400"/>
          </a:xfrm>
          <a:prstGeom prst="line">
            <a:avLst/>
          </a:prstGeom>
          <a:noFill/>
          <a:ln w="9525">
            <a:solidFill>
              <a:srgbClr val="E8A33D">
                <a:alpha val="45000"/>
              </a:srgbClr>
            </a:solidFill>
            <a:prstDash val="solid"/>
          </a:ln>
        </p:spPr>
      </p:sp>
      <p:sp>
        <p:nvSpPr>
          <p:cNvPr id="17" name="Shape 15"/>
          <p:cNvSpPr/>
          <p:nvPr/>
        </p:nvSpPr>
        <p:spPr>
          <a:xfrm>
            <a:off x="1143000" y="1051560"/>
            <a:ext cx="91440" cy="91440"/>
          </a:xfrm>
          <a:prstGeom prst="ellipse">
            <a:avLst/>
          </a:prstGeom>
          <a:solidFill>
            <a:srgbClr val="F4C878">
              <a:alpha val="85000"/>
            </a:srgbClr>
          </a:solidFill>
          <a:ln/>
        </p:spPr>
      </p:sp>
      <p:sp>
        <p:nvSpPr>
          <p:cNvPr id="18" name="Shape 16"/>
          <p:cNvSpPr/>
          <p:nvPr/>
        </p:nvSpPr>
        <p:spPr>
          <a:xfrm>
            <a:off x="2331720" y="594360"/>
            <a:ext cx="91440" cy="91440"/>
          </a:xfrm>
          <a:prstGeom prst="ellipse">
            <a:avLst/>
          </a:prstGeom>
          <a:solidFill>
            <a:srgbClr val="F4C878">
              <a:alpha val="85000"/>
            </a:srgbClr>
          </a:solidFill>
          <a:ln/>
        </p:spPr>
      </p:sp>
      <p:sp>
        <p:nvSpPr>
          <p:cNvPr id="19" name="Shape 17"/>
          <p:cNvSpPr/>
          <p:nvPr/>
        </p:nvSpPr>
        <p:spPr>
          <a:xfrm>
            <a:off x="3246120" y="1417320"/>
            <a:ext cx="91440" cy="91440"/>
          </a:xfrm>
          <a:prstGeom prst="ellipse">
            <a:avLst/>
          </a:prstGeom>
          <a:solidFill>
            <a:srgbClr val="F4C878">
              <a:alpha val="85000"/>
            </a:srgbClr>
          </a:solidFill>
          <a:ln/>
        </p:spPr>
      </p:sp>
      <p:sp>
        <p:nvSpPr>
          <p:cNvPr id="20" name="Shape 18"/>
          <p:cNvSpPr/>
          <p:nvPr/>
        </p:nvSpPr>
        <p:spPr>
          <a:xfrm>
            <a:off x="868680" y="2331720"/>
            <a:ext cx="91440" cy="91440"/>
          </a:xfrm>
          <a:prstGeom prst="ellipse">
            <a:avLst/>
          </a:prstGeom>
          <a:solidFill>
            <a:srgbClr val="F4C878">
              <a:alpha val="85000"/>
            </a:srgbClr>
          </a:solidFill>
          <a:ln/>
        </p:spPr>
      </p:sp>
      <p:sp>
        <p:nvSpPr>
          <p:cNvPr id="21" name="Shape 19"/>
          <p:cNvSpPr/>
          <p:nvPr/>
        </p:nvSpPr>
        <p:spPr>
          <a:xfrm>
            <a:off x="1965960" y="2606040"/>
            <a:ext cx="91440" cy="91440"/>
          </a:xfrm>
          <a:prstGeom prst="ellipse">
            <a:avLst/>
          </a:prstGeom>
          <a:solidFill>
            <a:srgbClr val="F4C878">
              <a:alpha val="85000"/>
            </a:srgbClr>
          </a:solidFill>
          <a:ln/>
        </p:spPr>
      </p:sp>
      <p:sp>
        <p:nvSpPr>
          <p:cNvPr id="22" name="Shape 20"/>
          <p:cNvSpPr/>
          <p:nvPr/>
        </p:nvSpPr>
        <p:spPr>
          <a:xfrm>
            <a:off x="10378440" y="960120"/>
            <a:ext cx="91440" cy="91440"/>
          </a:xfrm>
          <a:prstGeom prst="ellipse">
            <a:avLst/>
          </a:prstGeom>
          <a:solidFill>
            <a:srgbClr val="F4C878">
              <a:alpha val="85000"/>
            </a:srgbClr>
          </a:solidFill>
          <a:ln/>
        </p:spPr>
      </p:sp>
      <p:sp>
        <p:nvSpPr>
          <p:cNvPr id="23" name="Shape 21"/>
          <p:cNvSpPr/>
          <p:nvPr/>
        </p:nvSpPr>
        <p:spPr>
          <a:xfrm>
            <a:off x="11292840" y="1691640"/>
            <a:ext cx="91440" cy="91440"/>
          </a:xfrm>
          <a:prstGeom prst="ellipse">
            <a:avLst/>
          </a:prstGeom>
          <a:solidFill>
            <a:srgbClr val="F4C878">
              <a:alpha val="85000"/>
            </a:srgbClr>
          </a:solidFill>
          <a:ln/>
        </p:spPr>
      </p:sp>
      <p:sp>
        <p:nvSpPr>
          <p:cNvPr id="24" name="Shape 22"/>
          <p:cNvSpPr/>
          <p:nvPr/>
        </p:nvSpPr>
        <p:spPr>
          <a:xfrm>
            <a:off x="9646920" y="2057400"/>
            <a:ext cx="91440" cy="91440"/>
          </a:xfrm>
          <a:prstGeom prst="ellipse">
            <a:avLst/>
          </a:prstGeom>
          <a:solidFill>
            <a:srgbClr val="F4C878">
              <a:alpha val="85000"/>
            </a:srgbClr>
          </a:solidFill>
          <a:ln/>
        </p:spPr>
      </p:sp>
      <p:sp>
        <p:nvSpPr>
          <p:cNvPr id="25" name="Shape 23"/>
          <p:cNvSpPr/>
          <p:nvPr/>
        </p:nvSpPr>
        <p:spPr>
          <a:xfrm>
            <a:off x="10835640" y="2971800"/>
            <a:ext cx="91440" cy="91440"/>
          </a:xfrm>
          <a:prstGeom prst="ellipse">
            <a:avLst/>
          </a:prstGeom>
          <a:solidFill>
            <a:srgbClr val="F4C878">
              <a:alpha val="85000"/>
            </a:srgbClr>
          </a:solidFill>
          <a:ln/>
        </p:spPr>
      </p:sp>
      <p:sp>
        <p:nvSpPr>
          <p:cNvPr id="26" name="Shape 24"/>
          <p:cNvSpPr/>
          <p:nvPr/>
        </p:nvSpPr>
        <p:spPr>
          <a:xfrm>
            <a:off x="11567160" y="594360"/>
            <a:ext cx="91440" cy="91440"/>
          </a:xfrm>
          <a:prstGeom prst="ellipse">
            <a:avLst/>
          </a:prstGeom>
          <a:solidFill>
            <a:srgbClr val="F4C878">
              <a:alpha val="85000"/>
            </a:srgbClr>
          </a:solidFill>
          <a:ln/>
        </p:spPr>
      </p:sp>
      <p:sp>
        <p:nvSpPr>
          <p:cNvPr id="27" name="Shape 25"/>
          <p:cNvSpPr/>
          <p:nvPr/>
        </p:nvSpPr>
        <p:spPr>
          <a:xfrm>
            <a:off x="1325880" y="5715000"/>
            <a:ext cx="91440" cy="91440"/>
          </a:xfrm>
          <a:prstGeom prst="ellipse">
            <a:avLst/>
          </a:prstGeom>
          <a:solidFill>
            <a:srgbClr val="F4C878">
              <a:alpha val="85000"/>
            </a:srgbClr>
          </a:solidFill>
          <a:ln/>
        </p:spPr>
      </p:sp>
      <p:sp>
        <p:nvSpPr>
          <p:cNvPr id="28" name="Shape 26"/>
          <p:cNvSpPr/>
          <p:nvPr/>
        </p:nvSpPr>
        <p:spPr>
          <a:xfrm>
            <a:off x="2423160" y="6172200"/>
            <a:ext cx="91440" cy="91440"/>
          </a:xfrm>
          <a:prstGeom prst="ellipse">
            <a:avLst/>
          </a:prstGeom>
          <a:solidFill>
            <a:srgbClr val="F4C878">
              <a:alpha val="85000"/>
            </a:srgbClr>
          </a:solidFill>
          <a:ln/>
        </p:spPr>
      </p:sp>
      <p:sp>
        <p:nvSpPr>
          <p:cNvPr id="29" name="Shape 27"/>
          <p:cNvSpPr/>
          <p:nvPr/>
        </p:nvSpPr>
        <p:spPr>
          <a:xfrm>
            <a:off x="685800" y="5074920"/>
            <a:ext cx="91440" cy="91440"/>
          </a:xfrm>
          <a:prstGeom prst="ellipse">
            <a:avLst/>
          </a:prstGeom>
          <a:solidFill>
            <a:srgbClr val="F4C878">
              <a:alpha val="85000"/>
            </a:srgbClr>
          </a:solidFill>
          <a:ln/>
        </p:spPr>
      </p:sp>
      <p:sp>
        <p:nvSpPr>
          <p:cNvPr id="30" name="Shape 28"/>
          <p:cNvSpPr/>
          <p:nvPr/>
        </p:nvSpPr>
        <p:spPr>
          <a:xfrm>
            <a:off x="10195560" y="5806440"/>
            <a:ext cx="91440" cy="91440"/>
          </a:xfrm>
          <a:prstGeom prst="ellipse">
            <a:avLst/>
          </a:prstGeom>
          <a:solidFill>
            <a:srgbClr val="F4C878">
              <a:alpha val="85000"/>
            </a:srgbClr>
          </a:solidFill>
          <a:ln/>
        </p:spPr>
      </p:sp>
      <p:sp>
        <p:nvSpPr>
          <p:cNvPr id="31" name="Shape 29"/>
          <p:cNvSpPr/>
          <p:nvPr/>
        </p:nvSpPr>
        <p:spPr>
          <a:xfrm>
            <a:off x="11201400" y="5349240"/>
            <a:ext cx="91440" cy="91440"/>
          </a:xfrm>
          <a:prstGeom prst="ellipse">
            <a:avLst/>
          </a:prstGeom>
          <a:solidFill>
            <a:srgbClr val="F4C878">
              <a:alpha val="85000"/>
            </a:srgbClr>
          </a:solidFill>
          <a:ln/>
        </p:spPr>
      </p:sp>
      <p:sp>
        <p:nvSpPr>
          <p:cNvPr id="32" name="Shape 30"/>
          <p:cNvSpPr/>
          <p:nvPr/>
        </p:nvSpPr>
        <p:spPr>
          <a:xfrm>
            <a:off x="10927080" y="6263640"/>
            <a:ext cx="91440" cy="91440"/>
          </a:xfrm>
          <a:prstGeom prst="ellipse">
            <a:avLst/>
          </a:prstGeom>
          <a:solidFill>
            <a:srgbClr val="F4C878">
              <a:alpha val="85000"/>
            </a:srgbClr>
          </a:solidFill>
          <a:ln/>
        </p:spPr>
      </p:sp>
      <p:sp>
        <p:nvSpPr>
          <p:cNvPr id="33" name="Shape 31"/>
          <p:cNvSpPr/>
          <p:nvPr/>
        </p:nvSpPr>
        <p:spPr>
          <a:xfrm>
            <a:off x="4939132" y="1175004"/>
            <a:ext cx="2313432" cy="2313432"/>
          </a:xfrm>
          <a:prstGeom prst="ellipse">
            <a:avLst/>
          </a:prstGeom>
          <a:solidFill>
            <a:srgbClr val="E8A33D">
              <a:alpha val="12000"/>
            </a:srgbClr>
          </a:solidFill>
          <a:ln/>
        </p:spPr>
      </p:sp>
      <p:sp>
        <p:nvSpPr>
          <p:cNvPr id="34" name="Shape 32"/>
          <p:cNvSpPr/>
          <p:nvPr/>
        </p:nvSpPr>
        <p:spPr>
          <a:xfrm>
            <a:off x="5254600" y="1490472"/>
            <a:ext cx="1682496" cy="1682496"/>
          </a:xfrm>
          <a:prstGeom prst="ellipse">
            <a:avLst/>
          </a:prstGeom>
          <a:solidFill>
            <a:srgbClr val="E8A33D">
              <a:alpha val="22000"/>
            </a:srgbClr>
          </a:solidFill>
          <a:ln/>
        </p:spPr>
      </p:sp>
      <p:sp>
        <p:nvSpPr>
          <p:cNvPr id="35" name="Shape 33"/>
          <p:cNvSpPr/>
          <p:nvPr/>
        </p:nvSpPr>
        <p:spPr>
          <a:xfrm>
            <a:off x="5570068" y="1805940"/>
            <a:ext cx="1051560" cy="1051560"/>
          </a:xfrm>
          <a:prstGeom prst="ellipse">
            <a:avLst/>
          </a:prstGeom>
          <a:solidFill>
            <a:srgbClr val="E8A33D"/>
          </a:solidFill>
          <a:ln w="9525">
            <a:solidFill>
              <a:srgbClr val="E8A33D"/>
            </a:solidFill>
            <a:prstDash val="solid"/>
          </a:ln>
        </p:spPr>
      </p:sp>
      <p:pic>
        <p:nvPicPr>
          <p:cNvPr id="36" name="Image 0" descr="preencoded.png">    </p:cNvPr>
          <p:cNvPicPr>
            <a:picLocks noChangeAspect="1"/>
          </p:cNvPicPr>
          <p:nvPr/>
        </p:nvPicPr>
        <p:blipFill>
          <a:blip r:embed="rId1"/>
          <a:stretch>
            <a:fillRect/>
          </a:stretch>
        </p:blipFill>
        <p:spPr>
          <a:xfrm>
            <a:off x="5843473" y="2079346"/>
            <a:ext cx="504749" cy="504749"/>
          </a:xfrm>
          <a:prstGeom prst="rect">
            <a:avLst/>
          </a:prstGeom>
        </p:spPr>
      </p:pic>
      <p:sp>
        <p:nvSpPr>
          <p:cNvPr id="37" name="Text 34"/>
          <p:cNvSpPr/>
          <p:nvPr/>
        </p:nvSpPr>
        <p:spPr>
          <a:xfrm>
            <a:off x="0" y="3063240"/>
            <a:ext cx="12191695" cy="914400"/>
          </a:xfrm>
          <a:prstGeom prst="rect">
            <a:avLst/>
          </a:prstGeom>
          <a:noFill/>
          <a:ln/>
        </p:spPr>
        <p:txBody>
          <a:bodyPr wrap="square" lIns="0" tIns="0" rIns="0" bIns="0" rtlCol="0" anchor="ctr"/>
          <a:lstStyle/>
          <a:p>
            <a:pPr algn="ctr" indent="0" marL="0">
              <a:buNone/>
            </a:pPr>
            <a:r>
              <a:rPr lang="en-US" sz="4600" b="1" dirty="0">
                <a:solidFill>
                  <a:srgbClr val="FFFFFF"/>
                </a:solidFill>
                <a:latin typeface="Yu Gothic" pitchFamily="34" charset="0"/>
                <a:ea typeface="Yu Gothic" pitchFamily="34" charset="-122"/>
                <a:cs typeface="Yu Gothic" pitchFamily="34" charset="-120"/>
              </a:rPr>
              <a:t>救済者 × ガバナンス</a:t>
            </a:r>
            <a:endParaRPr lang="en-US" sz="4600" dirty="0"/>
          </a:p>
        </p:txBody>
      </p:sp>
      <p:sp>
        <p:nvSpPr>
          <p:cNvPr id="38" name="Text 35"/>
          <p:cNvSpPr/>
          <p:nvPr/>
        </p:nvSpPr>
        <p:spPr>
          <a:xfrm>
            <a:off x="0" y="3977640"/>
            <a:ext cx="12191695" cy="457200"/>
          </a:xfrm>
          <a:prstGeom prst="rect">
            <a:avLst/>
          </a:prstGeom>
          <a:noFill/>
          <a:ln/>
        </p:spPr>
        <p:txBody>
          <a:bodyPr wrap="square" lIns="0" tIns="0" rIns="0" bIns="0" rtlCol="0" anchor="ctr"/>
          <a:lstStyle/>
          <a:p>
            <a:pPr algn="ctr" indent="0" marL="0">
              <a:buNone/>
            </a:pPr>
            <a:r>
              <a:rPr lang="en-US" sz="1800" dirty="0">
                <a:solidFill>
                  <a:srgbClr val="AFC9EE"/>
                </a:solidFill>
                <a:latin typeface="Yu Gothic" pitchFamily="34" charset="0"/>
                <a:ea typeface="Yu Gothic" pitchFamily="34" charset="-122"/>
                <a:cs typeface="Yu Gothic" pitchFamily="34" charset="-120"/>
              </a:rPr>
              <a:t>神が降りなくても、村は回るか</a:t>
            </a:r>
            <a:endParaRPr lang="en-US" sz="1800" dirty="0"/>
          </a:p>
        </p:txBody>
      </p:sp>
      <p:sp>
        <p:nvSpPr>
          <p:cNvPr id="39" name="Text 36"/>
          <p:cNvSpPr/>
          <p:nvPr/>
        </p:nvSpPr>
        <p:spPr>
          <a:xfrm>
            <a:off x="0" y="6080760"/>
            <a:ext cx="12191695" cy="320040"/>
          </a:xfrm>
          <a:prstGeom prst="rect">
            <a:avLst/>
          </a:prstGeom>
          <a:noFill/>
          <a:ln/>
        </p:spPr>
        <p:txBody>
          <a:bodyPr wrap="square" lIns="0" tIns="0" rIns="0" bIns="0" rtlCol="0" anchor="ctr"/>
          <a:lstStyle/>
          <a:p>
            <a:pPr algn="ctr" indent="0" marL="0">
              <a:buNone/>
            </a:pPr>
            <a:r>
              <a:rPr lang="en-US" sz="1200" dirty="0">
                <a:solidFill>
                  <a:srgbClr val="9AA4C0"/>
                </a:solidFill>
                <a:latin typeface="Yu Gothic" pitchFamily="34" charset="0"/>
                <a:ea typeface="Yu Gothic" pitchFamily="34" charset="-122"/>
                <a:cs typeface="Yu Gothic" pitchFamily="34" charset="-120"/>
              </a:rPr>
              <a:t>AIエージェント社会シミュレーション ハッカソン Vol.2　―　ソロ参加</a:t>
            </a:r>
            <a:endParaRPr lang="en-US" sz="1200" dirty="0"/>
          </a:p>
        </p:txBody>
      </p:sp>
      <p:sp>
        <p:nvSpPr>
          <p:cNvPr id="40" name="Text 37"/>
          <p:cNvSpPr/>
          <p:nvPr/>
        </p:nvSpPr>
        <p:spPr>
          <a:xfrm>
            <a:off x="0" y="6400800"/>
            <a:ext cx="12191695" cy="274320"/>
          </a:xfrm>
          <a:prstGeom prst="rect">
            <a:avLst/>
          </a:prstGeom>
          <a:noFill/>
          <a:ln/>
        </p:spPr>
        <p:txBody>
          <a:bodyPr wrap="square" lIns="0" tIns="0" rIns="0" bIns="0" rtlCol="0" anchor="ctr"/>
          <a:lstStyle/>
          <a:p>
            <a:pPr algn="ctr" indent="0" marL="0">
              <a:buNone/>
            </a:pPr>
            <a:r>
              <a:rPr lang="en-US" sz="1000" dirty="0">
                <a:solidFill>
                  <a:srgbClr val="5B6480"/>
                </a:solidFill>
                <a:latin typeface="Yu Gothic" pitchFamily="34" charset="0"/>
                <a:ea typeface="Yu Gothic" pitchFamily="34" charset="-122"/>
                <a:cs typeface="Yu Gothic" pitchFamily="34" charset="-120"/>
              </a:rPr>
              <a:t>github.com/sakurako-cottoncandy/beyond-the-savior</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FFFFFF"/>
                </a:solidFill>
                <a:latin typeface="Yu Gothic" pitchFamily="34" charset="0"/>
                <a:ea typeface="Yu Gothic" pitchFamily="34" charset="-122"/>
                <a:cs typeface="Yu Gothic" pitchFamily="34" charset="-120"/>
              </a:rPr>
              <a:t>組織図に載らない「救済者」の解剖学</a:t>
            </a:r>
            <a:endParaRPr lang="en-US" sz="3000" dirty="0"/>
          </a:p>
        </p:txBody>
      </p:sp>
      <p:sp>
        <p:nvSpPr>
          <p:cNvPr id="3" name="Shape 1"/>
          <p:cNvSpPr/>
          <p:nvPr/>
        </p:nvSpPr>
        <p:spPr>
          <a:xfrm>
            <a:off x="667512" y="1947672"/>
            <a:ext cx="3419856" cy="3419856"/>
          </a:xfrm>
          <a:prstGeom prst="ellipse">
            <a:avLst/>
          </a:prstGeom>
          <a:solidFill>
            <a:srgbClr val="E8A33D">
              <a:alpha val="12000"/>
            </a:srgbClr>
          </a:solidFill>
          <a:ln/>
        </p:spPr>
      </p:sp>
      <p:sp>
        <p:nvSpPr>
          <p:cNvPr id="4" name="Shape 2"/>
          <p:cNvSpPr/>
          <p:nvPr/>
        </p:nvSpPr>
        <p:spPr>
          <a:xfrm>
            <a:off x="1133856" y="2414016"/>
            <a:ext cx="2487168" cy="2487168"/>
          </a:xfrm>
          <a:prstGeom prst="ellipse">
            <a:avLst/>
          </a:prstGeom>
          <a:solidFill>
            <a:srgbClr val="E8A33D">
              <a:alpha val="22000"/>
            </a:srgbClr>
          </a:solidFill>
          <a:ln/>
        </p:spPr>
      </p:sp>
      <p:sp>
        <p:nvSpPr>
          <p:cNvPr id="5" name="Shape 3"/>
          <p:cNvSpPr/>
          <p:nvPr/>
        </p:nvSpPr>
        <p:spPr>
          <a:xfrm>
            <a:off x="1600200" y="2880360"/>
            <a:ext cx="1554480" cy="1554480"/>
          </a:xfrm>
          <a:prstGeom prst="ellipse">
            <a:avLst/>
          </a:prstGeom>
          <a:solidFill>
            <a:srgbClr val="E8A33D"/>
          </a:solidFill>
          <a:ln w="9525">
            <a:solidFill>
              <a:srgbClr val="E8A33D"/>
            </a:solidFill>
            <a:prstDash val="solid"/>
          </a:ln>
        </p:spPr>
      </p:sp>
      <p:pic>
        <p:nvPicPr>
          <p:cNvPr id="6" name="Image 0" descr="preencoded.png">    </p:cNvPr>
          <p:cNvPicPr>
            <a:picLocks noChangeAspect="1"/>
          </p:cNvPicPr>
          <p:nvPr/>
        </p:nvPicPr>
        <p:blipFill>
          <a:blip r:embed="rId1"/>
          <a:stretch>
            <a:fillRect/>
          </a:stretch>
        </p:blipFill>
        <p:spPr>
          <a:xfrm>
            <a:off x="2004365" y="3284525"/>
            <a:ext cx="746150" cy="746150"/>
          </a:xfrm>
          <a:prstGeom prst="rect">
            <a:avLst/>
          </a:prstGeom>
        </p:spPr>
      </p:pic>
      <p:sp>
        <p:nvSpPr>
          <p:cNvPr id="7" name="Text 4"/>
          <p:cNvSpPr/>
          <p:nvPr/>
        </p:nvSpPr>
        <p:spPr>
          <a:xfrm>
            <a:off x="1463040" y="4434840"/>
            <a:ext cx="1828800" cy="365760"/>
          </a:xfrm>
          <a:prstGeom prst="rect">
            <a:avLst/>
          </a:prstGeom>
          <a:noFill/>
          <a:ln/>
        </p:spPr>
        <p:txBody>
          <a:bodyPr wrap="square" lIns="0" tIns="0" rIns="0" bIns="0" rtlCol="0" anchor="ctr"/>
          <a:lstStyle/>
          <a:p>
            <a:pPr algn="ctr" indent="0" marL="0">
              <a:buNone/>
            </a:pPr>
            <a:r>
              <a:rPr lang="en-US" sz="1400" b="1" dirty="0">
                <a:solidFill>
                  <a:srgbClr val="F4C878"/>
                </a:solidFill>
                <a:latin typeface="Yu Gothic" pitchFamily="34" charset="0"/>
                <a:ea typeface="Yu Gothic" pitchFamily="34" charset="-122"/>
                <a:cs typeface="Yu Gothic" pitchFamily="34" charset="-120"/>
              </a:rPr>
              <a:t>救済者</a:t>
            </a:r>
            <a:endParaRPr lang="en-US" sz="1400" dirty="0"/>
          </a:p>
        </p:txBody>
      </p:sp>
      <p:sp>
        <p:nvSpPr>
          <p:cNvPr id="8" name="Shape 5"/>
          <p:cNvSpPr/>
          <p:nvPr/>
        </p:nvSpPr>
        <p:spPr>
          <a:xfrm>
            <a:off x="4617720" y="1655064"/>
            <a:ext cx="457200" cy="457200"/>
          </a:xfrm>
          <a:prstGeom prst="ellipse">
            <a:avLst/>
          </a:prstGeom>
          <a:solidFill>
            <a:srgbClr val="1C2C4A"/>
          </a:solidFill>
          <a:ln w="9525">
            <a:solidFill>
              <a:srgbClr val="1C2C4A"/>
            </a:solidFill>
            <a:prstDash val="solid"/>
          </a:ln>
        </p:spPr>
      </p:sp>
      <p:pic>
        <p:nvPicPr>
          <p:cNvPr id="9" name="Image 1" descr="preencoded.png">    </p:cNvPr>
          <p:cNvPicPr>
            <a:picLocks noChangeAspect="1"/>
          </p:cNvPicPr>
          <p:nvPr/>
        </p:nvPicPr>
        <p:blipFill>
          <a:blip r:embed="rId2"/>
          <a:stretch>
            <a:fillRect/>
          </a:stretch>
        </p:blipFill>
        <p:spPr>
          <a:xfrm>
            <a:off x="4736592" y="1773936"/>
            <a:ext cx="219456" cy="219456"/>
          </a:xfrm>
          <a:prstGeom prst="rect">
            <a:avLst/>
          </a:prstGeom>
        </p:spPr>
      </p:pic>
      <p:sp>
        <p:nvSpPr>
          <p:cNvPr id="10" name="Shape 6"/>
          <p:cNvSpPr/>
          <p:nvPr/>
        </p:nvSpPr>
        <p:spPr>
          <a:xfrm>
            <a:off x="5257800" y="1600200"/>
            <a:ext cx="6309360" cy="566928"/>
          </a:xfrm>
          <a:prstGeom prst="roundRect">
            <a:avLst>
              <a:gd name="adj" fmla="val 12903"/>
            </a:avLst>
          </a:prstGeom>
          <a:solidFill>
            <a:srgbClr val="16213A"/>
          </a:solidFill>
          <a:ln/>
          <a:effectLst>
            <a:outerShdw sx="100000" sy="100000" kx="0" ky="0" algn="bl" rotWithShape="0" blurRad="101600" dist="38100" dir="5400000">
              <a:srgbClr val="000000">
                <a:alpha val="35000"/>
              </a:srgbClr>
            </a:outerShdw>
          </a:effectLst>
        </p:spPr>
      </p:sp>
      <p:sp>
        <p:nvSpPr>
          <p:cNvPr id="11" name="Text 7"/>
          <p:cNvSpPr/>
          <p:nvPr/>
        </p:nvSpPr>
        <p:spPr>
          <a:xfrm>
            <a:off x="5486400" y="1600200"/>
            <a:ext cx="5852160" cy="566928"/>
          </a:xfrm>
          <a:prstGeom prst="rect">
            <a:avLst/>
          </a:prstGeom>
          <a:noFill/>
          <a:ln/>
        </p:spPr>
        <p:txBody>
          <a:bodyPr wrap="square" lIns="0" tIns="0" rIns="0" bIns="0" rtlCol="0" anchor="ctr"/>
          <a:lstStyle/>
          <a:p>
            <a:pPr algn="l" indent="0" marL="0">
              <a:buNone/>
            </a:pPr>
            <a:r>
              <a:rPr lang="en-US" sz="1500" dirty="0">
                <a:solidFill>
                  <a:srgbClr val="FFFFFF"/>
                </a:solidFill>
                <a:latin typeface="Yu Gothic" pitchFamily="34" charset="0"/>
                <a:ea typeface="Yu Gothic" pitchFamily="34" charset="-122"/>
                <a:cs typeface="Yu Gothic" pitchFamily="34" charset="-120"/>
              </a:rPr>
              <a:t>困っている人に最初に気づく</a:t>
            </a:r>
            <a:endParaRPr lang="en-US" sz="1500" dirty="0"/>
          </a:p>
        </p:txBody>
      </p:sp>
      <p:sp>
        <p:nvSpPr>
          <p:cNvPr id="12" name="Shape 8"/>
          <p:cNvSpPr/>
          <p:nvPr/>
        </p:nvSpPr>
        <p:spPr>
          <a:xfrm>
            <a:off x="4617720" y="2340864"/>
            <a:ext cx="457200" cy="457200"/>
          </a:xfrm>
          <a:prstGeom prst="ellipse">
            <a:avLst/>
          </a:prstGeom>
          <a:solidFill>
            <a:srgbClr val="1C2C4A"/>
          </a:solidFill>
          <a:ln w="9525">
            <a:solidFill>
              <a:srgbClr val="1C2C4A"/>
            </a:solidFill>
            <a:prstDash val="solid"/>
          </a:ln>
        </p:spPr>
      </p:sp>
      <p:pic>
        <p:nvPicPr>
          <p:cNvPr id="13" name="Image 2" descr="preencoded.png">    </p:cNvPr>
          <p:cNvPicPr>
            <a:picLocks noChangeAspect="1"/>
          </p:cNvPicPr>
          <p:nvPr/>
        </p:nvPicPr>
        <p:blipFill>
          <a:blip r:embed="rId3"/>
          <a:stretch>
            <a:fillRect/>
          </a:stretch>
        </p:blipFill>
        <p:spPr>
          <a:xfrm>
            <a:off x="4736592" y="2459736"/>
            <a:ext cx="219456" cy="219456"/>
          </a:xfrm>
          <a:prstGeom prst="rect">
            <a:avLst/>
          </a:prstGeom>
        </p:spPr>
      </p:pic>
      <p:sp>
        <p:nvSpPr>
          <p:cNvPr id="14" name="Shape 9"/>
          <p:cNvSpPr/>
          <p:nvPr/>
        </p:nvSpPr>
        <p:spPr>
          <a:xfrm>
            <a:off x="5257800" y="2286000"/>
            <a:ext cx="6309360" cy="566928"/>
          </a:xfrm>
          <a:prstGeom prst="roundRect">
            <a:avLst>
              <a:gd name="adj" fmla="val 12903"/>
            </a:avLst>
          </a:prstGeom>
          <a:solidFill>
            <a:srgbClr val="16213A"/>
          </a:solidFill>
          <a:ln/>
          <a:effectLst>
            <a:outerShdw sx="100000" sy="100000" kx="0" ky="0" algn="bl" rotWithShape="0" blurRad="101600" dist="38100" dir="5400000">
              <a:srgbClr val="000000">
                <a:alpha val="35000"/>
              </a:srgbClr>
            </a:outerShdw>
          </a:effectLst>
        </p:spPr>
      </p:sp>
      <p:sp>
        <p:nvSpPr>
          <p:cNvPr id="15" name="Text 10"/>
          <p:cNvSpPr/>
          <p:nvPr/>
        </p:nvSpPr>
        <p:spPr>
          <a:xfrm>
            <a:off x="5486400" y="2286000"/>
            <a:ext cx="5852160" cy="566928"/>
          </a:xfrm>
          <a:prstGeom prst="rect">
            <a:avLst/>
          </a:prstGeom>
          <a:noFill/>
          <a:ln/>
        </p:spPr>
        <p:txBody>
          <a:bodyPr wrap="square" lIns="0" tIns="0" rIns="0" bIns="0" rtlCol="0" anchor="ctr"/>
          <a:lstStyle/>
          <a:p>
            <a:pPr algn="l" indent="0" marL="0">
              <a:buNone/>
            </a:pPr>
            <a:r>
              <a:rPr lang="en-US" sz="1500" dirty="0">
                <a:solidFill>
                  <a:srgbClr val="FFFFFF"/>
                </a:solidFill>
                <a:latin typeface="Yu Gothic" pitchFamily="34" charset="0"/>
                <a:ea typeface="Yu Gothic" pitchFamily="34" charset="-122"/>
                <a:cs typeface="Yu Gothic" pitchFamily="34" charset="-120"/>
              </a:rPr>
              <a:t>対立する人同士の言葉を翻訳する</a:t>
            </a:r>
            <a:endParaRPr lang="en-US" sz="1500" dirty="0"/>
          </a:p>
        </p:txBody>
      </p:sp>
      <p:sp>
        <p:nvSpPr>
          <p:cNvPr id="16" name="Shape 11"/>
          <p:cNvSpPr/>
          <p:nvPr/>
        </p:nvSpPr>
        <p:spPr>
          <a:xfrm>
            <a:off x="4617720" y="3026664"/>
            <a:ext cx="457200" cy="457200"/>
          </a:xfrm>
          <a:prstGeom prst="ellipse">
            <a:avLst/>
          </a:prstGeom>
          <a:solidFill>
            <a:srgbClr val="1C2C4A"/>
          </a:solidFill>
          <a:ln w="9525">
            <a:solidFill>
              <a:srgbClr val="1C2C4A"/>
            </a:solidFill>
            <a:prstDash val="solid"/>
          </a:ln>
        </p:spPr>
      </p:sp>
      <p:pic>
        <p:nvPicPr>
          <p:cNvPr id="17" name="Image 3" descr="preencoded.png">    </p:cNvPr>
          <p:cNvPicPr>
            <a:picLocks noChangeAspect="1"/>
          </p:cNvPicPr>
          <p:nvPr/>
        </p:nvPicPr>
        <p:blipFill>
          <a:blip r:embed="rId4"/>
          <a:stretch>
            <a:fillRect/>
          </a:stretch>
        </p:blipFill>
        <p:spPr>
          <a:xfrm>
            <a:off x="4736592" y="3145536"/>
            <a:ext cx="219456" cy="219456"/>
          </a:xfrm>
          <a:prstGeom prst="rect">
            <a:avLst/>
          </a:prstGeom>
        </p:spPr>
      </p:pic>
      <p:sp>
        <p:nvSpPr>
          <p:cNvPr id="18" name="Shape 12"/>
          <p:cNvSpPr/>
          <p:nvPr/>
        </p:nvSpPr>
        <p:spPr>
          <a:xfrm>
            <a:off x="5257800" y="2971800"/>
            <a:ext cx="6309360" cy="566928"/>
          </a:xfrm>
          <a:prstGeom prst="roundRect">
            <a:avLst>
              <a:gd name="adj" fmla="val 12903"/>
            </a:avLst>
          </a:prstGeom>
          <a:solidFill>
            <a:srgbClr val="16213A"/>
          </a:solidFill>
          <a:ln/>
          <a:effectLst>
            <a:outerShdw sx="100000" sy="100000" kx="0" ky="0" algn="bl" rotWithShape="0" blurRad="101600" dist="38100" dir="5400000">
              <a:srgbClr val="000000">
                <a:alpha val="35000"/>
              </a:srgbClr>
            </a:outerShdw>
          </a:effectLst>
        </p:spPr>
      </p:sp>
      <p:sp>
        <p:nvSpPr>
          <p:cNvPr id="19" name="Text 13"/>
          <p:cNvSpPr/>
          <p:nvPr/>
        </p:nvSpPr>
        <p:spPr>
          <a:xfrm>
            <a:off x="5486400" y="2971800"/>
            <a:ext cx="5852160" cy="566928"/>
          </a:xfrm>
          <a:prstGeom prst="rect">
            <a:avLst/>
          </a:prstGeom>
          <a:noFill/>
          <a:ln/>
        </p:spPr>
        <p:txBody>
          <a:bodyPr wrap="square" lIns="0" tIns="0" rIns="0" bIns="0" rtlCol="0" anchor="ctr"/>
          <a:lstStyle/>
          <a:p>
            <a:pPr algn="l" indent="0" marL="0">
              <a:buNone/>
            </a:pPr>
            <a:r>
              <a:rPr lang="en-US" sz="1500" dirty="0">
                <a:solidFill>
                  <a:srgbClr val="FFFFFF"/>
                </a:solidFill>
                <a:latin typeface="Yu Gothic" pitchFamily="34" charset="0"/>
                <a:ea typeface="Yu Gothic" pitchFamily="34" charset="-122"/>
                <a:cs typeface="Yu Gothic" pitchFamily="34" charset="-120"/>
              </a:rPr>
              <a:t>新しい参加者を場につなぐ</a:t>
            </a:r>
            <a:endParaRPr lang="en-US" sz="1500" dirty="0"/>
          </a:p>
        </p:txBody>
      </p:sp>
      <p:sp>
        <p:nvSpPr>
          <p:cNvPr id="20" name="Shape 14"/>
          <p:cNvSpPr/>
          <p:nvPr/>
        </p:nvSpPr>
        <p:spPr>
          <a:xfrm>
            <a:off x="4617720" y="3712464"/>
            <a:ext cx="457200" cy="457200"/>
          </a:xfrm>
          <a:prstGeom prst="ellipse">
            <a:avLst/>
          </a:prstGeom>
          <a:solidFill>
            <a:srgbClr val="1C2C4A"/>
          </a:solidFill>
          <a:ln w="9525">
            <a:solidFill>
              <a:srgbClr val="1C2C4A"/>
            </a:solidFill>
            <a:prstDash val="solid"/>
          </a:ln>
        </p:spPr>
      </p:sp>
      <p:pic>
        <p:nvPicPr>
          <p:cNvPr id="21" name="Image 4" descr="preencoded.png">    </p:cNvPr>
          <p:cNvPicPr>
            <a:picLocks noChangeAspect="1"/>
          </p:cNvPicPr>
          <p:nvPr/>
        </p:nvPicPr>
        <p:blipFill>
          <a:blip r:embed="rId5"/>
          <a:stretch>
            <a:fillRect/>
          </a:stretch>
        </p:blipFill>
        <p:spPr>
          <a:xfrm>
            <a:off x="4736592" y="3831336"/>
            <a:ext cx="219456" cy="219456"/>
          </a:xfrm>
          <a:prstGeom prst="rect">
            <a:avLst/>
          </a:prstGeom>
        </p:spPr>
      </p:pic>
      <p:sp>
        <p:nvSpPr>
          <p:cNvPr id="22" name="Shape 15"/>
          <p:cNvSpPr/>
          <p:nvPr/>
        </p:nvSpPr>
        <p:spPr>
          <a:xfrm>
            <a:off x="5257800" y="3657600"/>
            <a:ext cx="6309360" cy="566928"/>
          </a:xfrm>
          <a:prstGeom prst="roundRect">
            <a:avLst>
              <a:gd name="adj" fmla="val 12903"/>
            </a:avLst>
          </a:prstGeom>
          <a:solidFill>
            <a:srgbClr val="16213A"/>
          </a:solidFill>
          <a:ln/>
          <a:effectLst>
            <a:outerShdw sx="100000" sy="100000" kx="0" ky="0" algn="bl" rotWithShape="0" blurRad="101600" dist="38100" dir="5400000">
              <a:srgbClr val="000000">
                <a:alpha val="35000"/>
              </a:srgbClr>
            </a:outerShdw>
          </a:effectLst>
        </p:spPr>
      </p:sp>
      <p:sp>
        <p:nvSpPr>
          <p:cNvPr id="23" name="Text 16"/>
          <p:cNvSpPr/>
          <p:nvPr/>
        </p:nvSpPr>
        <p:spPr>
          <a:xfrm>
            <a:off x="5486400" y="3657600"/>
            <a:ext cx="5852160" cy="566928"/>
          </a:xfrm>
          <a:prstGeom prst="rect">
            <a:avLst/>
          </a:prstGeom>
          <a:noFill/>
          <a:ln/>
        </p:spPr>
        <p:txBody>
          <a:bodyPr wrap="square" lIns="0" tIns="0" rIns="0" bIns="0" rtlCol="0" anchor="ctr"/>
          <a:lstStyle/>
          <a:p>
            <a:pPr algn="l" indent="0" marL="0">
              <a:buNone/>
            </a:pPr>
            <a:r>
              <a:rPr lang="en-US" sz="1500" dirty="0">
                <a:solidFill>
                  <a:srgbClr val="FFFFFF"/>
                </a:solidFill>
                <a:latin typeface="Yu Gothic" pitchFamily="34" charset="0"/>
                <a:ea typeface="Yu Gothic" pitchFamily="34" charset="-122"/>
                <a:cs typeface="Yu Gothic" pitchFamily="34" charset="-120"/>
              </a:rPr>
              <a:t>暗黙のルールや文化を伝える</a:t>
            </a:r>
            <a:endParaRPr lang="en-US" sz="1500" dirty="0"/>
          </a:p>
        </p:txBody>
      </p:sp>
      <p:sp>
        <p:nvSpPr>
          <p:cNvPr id="24" name="Shape 17"/>
          <p:cNvSpPr/>
          <p:nvPr/>
        </p:nvSpPr>
        <p:spPr>
          <a:xfrm>
            <a:off x="4617720" y="4398264"/>
            <a:ext cx="457200" cy="457200"/>
          </a:xfrm>
          <a:prstGeom prst="ellipse">
            <a:avLst/>
          </a:prstGeom>
          <a:solidFill>
            <a:srgbClr val="1C2C4A"/>
          </a:solidFill>
          <a:ln w="9525">
            <a:solidFill>
              <a:srgbClr val="1C2C4A"/>
            </a:solidFill>
            <a:prstDash val="solid"/>
          </a:ln>
        </p:spPr>
      </p:sp>
      <p:pic>
        <p:nvPicPr>
          <p:cNvPr id="25" name="Image 5" descr="preencoded.png">    </p:cNvPr>
          <p:cNvPicPr>
            <a:picLocks noChangeAspect="1"/>
          </p:cNvPicPr>
          <p:nvPr/>
        </p:nvPicPr>
        <p:blipFill>
          <a:blip r:embed="rId6"/>
          <a:stretch>
            <a:fillRect/>
          </a:stretch>
        </p:blipFill>
        <p:spPr>
          <a:xfrm>
            <a:off x="4736592" y="4517136"/>
            <a:ext cx="219456" cy="219456"/>
          </a:xfrm>
          <a:prstGeom prst="rect">
            <a:avLst/>
          </a:prstGeom>
        </p:spPr>
      </p:pic>
      <p:sp>
        <p:nvSpPr>
          <p:cNvPr id="26" name="Shape 18"/>
          <p:cNvSpPr/>
          <p:nvPr/>
        </p:nvSpPr>
        <p:spPr>
          <a:xfrm>
            <a:off x="5257800" y="4343400"/>
            <a:ext cx="6309360" cy="566928"/>
          </a:xfrm>
          <a:prstGeom prst="roundRect">
            <a:avLst>
              <a:gd name="adj" fmla="val 12903"/>
            </a:avLst>
          </a:prstGeom>
          <a:solidFill>
            <a:srgbClr val="16213A"/>
          </a:solidFill>
          <a:ln/>
          <a:effectLst>
            <a:outerShdw sx="100000" sy="100000" kx="0" ky="0" algn="bl" rotWithShape="0" blurRad="101600" dist="38100" dir="5400000">
              <a:srgbClr val="000000">
                <a:alpha val="35000"/>
              </a:srgbClr>
            </a:outerShdw>
          </a:effectLst>
        </p:spPr>
      </p:sp>
      <p:sp>
        <p:nvSpPr>
          <p:cNvPr id="27" name="Text 19"/>
          <p:cNvSpPr/>
          <p:nvPr/>
        </p:nvSpPr>
        <p:spPr>
          <a:xfrm>
            <a:off x="5486400" y="4343400"/>
            <a:ext cx="5852160" cy="566928"/>
          </a:xfrm>
          <a:prstGeom prst="rect">
            <a:avLst/>
          </a:prstGeom>
          <a:noFill/>
          <a:ln/>
        </p:spPr>
        <p:txBody>
          <a:bodyPr wrap="square" lIns="0" tIns="0" rIns="0" bIns="0" rtlCol="0" anchor="ctr"/>
          <a:lstStyle/>
          <a:p>
            <a:pPr algn="l" indent="0" marL="0">
              <a:buNone/>
            </a:pPr>
            <a:r>
              <a:rPr lang="en-US" sz="1500" dirty="0">
                <a:solidFill>
                  <a:srgbClr val="FFFFFF"/>
                </a:solidFill>
                <a:latin typeface="Yu Gothic" pitchFamily="34" charset="0"/>
                <a:ea typeface="Yu Gothic" pitchFamily="34" charset="-122"/>
                <a:cs typeface="Yu Gothic" pitchFamily="34" charset="-120"/>
              </a:rPr>
              <a:t>不安な人へ安心や意味づけを与える</a:t>
            </a:r>
            <a:endParaRPr lang="en-US" sz="1500" dirty="0"/>
          </a:p>
        </p:txBody>
      </p:sp>
      <p:sp>
        <p:nvSpPr>
          <p:cNvPr id="28" name="Shape 20"/>
          <p:cNvSpPr/>
          <p:nvPr/>
        </p:nvSpPr>
        <p:spPr>
          <a:xfrm>
            <a:off x="548640" y="5623560"/>
            <a:ext cx="11091672" cy="777240"/>
          </a:xfrm>
          <a:prstGeom prst="roundRect">
            <a:avLst>
              <a:gd name="adj" fmla="val 11765"/>
            </a:avLst>
          </a:prstGeom>
          <a:solidFill>
            <a:srgbClr val="1C2C4A"/>
          </a:solidFill>
          <a:ln/>
          <a:effectLst>
            <a:outerShdw sx="100000" sy="100000" kx="0" ky="0" algn="bl" rotWithShape="0" blurRad="101600" dist="38100" dir="5400000">
              <a:srgbClr val="000000">
                <a:alpha val="35000"/>
              </a:srgbClr>
            </a:outerShdw>
          </a:effectLst>
        </p:spPr>
      </p:sp>
      <p:sp>
        <p:nvSpPr>
          <p:cNvPr id="29" name="Text 21"/>
          <p:cNvSpPr/>
          <p:nvPr/>
        </p:nvSpPr>
        <p:spPr>
          <a:xfrm>
            <a:off x="868680" y="5623560"/>
            <a:ext cx="10515600" cy="777240"/>
          </a:xfrm>
          <a:prstGeom prst="rect">
            <a:avLst/>
          </a:prstGeom>
          <a:noFill/>
          <a:ln/>
        </p:spPr>
        <p:txBody>
          <a:bodyPr wrap="square" lIns="0" tIns="0" rIns="0" bIns="0" rtlCol="0" anchor="ctr"/>
          <a:lstStyle/>
          <a:p>
            <a:pPr indent="0" marL="0">
              <a:buNone/>
            </a:pPr>
            <a:r>
              <a:rPr lang="en-US" sz="1400" dirty="0">
                <a:solidFill>
                  <a:srgbClr val="AFC9EE"/>
                </a:solidFill>
                <a:latin typeface="Yu Gothic" pitchFamily="34" charset="0"/>
                <a:ea typeface="Yu Gothic" pitchFamily="34" charset="-122"/>
                <a:cs typeface="Yu Gothic" pitchFamily="34" charset="-120"/>
              </a:rPr>
              <a:t>救済者は、正式な役職や権限を持つ人とは限らない。業務一覧には記録されない「見えない労働」で場を支えている。</a:t>
            </a:r>
            <a:endParaRPr lang="en-US" sz="1400" dirty="0"/>
          </a:p>
        </p:txBody>
      </p:sp>
      <p:sp>
        <p:nvSpPr>
          <p:cNvPr id="30" name="Text 22"/>
          <p:cNvSpPr/>
          <p:nvPr/>
        </p:nvSpPr>
        <p:spPr>
          <a:xfrm>
            <a:off x="548640" y="6473952"/>
            <a:ext cx="4572000" cy="274320"/>
          </a:xfrm>
          <a:prstGeom prst="rect">
            <a:avLst/>
          </a:prstGeom>
          <a:noFill/>
          <a:ln/>
        </p:spPr>
        <p:txBody>
          <a:bodyPr wrap="square" lIns="0" tIns="0" rIns="0" bIns="0" rtlCol="0" anchor="ctr"/>
          <a:lstStyle/>
          <a:p>
            <a:pPr indent="0" marL="0">
              <a:buNone/>
            </a:pPr>
            <a:r>
              <a:rPr lang="en-US" sz="900" dirty="0">
                <a:solidFill>
                  <a:srgbClr val="5B6480"/>
                </a:solidFill>
                <a:latin typeface="Yu Gothic" pitchFamily="34" charset="0"/>
                <a:ea typeface="Yu Gothic" pitchFamily="34" charset="-122"/>
                <a:cs typeface="Yu Gothic" pitchFamily="34" charset="-120"/>
              </a:rPr>
              <a:t>救済者 × ガバナンス</a:t>
            </a:r>
            <a:endParaRPr lang="en-US" sz="900" dirty="0"/>
          </a:p>
        </p:txBody>
      </p:sp>
      <p:sp>
        <p:nvSpPr>
          <p:cNvPr id="31" name="Text 23"/>
          <p:cNvSpPr/>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FFFFFF"/>
                </a:solidFill>
                <a:latin typeface="Yu Gothic" pitchFamily="34" charset="0"/>
                <a:ea typeface="Yu Gothic" pitchFamily="34" charset="-122"/>
                <a:cs typeface="Yu Gothic" pitchFamily="34" charset="-120"/>
              </a:rPr>
              <a:t>短期的な安定が、長期的な脆弱性を生む</a:t>
            </a:r>
            <a:endParaRPr lang="en-US" sz="3000" dirty="0"/>
          </a:p>
        </p:txBody>
      </p:sp>
      <p:sp>
        <p:nvSpPr>
          <p:cNvPr id="3" name="Shape 1"/>
          <p:cNvSpPr/>
          <p:nvPr/>
        </p:nvSpPr>
        <p:spPr>
          <a:xfrm>
            <a:off x="668884" y="2103120"/>
            <a:ext cx="1965960" cy="1371600"/>
          </a:xfrm>
          <a:prstGeom prst="roundRect">
            <a:avLst>
              <a:gd name="adj" fmla="val 6667"/>
            </a:avLst>
          </a:prstGeom>
          <a:solidFill>
            <a:srgbClr val="16213A"/>
          </a:solidFill>
          <a:ln/>
          <a:effectLst>
            <a:outerShdw sx="100000" sy="100000" kx="0" ky="0" algn="bl" rotWithShape="0" blurRad="101600" dist="38100" dir="5400000">
              <a:srgbClr val="000000">
                <a:alpha val="35000"/>
              </a:srgbClr>
            </a:outerShdw>
          </a:effectLst>
        </p:spPr>
      </p:sp>
      <p:sp>
        <p:nvSpPr>
          <p:cNvPr id="4" name="Shape 2"/>
          <p:cNvSpPr/>
          <p:nvPr/>
        </p:nvSpPr>
        <p:spPr>
          <a:xfrm>
            <a:off x="1395832" y="2267712"/>
            <a:ext cx="512064" cy="512064"/>
          </a:xfrm>
          <a:prstGeom prst="ellipse">
            <a:avLst/>
          </a:prstGeom>
          <a:solidFill>
            <a:srgbClr val="E8A33D"/>
          </a:solidFill>
          <a:ln/>
        </p:spPr>
      </p:sp>
      <p:sp>
        <p:nvSpPr>
          <p:cNvPr id="5" name="Text 3"/>
          <p:cNvSpPr/>
          <p:nvPr/>
        </p:nvSpPr>
        <p:spPr>
          <a:xfrm>
            <a:off x="1395832" y="2267712"/>
            <a:ext cx="512064" cy="512064"/>
          </a:xfrm>
          <a:prstGeom prst="rect">
            <a:avLst/>
          </a:prstGeom>
          <a:noFill/>
          <a:ln/>
        </p:spPr>
        <p:txBody>
          <a:bodyPr wrap="square" lIns="0" tIns="0" rIns="0" bIns="0" rtlCol="0" anchor="ctr"/>
          <a:lstStyle/>
          <a:p>
            <a:pPr algn="ctr" indent="0" marL="0">
              <a:buNone/>
            </a:pPr>
            <a:r>
              <a:rPr lang="en-US" sz="1800" b="1" dirty="0">
                <a:solidFill>
                  <a:srgbClr val="0B1220"/>
                </a:solidFill>
                <a:latin typeface="Yu Gothic" pitchFamily="34" charset="0"/>
                <a:ea typeface="Yu Gothic" pitchFamily="34" charset="-122"/>
                <a:cs typeface="Yu Gothic" pitchFamily="34" charset="-120"/>
              </a:rPr>
              <a:t>1</a:t>
            </a:r>
            <a:endParaRPr lang="en-US" sz="1800" dirty="0"/>
          </a:p>
        </p:txBody>
      </p:sp>
      <p:sp>
        <p:nvSpPr>
          <p:cNvPr id="6" name="Text 4"/>
          <p:cNvSpPr/>
          <p:nvPr/>
        </p:nvSpPr>
        <p:spPr>
          <a:xfrm>
            <a:off x="760324" y="2944368"/>
            <a:ext cx="178308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問題発生</a:t>
            </a:r>
            <a:endParaRPr lang="en-US" sz="1300" dirty="0"/>
          </a:p>
        </p:txBody>
      </p:sp>
      <p:sp>
        <p:nvSpPr>
          <p:cNvPr id="7" name="Text 5"/>
          <p:cNvSpPr/>
          <p:nvPr/>
        </p:nvSpPr>
        <p:spPr>
          <a:xfrm>
            <a:off x="2634844" y="2423160"/>
            <a:ext cx="256032" cy="457200"/>
          </a:xfrm>
          <a:prstGeom prst="rect">
            <a:avLst/>
          </a:prstGeom>
          <a:noFill/>
          <a:ln/>
        </p:spPr>
        <p:txBody>
          <a:bodyPr wrap="square" lIns="0" tIns="0" rIns="0" bIns="0" rtlCol="0" anchor="ctr"/>
          <a:lstStyle/>
          <a:p>
            <a:pPr algn="ctr" indent="0" marL="0">
              <a:buNone/>
            </a:pPr>
            <a:r>
              <a:rPr lang="en-US" sz="2000" dirty="0">
                <a:solidFill>
                  <a:srgbClr val="9AA4C0"/>
                </a:solidFill>
                <a:latin typeface="Yu Gothic" pitchFamily="34" charset="0"/>
                <a:ea typeface="Yu Gothic" pitchFamily="34" charset="-122"/>
                <a:cs typeface="Yu Gothic" pitchFamily="34" charset="-120"/>
              </a:rPr>
              <a:t>→</a:t>
            </a:r>
            <a:endParaRPr lang="en-US" sz="2000" dirty="0"/>
          </a:p>
        </p:txBody>
      </p:sp>
      <p:sp>
        <p:nvSpPr>
          <p:cNvPr id="8" name="Shape 6"/>
          <p:cNvSpPr/>
          <p:nvPr/>
        </p:nvSpPr>
        <p:spPr>
          <a:xfrm>
            <a:off x="2890876" y="2103120"/>
            <a:ext cx="1965960" cy="1371600"/>
          </a:xfrm>
          <a:prstGeom prst="roundRect">
            <a:avLst>
              <a:gd name="adj" fmla="val 6667"/>
            </a:avLst>
          </a:prstGeom>
          <a:solidFill>
            <a:srgbClr val="16213A"/>
          </a:solidFill>
          <a:ln/>
          <a:effectLst>
            <a:outerShdw sx="100000" sy="100000" kx="0" ky="0" algn="bl" rotWithShape="0" blurRad="101600" dist="38100" dir="5400000">
              <a:srgbClr val="000000">
                <a:alpha val="35000"/>
              </a:srgbClr>
            </a:outerShdw>
          </a:effectLst>
        </p:spPr>
      </p:sp>
      <p:sp>
        <p:nvSpPr>
          <p:cNvPr id="9" name="Shape 7"/>
          <p:cNvSpPr/>
          <p:nvPr/>
        </p:nvSpPr>
        <p:spPr>
          <a:xfrm>
            <a:off x="3617824" y="2267712"/>
            <a:ext cx="512064" cy="512064"/>
          </a:xfrm>
          <a:prstGeom prst="ellipse">
            <a:avLst/>
          </a:prstGeom>
          <a:solidFill>
            <a:srgbClr val="E8A33D"/>
          </a:solidFill>
          <a:ln/>
        </p:spPr>
      </p:sp>
      <p:sp>
        <p:nvSpPr>
          <p:cNvPr id="10" name="Text 8"/>
          <p:cNvSpPr/>
          <p:nvPr/>
        </p:nvSpPr>
        <p:spPr>
          <a:xfrm>
            <a:off x="3617824" y="2267712"/>
            <a:ext cx="512064" cy="512064"/>
          </a:xfrm>
          <a:prstGeom prst="rect">
            <a:avLst/>
          </a:prstGeom>
          <a:noFill/>
          <a:ln/>
        </p:spPr>
        <p:txBody>
          <a:bodyPr wrap="square" lIns="0" tIns="0" rIns="0" bIns="0" rtlCol="0" anchor="ctr"/>
          <a:lstStyle/>
          <a:p>
            <a:pPr algn="ctr" indent="0" marL="0">
              <a:buNone/>
            </a:pPr>
            <a:r>
              <a:rPr lang="en-US" sz="1800" b="1" dirty="0">
                <a:solidFill>
                  <a:srgbClr val="0B1220"/>
                </a:solidFill>
                <a:latin typeface="Yu Gothic" pitchFamily="34" charset="0"/>
                <a:ea typeface="Yu Gothic" pitchFamily="34" charset="-122"/>
                <a:cs typeface="Yu Gothic" pitchFamily="34" charset="-120"/>
              </a:rPr>
              <a:t>2</a:t>
            </a:r>
            <a:endParaRPr lang="en-US" sz="1800" dirty="0"/>
          </a:p>
        </p:txBody>
      </p:sp>
      <p:sp>
        <p:nvSpPr>
          <p:cNvPr id="11" name="Text 9"/>
          <p:cNvSpPr/>
          <p:nvPr/>
        </p:nvSpPr>
        <p:spPr>
          <a:xfrm>
            <a:off x="2982316" y="2944368"/>
            <a:ext cx="178308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救済者が解決</a:t>
            </a:r>
            <a:endParaRPr lang="en-US" sz="1300" dirty="0"/>
          </a:p>
        </p:txBody>
      </p:sp>
      <p:sp>
        <p:nvSpPr>
          <p:cNvPr id="12" name="Text 10"/>
          <p:cNvSpPr/>
          <p:nvPr/>
        </p:nvSpPr>
        <p:spPr>
          <a:xfrm>
            <a:off x="4856836" y="2423160"/>
            <a:ext cx="256032" cy="457200"/>
          </a:xfrm>
          <a:prstGeom prst="rect">
            <a:avLst/>
          </a:prstGeom>
          <a:noFill/>
          <a:ln/>
        </p:spPr>
        <p:txBody>
          <a:bodyPr wrap="square" lIns="0" tIns="0" rIns="0" bIns="0" rtlCol="0" anchor="ctr"/>
          <a:lstStyle/>
          <a:p>
            <a:pPr algn="ctr" indent="0" marL="0">
              <a:buNone/>
            </a:pPr>
            <a:r>
              <a:rPr lang="en-US" sz="2000" dirty="0">
                <a:solidFill>
                  <a:srgbClr val="9AA4C0"/>
                </a:solidFill>
                <a:latin typeface="Yu Gothic" pitchFamily="34" charset="0"/>
                <a:ea typeface="Yu Gothic" pitchFamily="34" charset="-122"/>
                <a:cs typeface="Yu Gothic" pitchFamily="34" charset="-120"/>
              </a:rPr>
              <a:t>→</a:t>
            </a:r>
            <a:endParaRPr lang="en-US" sz="2000" dirty="0"/>
          </a:p>
        </p:txBody>
      </p:sp>
      <p:sp>
        <p:nvSpPr>
          <p:cNvPr id="13" name="Shape 11"/>
          <p:cNvSpPr/>
          <p:nvPr/>
        </p:nvSpPr>
        <p:spPr>
          <a:xfrm>
            <a:off x="5112868" y="2103120"/>
            <a:ext cx="1965960" cy="1371600"/>
          </a:xfrm>
          <a:prstGeom prst="roundRect">
            <a:avLst>
              <a:gd name="adj" fmla="val 6667"/>
            </a:avLst>
          </a:prstGeom>
          <a:solidFill>
            <a:srgbClr val="16213A"/>
          </a:solidFill>
          <a:ln/>
          <a:effectLst>
            <a:outerShdw sx="100000" sy="100000" kx="0" ky="0" algn="bl" rotWithShape="0" blurRad="101600" dist="38100" dir="5400000">
              <a:srgbClr val="000000">
                <a:alpha val="35000"/>
              </a:srgbClr>
            </a:outerShdw>
          </a:effectLst>
        </p:spPr>
      </p:sp>
      <p:sp>
        <p:nvSpPr>
          <p:cNvPr id="14" name="Shape 12"/>
          <p:cNvSpPr/>
          <p:nvPr/>
        </p:nvSpPr>
        <p:spPr>
          <a:xfrm>
            <a:off x="5839816" y="2267712"/>
            <a:ext cx="512064" cy="512064"/>
          </a:xfrm>
          <a:prstGeom prst="ellipse">
            <a:avLst/>
          </a:prstGeom>
          <a:solidFill>
            <a:srgbClr val="E8A33D"/>
          </a:solidFill>
          <a:ln/>
        </p:spPr>
      </p:sp>
      <p:sp>
        <p:nvSpPr>
          <p:cNvPr id="15" name="Text 13"/>
          <p:cNvSpPr/>
          <p:nvPr/>
        </p:nvSpPr>
        <p:spPr>
          <a:xfrm>
            <a:off x="5839816" y="2267712"/>
            <a:ext cx="512064" cy="512064"/>
          </a:xfrm>
          <a:prstGeom prst="rect">
            <a:avLst/>
          </a:prstGeom>
          <a:noFill/>
          <a:ln/>
        </p:spPr>
        <p:txBody>
          <a:bodyPr wrap="square" lIns="0" tIns="0" rIns="0" bIns="0" rtlCol="0" anchor="ctr"/>
          <a:lstStyle/>
          <a:p>
            <a:pPr algn="ctr" indent="0" marL="0">
              <a:buNone/>
            </a:pPr>
            <a:r>
              <a:rPr lang="en-US" sz="1800" b="1" dirty="0">
                <a:solidFill>
                  <a:srgbClr val="0B1220"/>
                </a:solidFill>
                <a:latin typeface="Yu Gothic" pitchFamily="34" charset="0"/>
                <a:ea typeface="Yu Gothic" pitchFamily="34" charset="-122"/>
                <a:cs typeface="Yu Gothic" pitchFamily="34" charset="-120"/>
              </a:rPr>
              <a:t>3</a:t>
            </a:r>
            <a:endParaRPr lang="en-US" sz="1800" dirty="0"/>
          </a:p>
        </p:txBody>
      </p:sp>
      <p:sp>
        <p:nvSpPr>
          <p:cNvPr id="16" name="Text 14"/>
          <p:cNvSpPr/>
          <p:nvPr/>
        </p:nvSpPr>
        <p:spPr>
          <a:xfrm>
            <a:off x="5204308" y="2944368"/>
            <a:ext cx="178308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住民が判断を委ねる</a:t>
            </a:r>
            <a:endParaRPr lang="en-US" sz="1300" dirty="0"/>
          </a:p>
        </p:txBody>
      </p:sp>
      <p:sp>
        <p:nvSpPr>
          <p:cNvPr id="17" name="Text 15"/>
          <p:cNvSpPr/>
          <p:nvPr/>
        </p:nvSpPr>
        <p:spPr>
          <a:xfrm>
            <a:off x="7078828" y="2423160"/>
            <a:ext cx="256032" cy="457200"/>
          </a:xfrm>
          <a:prstGeom prst="rect">
            <a:avLst/>
          </a:prstGeom>
          <a:noFill/>
          <a:ln/>
        </p:spPr>
        <p:txBody>
          <a:bodyPr wrap="square" lIns="0" tIns="0" rIns="0" bIns="0" rtlCol="0" anchor="ctr"/>
          <a:lstStyle/>
          <a:p>
            <a:pPr algn="ctr" indent="0" marL="0">
              <a:buNone/>
            </a:pPr>
            <a:r>
              <a:rPr lang="en-US" sz="2000" dirty="0">
                <a:solidFill>
                  <a:srgbClr val="9AA4C0"/>
                </a:solidFill>
                <a:latin typeface="Yu Gothic" pitchFamily="34" charset="0"/>
                <a:ea typeface="Yu Gothic" pitchFamily="34" charset="-122"/>
                <a:cs typeface="Yu Gothic" pitchFamily="34" charset="-120"/>
              </a:rPr>
              <a:t>→</a:t>
            </a:r>
            <a:endParaRPr lang="en-US" sz="2000" dirty="0"/>
          </a:p>
        </p:txBody>
      </p:sp>
      <p:sp>
        <p:nvSpPr>
          <p:cNvPr id="18" name="Shape 16"/>
          <p:cNvSpPr/>
          <p:nvPr/>
        </p:nvSpPr>
        <p:spPr>
          <a:xfrm>
            <a:off x="7334860" y="2103120"/>
            <a:ext cx="1965960" cy="1371600"/>
          </a:xfrm>
          <a:prstGeom prst="roundRect">
            <a:avLst>
              <a:gd name="adj" fmla="val 6667"/>
            </a:avLst>
          </a:prstGeom>
          <a:solidFill>
            <a:srgbClr val="16213A"/>
          </a:solidFill>
          <a:ln/>
          <a:effectLst>
            <a:outerShdw sx="100000" sy="100000" kx="0" ky="0" algn="bl" rotWithShape="0" blurRad="101600" dist="38100" dir="5400000">
              <a:srgbClr val="000000">
                <a:alpha val="35000"/>
              </a:srgbClr>
            </a:outerShdw>
          </a:effectLst>
        </p:spPr>
      </p:sp>
      <p:sp>
        <p:nvSpPr>
          <p:cNvPr id="19" name="Shape 17"/>
          <p:cNvSpPr/>
          <p:nvPr/>
        </p:nvSpPr>
        <p:spPr>
          <a:xfrm>
            <a:off x="8061808" y="2267712"/>
            <a:ext cx="512064" cy="512064"/>
          </a:xfrm>
          <a:prstGeom prst="ellipse">
            <a:avLst/>
          </a:prstGeom>
          <a:solidFill>
            <a:srgbClr val="E8A33D"/>
          </a:solidFill>
          <a:ln/>
        </p:spPr>
      </p:sp>
      <p:sp>
        <p:nvSpPr>
          <p:cNvPr id="20" name="Text 18"/>
          <p:cNvSpPr/>
          <p:nvPr/>
        </p:nvSpPr>
        <p:spPr>
          <a:xfrm>
            <a:off x="8061808" y="2267712"/>
            <a:ext cx="512064" cy="512064"/>
          </a:xfrm>
          <a:prstGeom prst="rect">
            <a:avLst/>
          </a:prstGeom>
          <a:noFill/>
          <a:ln/>
        </p:spPr>
        <p:txBody>
          <a:bodyPr wrap="square" lIns="0" tIns="0" rIns="0" bIns="0" rtlCol="0" anchor="ctr"/>
          <a:lstStyle/>
          <a:p>
            <a:pPr algn="ctr" indent="0" marL="0">
              <a:buNone/>
            </a:pPr>
            <a:r>
              <a:rPr lang="en-US" sz="1800" b="1" dirty="0">
                <a:solidFill>
                  <a:srgbClr val="0B1220"/>
                </a:solidFill>
                <a:latin typeface="Yu Gothic" pitchFamily="34" charset="0"/>
                <a:ea typeface="Yu Gothic" pitchFamily="34" charset="-122"/>
                <a:cs typeface="Yu Gothic" pitchFamily="34" charset="-120"/>
              </a:rPr>
              <a:t>4</a:t>
            </a:r>
            <a:endParaRPr lang="en-US" sz="1800" dirty="0"/>
          </a:p>
        </p:txBody>
      </p:sp>
      <p:sp>
        <p:nvSpPr>
          <p:cNvPr id="21" name="Text 19"/>
          <p:cNvSpPr/>
          <p:nvPr/>
        </p:nvSpPr>
        <p:spPr>
          <a:xfrm>
            <a:off x="7426300" y="2944368"/>
            <a:ext cx="178308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自律性の低下</a:t>
            </a:r>
            <a:endParaRPr lang="en-US" sz="1300" dirty="0"/>
          </a:p>
        </p:txBody>
      </p:sp>
      <p:sp>
        <p:nvSpPr>
          <p:cNvPr id="22" name="Text 20"/>
          <p:cNvSpPr/>
          <p:nvPr/>
        </p:nvSpPr>
        <p:spPr>
          <a:xfrm>
            <a:off x="9300820" y="2423160"/>
            <a:ext cx="256032" cy="457200"/>
          </a:xfrm>
          <a:prstGeom prst="rect">
            <a:avLst/>
          </a:prstGeom>
          <a:noFill/>
          <a:ln/>
        </p:spPr>
        <p:txBody>
          <a:bodyPr wrap="square" lIns="0" tIns="0" rIns="0" bIns="0" rtlCol="0" anchor="ctr"/>
          <a:lstStyle/>
          <a:p>
            <a:pPr algn="ctr" indent="0" marL="0">
              <a:buNone/>
            </a:pPr>
            <a:r>
              <a:rPr lang="en-US" sz="2000" dirty="0">
                <a:solidFill>
                  <a:srgbClr val="9AA4C0"/>
                </a:solidFill>
                <a:latin typeface="Yu Gothic" pitchFamily="34" charset="0"/>
                <a:ea typeface="Yu Gothic" pitchFamily="34" charset="-122"/>
                <a:cs typeface="Yu Gothic" pitchFamily="34" charset="-120"/>
              </a:rPr>
              <a:t>→</a:t>
            </a:r>
            <a:endParaRPr lang="en-US" sz="2000" dirty="0"/>
          </a:p>
        </p:txBody>
      </p:sp>
      <p:sp>
        <p:nvSpPr>
          <p:cNvPr id="23" name="Shape 21"/>
          <p:cNvSpPr/>
          <p:nvPr/>
        </p:nvSpPr>
        <p:spPr>
          <a:xfrm>
            <a:off x="9556852" y="2103120"/>
            <a:ext cx="1965960" cy="1371600"/>
          </a:xfrm>
          <a:prstGeom prst="roundRect">
            <a:avLst>
              <a:gd name="adj" fmla="val 6667"/>
            </a:avLst>
          </a:prstGeom>
          <a:solidFill>
            <a:srgbClr val="16213A"/>
          </a:solidFill>
          <a:ln/>
          <a:effectLst>
            <a:outerShdw sx="100000" sy="100000" kx="0" ky="0" algn="bl" rotWithShape="0" blurRad="101600" dist="38100" dir="5400000">
              <a:srgbClr val="000000">
                <a:alpha val="35000"/>
              </a:srgbClr>
            </a:outerShdw>
          </a:effectLst>
        </p:spPr>
      </p:sp>
      <p:sp>
        <p:nvSpPr>
          <p:cNvPr id="24" name="Shape 22"/>
          <p:cNvSpPr/>
          <p:nvPr/>
        </p:nvSpPr>
        <p:spPr>
          <a:xfrm>
            <a:off x="10283800" y="2267712"/>
            <a:ext cx="512064" cy="512064"/>
          </a:xfrm>
          <a:prstGeom prst="ellipse">
            <a:avLst/>
          </a:prstGeom>
          <a:solidFill>
            <a:srgbClr val="E2665A"/>
          </a:solidFill>
          <a:ln/>
        </p:spPr>
      </p:sp>
      <p:sp>
        <p:nvSpPr>
          <p:cNvPr id="25" name="Text 23"/>
          <p:cNvSpPr/>
          <p:nvPr/>
        </p:nvSpPr>
        <p:spPr>
          <a:xfrm>
            <a:off x="10283800" y="2267712"/>
            <a:ext cx="512064" cy="512064"/>
          </a:xfrm>
          <a:prstGeom prst="rect">
            <a:avLst/>
          </a:prstGeom>
          <a:noFill/>
          <a:ln/>
        </p:spPr>
        <p:txBody>
          <a:bodyPr wrap="square" lIns="0" tIns="0" rIns="0" bIns="0" rtlCol="0" anchor="ctr"/>
          <a:lstStyle/>
          <a:p>
            <a:pPr algn="ctr" indent="0" marL="0">
              <a:buNone/>
            </a:pPr>
            <a:r>
              <a:rPr lang="en-US" sz="1800" b="1" dirty="0">
                <a:solidFill>
                  <a:srgbClr val="0B1220"/>
                </a:solidFill>
                <a:latin typeface="Yu Gothic" pitchFamily="34" charset="0"/>
                <a:ea typeface="Yu Gothic" pitchFamily="34" charset="-122"/>
                <a:cs typeface="Yu Gothic" pitchFamily="34" charset="-120"/>
              </a:rPr>
              <a:t>5</a:t>
            </a:r>
            <a:endParaRPr lang="en-US" sz="1800" dirty="0"/>
          </a:p>
        </p:txBody>
      </p:sp>
      <p:sp>
        <p:nvSpPr>
          <p:cNvPr id="26" name="Text 24"/>
          <p:cNvSpPr/>
          <p:nvPr/>
        </p:nvSpPr>
        <p:spPr>
          <a:xfrm>
            <a:off x="9648292" y="2944368"/>
            <a:ext cx="178308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救済者の疲弊</a:t>
            </a:r>
            <a:endParaRPr lang="en-US" sz="1300" dirty="0"/>
          </a:p>
        </p:txBody>
      </p:sp>
      <p:sp>
        <p:nvSpPr>
          <p:cNvPr id="27" name="Text 25"/>
          <p:cNvSpPr/>
          <p:nvPr/>
        </p:nvSpPr>
        <p:spPr>
          <a:xfrm>
            <a:off x="668884" y="3611880"/>
            <a:ext cx="10853928" cy="365760"/>
          </a:xfrm>
          <a:prstGeom prst="rect">
            <a:avLst/>
          </a:prstGeom>
          <a:noFill/>
          <a:ln/>
        </p:spPr>
        <p:txBody>
          <a:bodyPr wrap="square" lIns="0" tIns="0" rIns="0" bIns="0" rtlCol="0" anchor="ctr"/>
          <a:lstStyle/>
          <a:p>
            <a:pPr algn="ctr" indent="0" marL="0">
              <a:buNone/>
            </a:pPr>
            <a:r>
              <a:rPr lang="en-US" sz="1200" i="1" dirty="0">
                <a:solidFill>
                  <a:srgbClr val="9AA4C0"/>
                </a:solidFill>
                <a:latin typeface="Yu Gothic" pitchFamily="34" charset="0"/>
                <a:ea typeface="Yu Gothic" pitchFamily="34" charset="-122"/>
                <a:cs typeface="Yu Gothic" pitchFamily="34" charset="-120"/>
              </a:rPr>
              <a:t>この循環がフェーズを追うごとに繰り返され、救済者は静かに消耗していく</a:t>
            </a:r>
            <a:endParaRPr lang="en-US" sz="1200" dirty="0"/>
          </a:p>
        </p:txBody>
      </p:sp>
      <p:sp>
        <p:nvSpPr>
          <p:cNvPr id="28" name="Shape 26"/>
          <p:cNvSpPr/>
          <p:nvPr/>
        </p:nvSpPr>
        <p:spPr>
          <a:xfrm>
            <a:off x="548640" y="5394960"/>
            <a:ext cx="11091672" cy="1005840"/>
          </a:xfrm>
          <a:prstGeom prst="roundRect">
            <a:avLst>
              <a:gd name="adj" fmla="val 9091"/>
            </a:avLst>
          </a:prstGeom>
          <a:solidFill>
            <a:srgbClr val="1C2C4A"/>
          </a:solidFill>
          <a:ln/>
          <a:effectLst>
            <a:outerShdw sx="100000" sy="100000" kx="0" ky="0" algn="bl" rotWithShape="0" blurRad="101600" dist="38100" dir="5400000">
              <a:srgbClr val="000000">
                <a:alpha val="35000"/>
              </a:srgbClr>
            </a:outerShdw>
          </a:effectLst>
        </p:spPr>
      </p:sp>
      <p:sp>
        <p:nvSpPr>
          <p:cNvPr id="29" name="Text 27"/>
          <p:cNvSpPr/>
          <p:nvPr/>
        </p:nvSpPr>
        <p:spPr>
          <a:xfrm>
            <a:off x="868680" y="5394960"/>
            <a:ext cx="10515600" cy="1005840"/>
          </a:xfrm>
          <a:prstGeom prst="rect">
            <a:avLst/>
          </a:prstGeom>
          <a:noFill/>
          <a:ln/>
        </p:spPr>
        <p:txBody>
          <a:bodyPr wrap="square" lIns="0" tIns="0" rIns="0" bIns="0" rtlCol="0" anchor="ctr"/>
          <a:lstStyle/>
          <a:p>
            <a:pPr indent="0" marL="0">
              <a:buNone/>
            </a:pPr>
            <a:r>
              <a:rPr lang="en-US" sz="1400" dirty="0">
                <a:solidFill>
                  <a:srgbClr val="AFC9EE"/>
                </a:solidFill>
                <a:latin typeface="Yu Gothic" pitchFamily="34" charset="0"/>
                <a:ea typeface="Yu Gothic" pitchFamily="34" charset="-122"/>
                <a:cs typeface="Yu Gothic" pitchFamily="34" charset="-120"/>
              </a:rPr>
              <a:t>救済者が存在すると、短期的には多くの問題が早期解決され、高い心理的安全性が保たれる。しかし、相談・判断・関係調整が一人に集中することで、共同体は自ら考える力を失い、救済者不在時に機能不全に陥る。</a:t>
            </a:r>
            <a:endParaRPr lang="en-US" sz="1400" dirty="0"/>
          </a:p>
        </p:txBody>
      </p:sp>
      <p:sp>
        <p:nvSpPr>
          <p:cNvPr id="30" name="Text 28"/>
          <p:cNvSpPr/>
          <p:nvPr/>
        </p:nvSpPr>
        <p:spPr>
          <a:xfrm>
            <a:off x="548640" y="6473952"/>
            <a:ext cx="4572000" cy="274320"/>
          </a:xfrm>
          <a:prstGeom prst="rect">
            <a:avLst/>
          </a:prstGeom>
          <a:noFill/>
          <a:ln/>
        </p:spPr>
        <p:txBody>
          <a:bodyPr wrap="square" lIns="0" tIns="0" rIns="0" bIns="0" rtlCol="0" anchor="ctr"/>
          <a:lstStyle/>
          <a:p>
            <a:pPr indent="0" marL="0">
              <a:buNone/>
            </a:pPr>
            <a:r>
              <a:rPr lang="en-US" sz="900" dirty="0">
                <a:solidFill>
                  <a:srgbClr val="5B6480"/>
                </a:solidFill>
                <a:latin typeface="Yu Gothic" pitchFamily="34" charset="0"/>
                <a:ea typeface="Yu Gothic" pitchFamily="34" charset="-122"/>
                <a:cs typeface="Yu Gothic" pitchFamily="34" charset="-120"/>
              </a:rPr>
              <a:t>救済者 × ガバナンス</a:t>
            </a:r>
            <a:endParaRPr lang="en-US" sz="900" dirty="0"/>
          </a:p>
        </p:txBody>
      </p:sp>
      <p:sp>
        <p:nvSpPr>
          <p:cNvPr id="31" name="Text 29"/>
          <p:cNvSpPr/>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FFFFFF"/>
                </a:solidFill>
                <a:latin typeface="Yu Gothic" pitchFamily="34" charset="0"/>
                <a:ea typeface="Yu Gothic" pitchFamily="34" charset="-122"/>
                <a:cs typeface="Yu Gothic" pitchFamily="34" charset="-120"/>
              </a:rPr>
              <a:t>個人の善意を、どこまで「仕組み」に移せるか</a:t>
            </a:r>
            <a:endParaRPr lang="en-US" sz="3000" dirty="0"/>
          </a:p>
        </p:txBody>
      </p:sp>
      <p:sp>
        <p:nvSpPr>
          <p:cNvPr id="3" name="Shape 1"/>
          <p:cNvSpPr/>
          <p:nvPr/>
        </p:nvSpPr>
        <p:spPr>
          <a:xfrm>
            <a:off x="731520" y="1737360"/>
            <a:ext cx="4023360" cy="4023360"/>
          </a:xfrm>
          <a:prstGeom prst="ellipse">
            <a:avLst/>
          </a:prstGeom>
          <a:solidFill>
            <a:srgbClr val="5A8FD6">
              <a:alpha val="12000"/>
            </a:srgbClr>
          </a:solidFill>
          <a:ln/>
        </p:spPr>
      </p:sp>
      <p:sp>
        <p:nvSpPr>
          <p:cNvPr id="4" name="Shape 2"/>
          <p:cNvSpPr/>
          <p:nvPr/>
        </p:nvSpPr>
        <p:spPr>
          <a:xfrm>
            <a:off x="1280160" y="2286000"/>
            <a:ext cx="2926080" cy="2926080"/>
          </a:xfrm>
          <a:prstGeom prst="ellipse">
            <a:avLst/>
          </a:prstGeom>
          <a:solidFill>
            <a:srgbClr val="5A8FD6">
              <a:alpha val="22000"/>
            </a:srgbClr>
          </a:solidFill>
          <a:ln/>
        </p:spPr>
      </p:sp>
      <p:sp>
        <p:nvSpPr>
          <p:cNvPr id="5" name="Shape 3"/>
          <p:cNvSpPr/>
          <p:nvPr/>
        </p:nvSpPr>
        <p:spPr>
          <a:xfrm>
            <a:off x="1828800" y="2834640"/>
            <a:ext cx="1828800" cy="1828800"/>
          </a:xfrm>
          <a:prstGeom prst="ellipse">
            <a:avLst/>
          </a:prstGeom>
          <a:solidFill>
            <a:srgbClr val="5A8FD6"/>
          </a:solidFill>
          <a:ln w="9525">
            <a:solidFill>
              <a:srgbClr val="5A8FD6"/>
            </a:solidFill>
            <a:prstDash val="solid"/>
          </a:ln>
        </p:spPr>
      </p:sp>
      <p:pic>
        <p:nvPicPr>
          <p:cNvPr id="6" name="Image 0" descr="preencoded.png">    </p:cNvPr>
          <p:cNvPicPr>
            <a:picLocks noChangeAspect="1"/>
          </p:cNvPicPr>
          <p:nvPr/>
        </p:nvPicPr>
        <p:blipFill>
          <a:blip r:embed="rId1"/>
          <a:stretch>
            <a:fillRect/>
          </a:stretch>
        </p:blipFill>
        <p:spPr>
          <a:xfrm>
            <a:off x="2304288" y="3310128"/>
            <a:ext cx="877824" cy="877824"/>
          </a:xfrm>
          <a:prstGeom prst="rect">
            <a:avLst/>
          </a:prstGeom>
        </p:spPr>
      </p:pic>
      <p:sp>
        <p:nvSpPr>
          <p:cNvPr id="7" name="Shape 4"/>
          <p:cNvSpPr/>
          <p:nvPr/>
        </p:nvSpPr>
        <p:spPr>
          <a:xfrm>
            <a:off x="5120640" y="1737360"/>
            <a:ext cx="6446520" cy="1234440"/>
          </a:xfrm>
          <a:prstGeom prst="roundRect">
            <a:avLst>
              <a:gd name="adj" fmla="val 7407"/>
            </a:avLst>
          </a:prstGeom>
          <a:solidFill>
            <a:srgbClr val="16213A"/>
          </a:solidFill>
          <a:ln/>
          <a:effectLst>
            <a:outerShdw sx="100000" sy="100000" kx="0" ky="0" algn="bl" rotWithShape="0" blurRad="101600" dist="38100" dir="5400000">
              <a:srgbClr val="000000">
                <a:alpha val="35000"/>
              </a:srgbClr>
            </a:outerShdw>
          </a:effectLst>
        </p:spPr>
      </p:sp>
      <p:sp>
        <p:nvSpPr>
          <p:cNvPr id="8" name="Shape 5"/>
          <p:cNvSpPr/>
          <p:nvPr/>
        </p:nvSpPr>
        <p:spPr>
          <a:xfrm>
            <a:off x="5394960" y="2226564"/>
            <a:ext cx="256032" cy="256032"/>
          </a:xfrm>
          <a:prstGeom prst="ellipse">
            <a:avLst/>
          </a:prstGeom>
          <a:solidFill>
            <a:srgbClr val="5A8FD6"/>
          </a:solidFill>
          <a:ln/>
        </p:spPr>
      </p:sp>
      <p:sp>
        <p:nvSpPr>
          <p:cNvPr id="9" name="Text 6"/>
          <p:cNvSpPr/>
          <p:nvPr/>
        </p:nvSpPr>
        <p:spPr>
          <a:xfrm>
            <a:off x="5852160" y="1847088"/>
            <a:ext cx="5532120" cy="1014984"/>
          </a:xfrm>
          <a:prstGeom prst="rect">
            <a:avLst/>
          </a:prstGeom>
          <a:noFill/>
          <a:ln/>
        </p:spPr>
        <p:txBody>
          <a:bodyPr wrap="square" lIns="0" tIns="0" rIns="0" bIns="0" rtlCol="0" anchor="ctr"/>
          <a:lstStyle/>
          <a:p>
            <a:pPr indent="0" marL="0">
              <a:buNone/>
            </a:pPr>
            <a:r>
              <a:rPr lang="en-US" sz="1500" dirty="0">
                <a:solidFill>
                  <a:srgbClr val="FFFFFF"/>
                </a:solidFill>
                <a:latin typeface="Yu Gothic" pitchFamily="34" charset="0"/>
                <a:ea typeface="Yu Gothic" pitchFamily="34" charset="-122"/>
                <a:cs typeface="Yu Gothic" pitchFamily="34" charset="-120"/>
              </a:rPr>
              <a:t>有能な救済者がいる共同体は、本当に安全なのか？</a:t>
            </a:r>
            <a:endParaRPr lang="en-US" sz="1500" dirty="0"/>
          </a:p>
        </p:txBody>
      </p:sp>
      <p:sp>
        <p:nvSpPr>
          <p:cNvPr id="10" name="Shape 7"/>
          <p:cNvSpPr/>
          <p:nvPr/>
        </p:nvSpPr>
        <p:spPr>
          <a:xfrm>
            <a:off x="5120640" y="3227832"/>
            <a:ext cx="6446520" cy="1234440"/>
          </a:xfrm>
          <a:prstGeom prst="roundRect">
            <a:avLst>
              <a:gd name="adj" fmla="val 7407"/>
            </a:avLst>
          </a:prstGeom>
          <a:solidFill>
            <a:srgbClr val="16213A"/>
          </a:solidFill>
          <a:ln/>
          <a:effectLst>
            <a:outerShdw sx="100000" sy="100000" kx="0" ky="0" algn="bl" rotWithShape="0" blurRad="101600" dist="38100" dir="5400000">
              <a:srgbClr val="000000">
                <a:alpha val="35000"/>
              </a:srgbClr>
            </a:outerShdw>
          </a:effectLst>
        </p:spPr>
      </p:sp>
      <p:sp>
        <p:nvSpPr>
          <p:cNvPr id="11" name="Shape 8"/>
          <p:cNvSpPr/>
          <p:nvPr/>
        </p:nvSpPr>
        <p:spPr>
          <a:xfrm>
            <a:off x="5394960" y="3717036"/>
            <a:ext cx="256032" cy="256032"/>
          </a:xfrm>
          <a:prstGeom prst="ellipse">
            <a:avLst/>
          </a:prstGeom>
          <a:solidFill>
            <a:srgbClr val="5A8FD6"/>
          </a:solidFill>
          <a:ln/>
        </p:spPr>
      </p:sp>
      <p:sp>
        <p:nvSpPr>
          <p:cNvPr id="12" name="Text 9"/>
          <p:cNvSpPr/>
          <p:nvPr/>
        </p:nvSpPr>
        <p:spPr>
          <a:xfrm>
            <a:off x="5852160" y="3337560"/>
            <a:ext cx="5532120" cy="1014984"/>
          </a:xfrm>
          <a:prstGeom prst="rect">
            <a:avLst/>
          </a:prstGeom>
          <a:noFill/>
          <a:ln/>
        </p:spPr>
        <p:txBody>
          <a:bodyPr wrap="square" lIns="0" tIns="0" rIns="0" bIns="0" rtlCol="0" anchor="ctr"/>
          <a:lstStyle/>
          <a:p>
            <a:pPr indent="0" marL="0">
              <a:buNone/>
            </a:pPr>
            <a:r>
              <a:rPr lang="en-US" sz="1500" dirty="0">
                <a:solidFill>
                  <a:srgbClr val="FFFFFF"/>
                </a:solidFill>
                <a:latin typeface="Yu Gothic" pitchFamily="34" charset="0"/>
                <a:ea typeface="Yu Gothic" pitchFamily="34" charset="-122"/>
                <a:cs typeface="Yu Gothic" pitchFamily="34" charset="-120"/>
              </a:rPr>
              <a:t>救済者の価値（共感・安全性・意味づけ）を失わずに、冷たい官僚主義に陥らない「ガバナンス」は設計できるか？</a:t>
            </a:r>
            <a:endParaRPr lang="en-US" sz="1500" dirty="0"/>
          </a:p>
        </p:txBody>
      </p:sp>
      <p:sp>
        <p:nvSpPr>
          <p:cNvPr id="13" name="Shape 10"/>
          <p:cNvSpPr/>
          <p:nvPr/>
        </p:nvSpPr>
        <p:spPr>
          <a:xfrm>
            <a:off x="5120640" y="4718304"/>
            <a:ext cx="6446520" cy="1234440"/>
          </a:xfrm>
          <a:prstGeom prst="roundRect">
            <a:avLst>
              <a:gd name="adj" fmla="val 7407"/>
            </a:avLst>
          </a:prstGeom>
          <a:solidFill>
            <a:srgbClr val="16213A"/>
          </a:solidFill>
          <a:ln/>
          <a:effectLst>
            <a:outerShdw sx="100000" sy="100000" kx="0" ky="0" algn="bl" rotWithShape="0" blurRad="101600" dist="38100" dir="5400000">
              <a:srgbClr val="000000">
                <a:alpha val="35000"/>
              </a:srgbClr>
            </a:outerShdw>
          </a:effectLst>
        </p:spPr>
      </p:sp>
      <p:sp>
        <p:nvSpPr>
          <p:cNvPr id="14" name="Shape 11"/>
          <p:cNvSpPr/>
          <p:nvPr/>
        </p:nvSpPr>
        <p:spPr>
          <a:xfrm>
            <a:off x="5394960" y="5207508"/>
            <a:ext cx="256032" cy="256032"/>
          </a:xfrm>
          <a:prstGeom prst="ellipse">
            <a:avLst/>
          </a:prstGeom>
          <a:solidFill>
            <a:srgbClr val="5A8FD6"/>
          </a:solidFill>
          <a:ln/>
        </p:spPr>
      </p:sp>
      <p:sp>
        <p:nvSpPr>
          <p:cNvPr id="15" name="Text 12"/>
          <p:cNvSpPr/>
          <p:nvPr/>
        </p:nvSpPr>
        <p:spPr>
          <a:xfrm>
            <a:off x="5852160" y="4828032"/>
            <a:ext cx="5532120" cy="1014984"/>
          </a:xfrm>
          <a:prstGeom prst="rect">
            <a:avLst/>
          </a:prstGeom>
          <a:noFill/>
          <a:ln/>
        </p:spPr>
        <p:txBody>
          <a:bodyPr wrap="square" lIns="0" tIns="0" rIns="0" bIns="0" rtlCol="0" anchor="ctr"/>
          <a:lstStyle/>
          <a:p>
            <a:pPr indent="0" marL="0">
              <a:buNone/>
            </a:pPr>
            <a:r>
              <a:rPr lang="en-US" sz="1500" dirty="0">
                <a:solidFill>
                  <a:srgbClr val="FFFFFF"/>
                </a:solidFill>
                <a:latin typeface="Yu Gothic" pitchFamily="34" charset="0"/>
                <a:ea typeface="Yu Gothic" pitchFamily="34" charset="-122"/>
                <a:cs typeface="Yu Gothic" pitchFamily="34" charset="-120"/>
              </a:rPr>
              <a:t>神（救済者）が毎回介入しなくても、自律的に回る仕組みを作れるか？</a:t>
            </a:r>
            <a:endParaRPr lang="en-US" sz="1500" dirty="0"/>
          </a:p>
        </p:txBody>
      </p:sp>
      <p:sp>
        <p:nvSpPr>
          <p:cNvPr id="16" name="Text 13"/>
          <p:cNvSpPr/>
          <p:nvPr/>
        </p:nvSpPr>
        <p:spPr>
          <a:xfrm>
            <a:off x="548640" y="6473952"/>
            <a:ext cx="4572000" cy="274320"/>
          </a:xfrm>
          <a:prstGeom prst="rect">
            <a:avLst/>
          </a:prstGeom>
          <a:noFill/>
          <a:ln/>
        </p:spPr>
        <p:txBody>
          <a:bodyPr wrap="square" lIns="0" tIns="0" rIns="0" bIns="0" rtlCol="0" anchor="ctr"/>
          <a:lstStyle/>
          <a:p>
            <a:pPr indent="0" marL="0">
              <a:buNone/>
            </a:pPr>
            <a:r>
              <a:rPr lang="en-US" sz="900" dirty="0">
                <a:solidFill>
                  <a:srgbClr val="5B6480"/>
                </a:solidFill>
                <a:latin typeface="Yu Gothic" pitchFamily="34" charset="0"/>
                <a:ea typeface="Yu Gothic" pitchFamily="34" charset="-122"/>
                <a:cs typeface="Yu Gothic" pitchFamily="34" charset="-120"/>
              </a:rPr>
              <a:t>救済者 × ガバナンス</a:t>
            </a:r>
            <a:endParaRPr lang="en-US" sz="900" dirty="0"/>
          </a:p>
        </p:txBody>
      </p:sp>
      <p:sp>
        <p:nvSpPr>
          <p:cNvPr id="17" name="Text 14"/>
          <p:cNvSpPr/>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FFFFFF"/>
                </a:solidFill>
                <a:latin typeface="Yu Gothic" pitchFamily="34" charset="0"/>
                <a:ea typeface="Yu Gothic" pitchFamily="34" charset="-122"/>
                <a:cs typeface="Yu Gothic" pitchFamily="34" charset="-120"/>
              </a:rPr>
              <a:t>LLMエージェントが生み出す「感情の培養皿」</a:t>
            </a:r>
            <a:endParaRPr lang="en-US" sz="3000" dirty="0"/>
          </a:p>
        </p:txBody>
      </p:sp>
      <p:sp>
        <p:nvSpPr>
          <p:cNvPr id="3" name="Text 1"/>
          <p:cNvSpPr/>
          <p:nvPr/>
        </p:nvSpPr>
        <p:spPr>
          <a:xfrm>
            <a:off x="548640" y="1207008"/>
            <a:ext cx="11094415" cy="365760"/>
          </a:xfrm>
          <a:prstGeom prst="rect">
            <a:avLst/>
          </a:prstGeom>
          <a:noFill/>
          <a:ln/>
        </p:spPr>
        <p:txBody>
          <a:bodyPr wrap="square" lIns="0" tIns="0" rIns="0" bIns="0" rtlCol="0" anchor="ctr"/>
          <a:lstStyle/>
          <a:p>
            <a:pPr algn="l" indent="0" marL="0">
              <a:buNone/>
            </a:pPr>
            <a:r>
              <a:rPr lang="en-US" sz="1400" dirty="0">
                <a:solidFill>
                  <a:srgbClr val="9AA4C0"/>
                </a:solidFill>
                <a:latin typeface="Yu Gothic" pitchFamily="34" charset="0"/>
                <a:ea typeface="Yu Gothic" pitchFamily="34" charset="-122"/>
                <a:cs typeface="Yu Gothic" pitchFamily="34" charset="-120"/>
              </a:rPr>
              <a:t>従来の数値シミュレーションは「利益と損失」だけで人が動くことを前提としている。しかし現実は違う。</a:t>
            </a:r>
            <a:endParaRPr lang="en-US" sz="1400" dirty="0"/>
          </a:p>
        </p:txBody>
      </p:sp>
      <p:sp>
        <p:nvSpPr>
          <p:cNvPr id="4" name="Shape 2"/>
          <p:cNvSpPr/>
          <p:nvPr/>
        </p:nvSpPr>
        <p:spPr>
          <a:xfrm>
            <a:off x="548640" y="1965960"/>
            <a:ext cx="5349240" cy="3246120"/>
          </a:xfrm>
          <a:prstGeom prst="roundRect">
            <a:avLst>
              <a:gd name="adj" fmla="val 3380"/>
            </a:avLst>
          </a:prstGeom>
          <a:solidFill>
            <a:srgbClr val="16213A"/>
          </a:solidFill>
          <a:ln/>
          <a:effectLst>
            <a:outerShdw sx="100000" sy="100000" kx="0" ky="0" algn="bl" rotWithShape="0" blurRad="101600" dist="38100" dir="5400000">
              <a:srgbClr val="000000">
                <a:alpha val="35000"/>
              </a:srgbClr>
            </a:outerShdw>
          </a:effectLst>
        </p:spPr>
      </p:sp>
      <p:sp>
        <p:nvSpPr>
          <p:cNvPr id="5" name="Text 3"/>
          <p:cNvSpPr/>
          <p:nvPr/>
        </p:nvSpPr>
        <p:spPr>
          <a:xfrm>
            <a:off x="868680" y="2240280"/>
            <a:ext cx="4754880" cy="365760"/>
          </a:xfrm>
          <a:prstGeom prst="rect">
            <a:avLst/>
          </a:prstGeom>
          <a:noFill/>
          <a:ln/>
        </p:spPr>
        <p:txBody>
          <a:bodyPr wrap="square" lIns="0" tIns="0" rIns="0" bIns="0" rtlCol="0" anchor="ctr"/>
          <a:lstStyle/>
          <a:p>
            <a:pPr indent="0" marL="0">
              <a:buNone/>
            </a:pPr>
            <a:r>
              <a:rPr lang="en-US" sz="1600" b="1" dirty="0">
                <a:solidFill>
                  <a:srgbClr val="5A8FD6"/>
                </a:solidFill>
                <a:latin typeface="Yu Gothic" pitchFamily="34" charset="0"/>
                <a:ea typeface="Yu Gothic" pitchFamily="34" charset="-122"/>
                <a:cs typeface="Yu Gothic" pitchFamily="34" charset="-120"/>
              </a:rPr>
              <a:t>合理的判断（Standard Logic）</a:t>
            </a:r>
            <a:endParaRPr lang="en-US" sz="1600" dirty="0"/>
          </a:p>
        </p:txBody>
      </p:sp>
      <p:sp>
        <p:nvSpPr>
          <p:cNvPr id="6" name="Text 4"/>
          <p:cNvSpPr/>
          <p:nvPr/>
        </p:nvSpPr>
        <p:spPr>
          <a:xfrm>
            <a:off x="868680" y="2743200"/>
            <a:ext cx="4754880" cy="1280160"/>
          </a:xfrm>
          <a:prstGeom prst="rect">
            <a:avLst/>
          </a:prstGeom>
          <a:noFill/>
          <a:ln/>
        </p:spPr>
        <p:txBody>
          <a:bodyPr wrap="square" lIns="0" tIns="0" rIns="0" bIns="0" rtlCol="0" anchor="ctr"/>
          <a:lstStyle/>
          <a:p>
            <a:pPr indent="0" marL="0">
              <a:lnSpc>
                <a:spcPct val="130000"/>
              </a:lnSpc>
              <a:buNone/>
            </a:pPr>
            <a:r>
              <a:rPr lang="en-US" sz="1400" dirty="0">
                <a:solidFill>
                  <a:srgbClr val="AFC9EE"/>
                </a:solidFill>
                <a:latin typeface="Yu Gothic" pitchFamily="34" charset="0"/>
                <a:ea typeface="Yu Gothic" pitchFamily="34" charset="-122"/>
                <a:cs typeface="Yu Gothic" pitchFamily="34" charset="-120"/>
              </a:rPr>
              <a:t>損得だけで動くことを前提としたロジック。再現性は高いが、人間関係のもつれや遠慮、忖度は表現できない。</a:t>
            </a:r>
            <a:endParaRPr lang="en-US" sz="1400" dirty="0"/>
          </a:p>
        </p:txBody>
      </p:sp>
      <p:sp>
        <p:nvSpPr>
          <p:cNvPr id="7" name="Shape 5"/>
          <p:cNvSpPr/>
          <p:nvPr/>
        </p:nvSpPr>
        <p:spPr>
          <a:xfrm>
            <a:off x="6263640" y="1965960"/>
            <a:ext cx="5376672" cy="3246120"/>
          </a:xfrm>
          <a:prstGeom prst="roundRect">
            <a:avLst>
              <a:gd name="adj" fmla="val 3380"/>
            </a:avLst>
          </a:prstGeom>
          <a:solidFill>
            <a:srgbClr val="1C2C4A"/>
          </a:solidFill>
          <a:ln/>
          <a:effectLst>
            <a:outerShdw sx="100000" sy="100000" kx="0" ky="0" algn="bl" rotWithShape="0" blurRad="101600" dist="38100" dir="5400000">
              <a:srgbClr val="000000">
                <a:alpha val="35000"/>
              </a:srgbClr>
            </a:outerShdw>
          </a:effectLst>
        </p:spPr>
      </p:sp>
      <p:sp>
        <p:nvSpPr>
          <p:cNvPr id="8" name="Text 6"/>
          <p:cNvSpPr/>
          <p:nvPr/>
        </p:nvSpPr>
        <p:spPr>
          <a:xfrm>
            <a:off x="6583680" y="2240280"/>
            <a:ext cx="4754880" cy="365760"/>
          </a:xfrm>
          <a:prstGeom prst="rect">
            <a:avLst/>
          </a:prstGeom>
          <a:noFill/>
          <a:ln/>
        </p:spPr>
        <p:txBody>
          <a:bodyPr wrap="square" lIns="0" tIns="0" rIns="0" bIns="0" rtlCol="0" anchor="ctr"/>
          <a:lstStyle/>
          <a:p>
            <a:pPr indent="0" marL="0">
              <a:buNone/>
            </a:pPr>
            <a:r>
              <a:rPr lang="en-US" sz="1600" b="1" dirty="0">
                <a:solidFill>
                  <a:srgbClr val="F4C878"/>
                </a:solidFill>
                <a:latin typeface="Yu Gothic" pitchFamily="34" charset="0"/>
                <a:ea typeface="Yu Gothic" pitchFamily="34" charset="-122"/>
                <a:cs typeface="Yu Gothic" pitchFamily="34" charset="-120"/>
              </a:rPr>
              <a:t>LLMロジック（LLM Logic）</a:t>
            </a:r>
            <a:endParaRPr lang="en-US" sz="1600" dirty="0"/>
          </a:p>
        </p:txBody>
      </p:sp>
      <p:sp>
        <p:nvSpPr>
          <p:cNvPr id="9" name="Shape 7"/>
          <p:cNvSpPr/>
          <p:nvPr/>
        </p:nvSpPr>
        <p:spPr>
          <a:xfrm>
            <a:off x="6583680" y="2788920"/>
            <a:ext cx="4754880" cy="530352"/>
          </a:xfrm>
          <a:prstGeom prst="roundRect">
            <a:avLst>
              <a:gd name="adj" fmla="val 50000"/>
            </a:avLst>
          </a:prstGeom>
          <a:solidFill>
            <a:srgbClr val="0B1220"/>
          </a:solidFill>
          <a:ln w="9525">
            <a:solidFill>
              <a:srgbClr val="E8A33D"/>
            </a:solidFill>
            <a:prstDash val="solid"/>
          </a:ln>
        </p:spPr>
      </p:sp>
      <p:sp>
        <p:nvSpPr>
          <p:cNvPr id="10" name="Text 8"/>
          <p:cNvSpPr/>
          <p:nvPr/>
        </p:nvSpPr>
        <p:spPr>
          <a:xfrm>
            <a:off x="6812280" y="2788920"/>
            <a:ext cx="4297680" cy="530352"/>
          </a:xfrm>
          <a:prstGeom prst="rect">
            <a:avLst/>
          </a:prstGeom>
          <a:noFill/>
          <a:ln/>
        </p:spPr>
        <p:txBody>
          <a:bodyPr wrap="square" lIns="0" tIns="0" rIns="0" bIns="0" rtlCol="0" anchor="ctr"/>
          <a:lstStyle/>
          <a:p>
            <a:pPr indent="0" marL="0">
              <a:buNone/>
            </a:pPr>
            <a:r>
              <a:rPr lang="en-US" sz="1300" dirty="0">
                <a:solidFill>
                  <a:srgbClr val="F4C878"/>
                </a:solidFill>
                <a:latin typeface="Yu Gothic" pitchFamily="34" charset="0"/>
                <a:ea typeface="Yu Gothic" pitchFamily="34" charset="-122"/>
                <a:cs typeface="Yu Gothic" pitchFamily="34" charset="-120"/>
              </a:rPr>
              <a:t>あの人に嫌われたくない</a:t>
            </a:r>
            <a:endParaRPr lang="en-US" sz="1300" dirty="0"/>
          </a:p>
        </p:txBody>
      </p:sp>
      <p:sp>
        <p:nvSpPr>
          <p:cNvPr id="11" name="Shape 9"/>
          <p:cNvSpPr/>
          <p:nvPr/>
        </p:nvSpPr>
        <p:spPr>
          <a:xfrm>
            <a:off x="6583680" y="3410712"/>
            <a:ext cx="4754880" cy="530352"/>
          </a:xfrm>
          <a:prstGeom prst="roundRect">
            <a:avLst>
              <a:gd name="adj" fmla="val 50000"/>
            </a:avLst>
          </a:prstGeom>
          <a:solidFill>
            <a:srgbClr val="0B1220"/>
          </a:solidFill>
          <a:ln w="9525">
            <a:solidFill>
              <a:srgbClr val="E8A33D"/>
            </a:solidFill>
            <a:prstDash val="solid"/>
          </a:ln>
        </p:spPr>
      </p:sp>
      <p:sp>
        <p:nvSpPr>
          <p:cNvPr id="12" name="Text 10"/>
          <p:cNvSpPr/>
          <p:nvPr/>
        </p:nvSpPr>
        <p:spPr>
          <a:xfrm>
            <a:off x="6812280" y="3410712"/>
            <a:ext cx="4297680" cy="530352"/>
          </a:xfrm>
          <a:prstGeom prst="rect">
            <a:avLst/>
          </a:prstGeom>
          <a:noFill/>
          <a:ln/>
        </p:spPr>
        <p:txBody>
          <a:bodyPr wrap="square" lIns="0" tIns="0" rIns="0" bIns="0" rtlCol="0" anchor="ctr"/>
          <a:lstStyle/>
          <a:p>
            <a:pPr indent="0" marL="0">
              <a:buNone/>
            </a:pPr>
            <a:r>
              <a:rPr lang="en-US" sz="1300" dirty="0">
                <a:solidFill>
                  <a:srgbClr val="F4C878"/>
                </a:solidFill>
                <a:latin typeface="Yu Gothic" pitchFamily="34" charset="0"/>
                <a:ea typeface="Yu Gothic" pitchFamily="34" charset="-122"/>
                <a:cs typeface="Yu Gothic" pitchFamily="34" charset="-120"/>
              </a:rPr>
              <a:t>自分だけが迷惑をかけてはいけない</a:t>
            </a:r>
            <a:endParaRPr lang="en-US" sz="1300" dirty="0"/>
          </a:p>
        </p:txBody>
      </p:sp>
      <p:sp>
        <p:nvSpPr>
          <p:cNvPr id="13" name="Shape 11"/>
          <p:cNvSpPr/>
          <p:nvPr/>
        </p:nvSpPr>
        <p:spPr>
          <a:xfrm>
            <a:off x="6583680" y="4032504"/>
            <a:ext cx="4754880" cy="530352"/>
          </a:xfrm>
          <a:prstGeom prst="roundRect">
            <a:avLst>
              <a:gd name="adj" fmla="val 50000"/>
            </a:avLst>
          </a:prstGeom>
          <a:solidFill>
            <a:srgbClr val="0B1220"/>
          </a:solidFill>
          <a:ln w="9525">
            <a:solidFill>
              <a:srgbClr val="E8A33D"/>
            </a:solidFill>
            <a:prstDash val="solid"/>
          </a:ln>
        </p:spPr>
      </p:sp>
      <p:sp>
        <p:nvSpPr>
          <p:cNvPr id="14" name="Text 12"/>
          <p:cNvSpPr/>
          <p:nvPr/>
        </p:nvSpPr>
        <p:spPr>
          <a:xfrm>
            <a:off x="6812280" y="4032504"/>
            <a:ext cx="4297680" cy="530352"/>
          </a:xfrm>
          <a:prstGeom prst="rect">
            <a:avLst/>
          </a:prstGeom>
          <a:noFill/>
          <a:ln/>
        </p:spPr>
        <p:txBody>
          <a:bodyPr wrap="square" lIns="0" tIns="0" rIns="0" bIns="0" rtlCol="0" anchor="ctr"/>
          <a:lstStyle/>
          <a:p>
            <a:pPr indent="0" marL="0">
              <a:buNone/>
            </a:pPr>
            <a:r>
              <a:rPr lang="en-US" sz="1300" dirty="0">
                <a:solidFill>
                  <a:srgbClr val="F4C878"/>
                </a:solidFill>
                <a:latin typeface="Yu Gothic" pitchFamily="34" charset="0"/>
                <a:ea typeface="Yu Gothic" pitchFamily="34" charset="-122"/>
                <a:cs typeface="Yu Gothic" pitchFamily="34" charset="-120"/>
              </a:rPr>
              <a:t>自分が抜けたら場が壊れる気がする</a:t>
            </a:r>
            <a:endParaRPr lang="en-US" sz="1300" dirty="0"/>
          </a:p>
        </p:txBody>
      </p:sp>
      <p:sp>
        <p:nvSpPr>
          <p:cNvPr id="15" name="Shape 13"/>
          <p:cNvSpPr/>
          <p:nvPr/>
        </p:nvSpPr>
        <p:spPr>
          <a:xfrm>
            <a:off x="6583680" y="4654296"/>
            <a:ext cx="4754880" cy="530352"/>
          </a:xfrm>
          <a:prstGeom prst="roundRect">
            <a:avLst>
              <a:gd name="adj" fmla="val 50000"/>
            </a:avLst>
          </a:prstGeom>
          <a:solidFill>
            <a:srgbClr val="0B1220"/>
          </a:solidFill>
          <a:ln w="9525">
            <a:solidFill>
              <a:srgbClr val="E8A33D"/>
            </a:solidFill>
            <a:prstDash val="solid"/>
          </a:ln>
        </p:spPr>
      </p:sp>
      <p:sp>
        <p:nvSpPr>
          <p:cNvPr id="16" name="Text 14"/>
          <p:cNvSpPr/>
          <p:nvPr/>
        </p:nvSpPr>
        <p:spPr>
          <a:xfrm>
            <a:off x="6812280" y="4654296"/>
            <a:ext cx="4297680" cy="530352"/>
          </a:xfrm>
          <a:prstGeom prst="rect">
            <a:avLst/>
          </a:prstGeom>
          <a:noFill/>
          <a:ln/>
        </p:spPr>
        <p:txBody>
          <a:bodyPr wrap="square" lIns="0" tIns="0" rIns="0" bIns="0" rtlCol="0" anchor="ctr"/>
          <a:lstStyle/>
          <a:p>
            <a:pPr indent="0" marL="0">
              <a:buNone/>
            </a:pPr>
            <a:r>
              <a:rPr lang="en-US" sz="1300" dirty="0">
                <a:solidFill>
                  <a:srgbClr val="F4C878"/>
                </a:solidFill>
                <a:latin typeface="Yu Gothic" pitchFamily="34" charset="0"/>
                <a:ea typeface="Yu Gothic" pitchFamily="34" charset="-122"/>
                <a:cs typeface="Yu Gothic" pitchFamily="34" charset="-120"/>
              </a:rPr>
              <a:t>相談すると弱い人だと思われそう</a:t>
            </a:r>
            <a:endParaRPr lang="en-US" sz="1300" dirty="0"/>
          </a:p>
        </p:txBody>
      </p:sp>
      <p:sp>
        <p:nvSpPr>
          <p:cNvPr id="17" name="Shape 15"/>
          <p:cNvSpPr/>
          <p:nvPr/>
        </p:nvSpPr>
        <p:spPr>
          <a:xfrm>
            <a:off x="548640" y="5486400"/>
            <a:ext cx="11091672" cy="914400"/>
          </a:xfrm>
          <a:prstGeom prst="roundRect">
            <a:avLst>
              <a:gd name="adj" fmla="val 10000"/>
            </a:avLst>
          </a:prstGeom>
          <a:solidFill>
            <a:srgbClr val="16213A"/>
          </a:solidFill>
          <a:ln/>
          <a:effectLst>
            <a:outerShdw sx="100000" sy="100000" kx="0" ky="0" algn="bl" rotWithShape="0" blurRad="101600" dist="38100" dir="5400000">
              <a:srgbClr val="000000">
                <a:alpha val="35000"/>
              </a:srgbClr>
            </a:outerShdw>
          </a:effectLst>
        </p:spPr>
      </p:sp>
      <p:sp>
        <p:nvSpPr>
          <p:cNvPr id="18" name="Text 16"/>
          <p:cNvSpPr/>
          <p:nvPr/>
        </p:nvSpPr>
        <p:spPr>
          <a:xfrm>
            <a:off x="868680" y="5486400"/>
            <a:ext cx="10515600" cy="914400"/>
          </a:xfrm>
          <a:prstGeom prst="rect">
            <a:avLst/>
          </a:prstGeom>
          <a:noFill/>
          <a:ln/>
        </p:spPr>
        <p:txBody>
          <a:bodyPr wrap="square" lIns="0" tIns="0" rIns="0" bIns="0" rtlCol="0" anchor="ctr"/>
          <a:lstStyle/>
          <a:p>
            <a:pPr indent="0" marL="0">
              <a:buNone/>
            </a:pPr>
            <a:r>
              <a:rPr lang="en-US" sz="1400" dirty="0">
                <a:solidFill>
                  <a:srgbClr val="FFFFFF"/>
                </a:solidFill>
                <a:latin typeface="Yu Gothic" pitchFamily="34" charset="0"/>
                <a:ea typeface="Yu Gothic" pitchFamily="34" charset="-122"/>
                <a:cs typeface="Yu Gothic" pitchFamily="34" charset="-120"/>
              </a:rPr>
              <a:t>LLMを使えば、感情・誤解・無意識のルール・属人化のメカニズムといった「非合理性」を含んだシミュレーションが可能になる。</a:t>
            </a:r>
            <a:endParaRPr lang="en-US" sz="1400" dirty="0"/>
          </a:p>
        </p:txBody>
      </p:sp>
      <p:sp>
        <p:nvSpPr>
          <p:cNvPr id="19" name="Text 17"/>
          <p:cNvSpPr/>
          <p:nvPr/>
        </p:nvSpPr>
        <p:spPr>
          <a:xfrm>
            <a:off x="548640" y="6473952"/>
            <a:ext cx="4572000" cy="274320"/>
          </a:xfrm>
          <a:prstGeom prst="rect">
            <a:avLst/>
          </a:prstGeom>
          <a:noFill/>
          <a:ln/>
        </p:spPr>
        <p:txBody>
          <a:bodyPr wrap="square" lIns="0" tIns="0" rIns="0" bIns="0" rtlCol="0" anchor="ctr"/>
          <a:lstStyle/>
          <a:p>
            <a:pPr indent="0" marL="0">
              <a:buNone/>
            </a:pPr>
            <a:r>
              <a:rPr lang="en-US" sz="900" dirty="0">
                <a:solidFill>
                  <a:srgbClr val="5B6480"/>
                </a:solidFill>
                <a:latin typeface="Yu Gothic" pitchFamily="34" charset="0"/>
                <a:ea typeface="Yu Gothic" pitchFamily="34" charset="-122"/>
                <a:cs typeface="Yu Gothic" pitchFamily="34" charset="-120"/>
              </a:rPr>
              <a:t>救済者 × ガバナンス</a:t>
            </a:r>
            <a:endParaRPr lang="en-US" sz="900" dirty="0"/>
          </a:p>
        </p:txBody>
      </p:sp>
      <p:sp>
        <p:nvSpPr>
          <p:cNvPr id="20" name="Text 18"/>
          <p:cNvSpPr/>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FFFFFF"/>
                </a:solidFill>
                <a:latin typeface="Yu Gothic" pitchFamily="34" charset="0"/>
                <a:ea typeface="Yu Gothic" pitchFamily="34" charset="-122"/>
                <a:cs typeface="Yu Gothic" pitchFamily="34" charset="-120"/>
              </a:rPr>
              <a:t>実験の舞台となる4つのペルソナ</a:t>
            </a:r>
            <a:endParaRPr lang="en-US" sz="3000" dirty="0"/>
          </a:p>
        </p:txBody>
      </p:sp>
      <p:sp>
        <p:nvSpPr>
          <p:cNvPr id="3" name="Shape 1"/>
          <p:cNvSpPr/>
          <p:nvPr/>
        </p:nvSpPr>
        <p:spPr>
          <a:xfrm>
            <a:off x="540868" y="1691640"/>
            <a:ext cx="2606040" cy="3383280"/>
          </a:xfrm>
          <a:prstGeom prst="roundRect">
            <a:avLst>
              <a:gd name="adj" fmla="val 4211"/>
            </a:avLst>
          </a:prstGeom>
          <a:solidFill>
            <a:srgbClr val="16213A"/>
          </a:solidFill>
          <a:ln/>
          <a:effectLst>
            <a:outerShdw sx="100000" sy="100000" kx="0" ky="0" algn="bl" rotWithShape="0" blurRad="101600" dist="38100" dir="5400000">
              <a:srgbClr val="000000">
                <a:alpha val="35000"/>
              </a:srgbClr>
            </a:outerShdw>
          </a:effectLst>
        </p:spPr>
      </p:sp>
      <p:sp>
        <p:nvSpPr>
          <p:cNvPr id="4" name="Shape 2"/>
          <p:cNvSpPr/>
          <p:nvPr/>
        </p:nvSpPr>
        <p:spPr>
          <a:xfrm>
            <a:off x="888340" y="1513332"/>
            <a:ext cx="1911096" cy="1911096"/>
          </a:xfrm>
          <a:prstGeom prst="ellipse">
            <a:avLst/>
          </a:prstGeom>
          <a:solidFill>
            <a:srgbClr val="E8A33D">
              <a:alpha val="12000"/>
            </a:srgbClr>
          </a:solidFill>
          <a:ln/>
        </p:spPr>
      </p:sp>
      <p:sp>
        <p:nvSpPr>
          <p:cNvPr id="5" name="Shape 3"/>
          <p:cNvSpPr/>
          <p:nvPr/>
        </p:nvSpPr>
        <p:spPr>
          <a:xfrm>
            <a:off x="1148944" y="1773936"/>
            <a:ext cx="1389888" cy="1389888"/>
          </a:xfrm>
          <a:prstGeom prst="ellipse">
            <a:avLst/>
          </a:prstGeom>
          <a:solidFill>
            <a:srgbClr val="E8A33D">
              <a:alpha val="22000"/>
            </a:srgbClr>
          </a:solidFill>
          <a:ln/>
        </p:spPr>
      </p:sp>
      <p:sp>
        <p:nvSpPr>
          <p:cNvPr id="6" name="Shape 4"/>
          <p:cNvSpPr/>
          <p:nvPr/>
        </p:nvSpPr>
        <p:spPr>
          <a:xfrm>
            <a:off x="1409548" y="2034540"/>
            <a:ext cx="868680" cy="868680"/>
          </a:xfrm>
          <a:prstGeom prst="ellipse">
            <a:avLst/>
          </a:prstGeom>
          <a:solidFill>
            <a:srgbClr val="E8A33D"/>
          </a:solidFill>
          <a:ln w="9525">
            <a:solidFill>
              <a:srgbClr val="E8A33D"/>
            </a:solidFill>
            <a:prstDash val="solid"/>
          </a:ln>
        </p:spPr>
      </p:sp>
      <p:pic>
        <p:nvPicPr>
          <p:cNvPr id="7" name="Image 0" descr="preencoded.png">    </p:cNvPr>
          <p:cNvPicPr>
            <a:picLocks noChangeAspect="1"/>
          </p:cNvPicPr>
          <p:nvPr/>
        </p:nvPicPr>
        <p:blipFill>
          <a:blip r:embed="rId1"/>
          <a:stretch>
            <a:fillRect/>
          </a:stretch>
        </p:blipFill>
        <p:spPr>
          <a:xfrm>
            <a:off x="1635404" y="2260397"/>
            <a:ext cx="416966" cy="416966"/>
          </a:xfrm>
          <a:prstGeom prst="rect">
            <a:avLst/>
          </a:prstGeom>
        </p:spPr>
      </p:pic>
      <p:sp>
        <p:nvSpPr>
          <p:cNvPr id="8" name="Text 5"/>
          <p:cNvSpPr/>
          <p:nvPr/>
        </p:nvSpPr>
        <p:spPr>
          <a:xfrm>
            <a:off x="650596" y="3063240"/>
            <a:ext cx="2386584"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救済者</a:t>
            </a:r>
            <a:endParaRPr lang="en-US" sz="1500" dirty="0"/>
          </a:p>
        </p:txBody>
      </p:sp>
      <p:sp>
        <p:nvSpPr>
          <p:cNvPr id="9" name="Text 6"/>
          <p:cNvSpPr/>
          <p:nvPr/>
        </p:nvSpPr>
        <p:spPr>
          <a:xfrm>
            <a:off x="742036" y="3566160"/>
            <a:ext cx="2203704" cy="1371600"/>
          </a:xfrm>
          <a:prstGeom prst="rect">
            <a:avLst/>
          </a:prstGeom>
          <a:noFill/>
          <a:ln/>
        </p:spPr>
        <p:txBody>
          <a:bodyPr wrap="square" lIns="0" tIns="0" rIns="0" bIns="0" rtlCol="0" anchor="t"/>
          <a:lstStyle/>
          <a:p>
            <a:pPr algn="ctr" indent="0" marL="0">
              <a:lnSpc>
                <a:spcPct val="125000"/>
              </a:lnSpc>
              <a:buNone/>
            </a:pPr>
            <a:r>
              <a:rPr lang="en-US" sz="1200" dirty="0">
                <a:solidFill>
                  <a:srgbClr val="AFC9EE"/>
                </a:solidFill>
                <a:latin typeface="Yu Gothic" pitchFamily="34" charset="0"/>
                <a:ea typeface="Yu Gothic" pitchFamily="34" charset="-122"/>
                <a:cs typeface="Yu Gothic" pitchFamily="34" charset="-120"/>
              </a:rPr>
              <a:t>中心ノード。困っている人に最初に気づき、相談・調整を一手に引き受ける。</a:t>
            </a:r>
            <a:endParaRPr lang="en-US" sz="1200" dirty="0"/>
          </a:p>
        </p:txBody>
      </p:sp>
      <p:sp>
        <p:nvSpPr>
          <p:cNvPr id="10" name="Shape 7"/>
          <p:cNvSpPr/>
          <p:nvPr/>
        </p:nvSpPr>
        <p:spPr>
          <a:xfrm>
            <a:off x="3375508" y="1691640"/>
            <a:ext cx="2606040" cy="3383280"/>
          </a:xfrm>
          <a:prstGeom prst="roundRect">
            <a:avLst>
              <a:gd name="adj" fmla="val 4211"/>
            </a:avLst>
          </a:prstGeom>
          <a:solidFill>
            <a:srgbClr val="16213A"/>
          </a:solidFill>
          <a:ln/>
          <a:effectLst>
            <a:outerShdw sx="100000" sy="100000" kx="0" ky="0" algn="bl" rotWithShape="0" blurRad="101600" dist="38100" dir="5400000">
              <a:srgbClr val="000000">
                <a:alpha val="35000"/>
              </a:srgbClr>
            </a:outerShdw>
          </a:effectLst>
        </p:spPr>
      </p:sp>
      <p:sp>
        <p:nvSpPr>
          <p:cNvPr id="11" name="Shape 8"/>
          <p:cNvSpPr/>
          <p:nvPr/>
        </p:nvSpPr>
        <p:spPr>
          <a:xfrm>
            <a:off x="3722980" y="1513332"/>
            <a:ext cx="1911096" cy="1911096"/>
          </a:xfrm>
          <a:prstGeom prst="ellipse">
            <a:avLst/>
          </a:prstGeom>
          <a:solidFill>
            <a:srgbClr val="5A8FD6">
              <a:alpha val="12000"/>
            </a:srgbClr>
          </a:solidFill>
          <a:ln/>
        </p:spPr>
      </p:sp>
      <p:sp>
        <p:nvSpPr>
          <p:cNvPr id="12" name="Shape 9"/>
          <p:cNvSpPr/>
          <p:nvPr/>
        </p:nvSpPr>
        <p:spPr>
          <a:xfrm>
            <a:off x="3983584" y="1773936"/>
            <a:ext cx="1389888" cy="1389888"/>
          </a:xfrm>
          <a:prstGeom prst="ellipse">
            <a:avLst/>
          </a:prstGeom>
          <a:solidFill>
            <a:srgbClr val="5A8FD6">
              <a:alpha val="22000"/>
            </a:srgbClr>
          </a:solidFill>
          <a:ln/>
        </p:spPr>
      </p:sp>
      <p:sp>
        <p:nvSpPr>
          <p:cNvPr id="13" name="Shape 10"/>
          <p:cNvSpPr/>
          <p:nvPr/>
        </p:nvSpPr>
        <p:spPr>
          <a:xfrm>
            <a:off x="4244188" y="2034540"/>
            <a:ext cx="868680" cy="868680"/>
          </a:xfrm>
          <a:prstGeom prst="ellipse">
            <a:avLst/>
          </a:prstGeom>
          <a:solidFill>
            <a:srgbClr val="5A8FD6"/>
          </a:solidFill>
          <a:ln w="9525">
            <a:solidFill>
              <a:srgbClr val="5A8FD6"/>
            </a:solidFill>
            <a:prstDash val="solid"/>
          </a:ln>
        </p:spPr>
      </p:sp>
      <p:pic>
        <p:nvPicPr>
          <p:cNvPr id="14" name="Image 1" descr="preencoded.png">    </p:cNvPr>
          <p:cNvPicPr>
            <a:picLocks noChangeAspect="1"/>
          </p:cNvPicPr>
          <p:nvPr/>
        </p:nvPicPr>
        <p:blipFill>
          <a:blip r:embed="rId2"/>
          <a:stretch>
            <a:fillRect/>
          </a:stretch>
        </p:blipFill>
        <p:spPr>
          <a:xfrm>
            <a:off x="4470044" y="2260397"/>
            <a:ext cx="416966" cy="416966"/>
          </a:xfrm>
          <a:prstGeom prst="rect">
            <a:avLst/>
          </a:prstGeom>
        </p:spPr>
      </p:pic>
      <p:sp>
        <p:nvSpPr>
          <p:cNvPr id="15" name="Text 11"/>
          <p:cNvSpPr/>
          <p:nvPr/>
        </p:nvSpPr>
        <p:spPr>
          <a:xfrm>
            <a:off x="3485236" y="3063240"/>
            <a:ext cx="2386584"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世話好きな住民</a:t>
            </a:r>
            <a:endParaRPr lang="en-US" sz="1500" dirty="0"/>
          </a:p>
        </p:txBody>
      </p:sp>
      <p:sp>
        <p:nvSpPr>
          <p:cNvPr id="16" name="Text 12"/>
          <p:cNvSpPr/>
          <p:nvPr/>
        </p:nvSpPr>
        <p:spPr>
          <a:xfrm>
            <a:off x="3576676" y="3566160"/>
            <a:ext cx="2203704" cy="1371600"/>
          </a:xfrm>
          <a:prstGeom prst="rect">
            <a:avLst/>
          </a:prstGeom>
          <a:noFill/>
          <a:ln/>
        </p:spPr>
        <p:txBody>
          <a:bodyPr wrap="square" lIns="0" tIns="0" rIns="0" bIns="0" rtlCol="0" anchor="t"/>
          <a:lstStyle/>
          <a:p>
            <a:pPr algn="ctr" indent="0" marL="0">
              <a:lnSpc>
                <a:spcPct val="125000"/>
              </a:lnSpc>
              <a:buNone/>
            </a:pPr>
            <a:r>
              <a:rPr lang="en-US" sz="1200" dirty="0">
                <a:solidFill>
                  <a:srgbClr val="AFC9EE"/>
                </a:solidFill>
                <a:latin typeface="Yu Gothic" pitchFamily="34" charset="0"/>
                <a:ea typeface="Yu Gothic" pitchFamily="34" charset="-122"/>
                <a:cs typeface="Yu Gothic" pitchFamily="34" charset="-120"/>
              </a:rPr>
              <a:t>救済者の補佐役。救済者を助けるが、自分でも抱え込みやすい。</a:t>
            </a:r>
            <a:endParaRPr lang="en-US" sz="1200" dirty="0"/>
          </a:p>
        </p:txBody>
      </p:sp>
      <p:sp>
        <p:nvSpPr>
          <p:cNvPr id="17" name="Shape 13"/>
          <p:cNvSpPr/>
          <p:nvPr/>
        </p:nvSpPr>
        <p:spPr>
          <a:xfrm>
            <a:off x="6210148" y="1691640"/>
            <a:ext cx="2606040" cy="3383280"/>
          </a:xfrm>
          <a:prstGeom prst="roundRect">
            <a:avLst>
              <a:gd name="adj" fmla="val 4211"/>
            </a:avLst>
          </a:prstGeom>
          <a:solidFill>
            <a:srgbClr val="16213A"/>
          </a:solidFill>
          <a:ln/>
          <a:effectLst>
            <a:outerShdw sx="100000" sy="100000" kx="0" ky="0" algn="bl" rotWithShape="0" blurRad="101600" dist="38100" dir="5400000">
              <a:srgbClr val="000000">
                <a:alpha val="35000"/>
              </a:srgbClr>
            </a:outerShdw>
          </a:effectLst>
        </p:spPr>
      </p:sp>
      <p:sp>
        <p:nvSpPr>
          <p:cNvPr id="18" name="Shape 14"/>
          <p:cNvSpPr/>
          <p:nvPr/>
        </p:nvSpPr>
        <p:spPr>
          <a:xfrm>
            <a:off x="6557620" y="1513332"/>
            <a:ext cx="1911096" cy="1911096"/>
          </a:xfrm>
          <a:prstGeom prst="ellipse">
            <a:avLst/>
          </a:prstGeom>
          <a:solidFill>
            <a:srgbClr val="9AA4C0">
              <a:alpha val="12000"/>
            </a:srgbClr>
          </a:solidFill>
          <a:ln/>
        </p:spPr>
      </p:sp>
      <p:sp>
        <p:nvSpPr>
          <p:cNvPr id="19" name="Shape 15"/>
          <p:cNvSpPr/>
          <p:nvPr/>
        </p:nvSpPr>
        <p:spPr>
          <a:xfrm>
            <a:off x="6818224" y="1773936"/>
            <a:ext cx="1389888" cy="1389888"/>
          </a:xfrm>
          <a:prstGeom prst="ellipse">
            <a:avLst/>
          </a:prstGeom>
          <a:solidFill>
            <a:srgbClr val="9AA4C0">
              <a:alpha val="22000"/>
            </a:srgbClr>
          </a:solidFill>
          <a:ln/>
        </p:spPr>
      </p:sp>
      <p:sp>
        <p:nvSpPr>
          <p:cNvPr id="20" name="Shape 16"/>
          <p:cNvSpPr/>
          <p:nvPr/>
        </p:nvSpPr>
        <p:spPr>
          <a:xfrm>
            <a:off x="7078828" y="2034540"/>
            <a:ext cx="868680" cy="868680"/>
          </a:xfrm>
          <a:prstGeom prst="ellipse">
            <a:avLst/>
          </a:prstGeom>
          <a:solidFill>
            <a:srgbClr val="9AA4C0"/>
          </a:solidFill>
          <a:ln w="9525">
            <a:solidFill>
              <a:srgbClr val="9AA4C0"/>
            </a:solidFill>
            <a:prstDash val="solid"/>
          </a:ln>
        </p:spPr>
      </p:sp>
      <p:pic>
        <p:nvPicPr>
          <p:cNvPr id="21" name="Image 2" descr="preencoded.png">    </p:cNvPr>
          <p:cNvPicPr>
            <a:picLocks noChangeAspect="1"/>
          </p:cNvPicPr>
          <p:nvPr/>
        </p:nvPicPr>
        <p:blipFill>
          <a:blip r:embed="rId3"/>
          <a:stretch>
            <a:fillRect/>
          </a:stretch>
        </p:blipFill>
        <p:spPr>
          <a:xfrm>
            <a:off x="7304684" y="2260397"/>
            <a:ext cx="416966" cy="416966"/>
          </a:xfrm>
          <a:prstGeom prst="rect">
            <a:avLst/>
          </a:prstGeom>
        </p:spPr>
      </p:pic>
      <p:sp>
        <p:nvSpPr>
          <p:cNvPr id="22" name="Text 17"/>
          <p:cNvSpPr/>
          <p:nvPr/>
        </p:nvSpPr>
        <p:spPr>
          <a:xfrm>
            <a:off x="6319876" y="3063240"/>
            <a:ext cx="2386584"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声を上げにくい住民</a:t>
            </a:r>
            <a:endParaRPr lang="en-US" sz="1500" dirty="0"/>
          </a:p>
        </p:txBody>
      </p:sp>
      <p:sp>
        <p:nvSpPr>
          <p:cNvPr id="23" name="Text 18"/>
          <p:cNvSpPr/>
          <p:nvPr/>
        </p:nvSpPr>
        <p:spPr>
          <a:xfrm>
            <a:off x="6411316" y="3566160"/>
            <a:ext cx="2203704" cy="1371600"/>
          </a:xfrm>
          <a:prstGeom prst="rect">
            <a:avLst/>
          </a:prstGeom>
          <a:noFill/>
          <a:ln/>
        </p:spPr>
        <p:txBody>
          <a:bodyPr wrap="square" lIns="0" tIns="0" rIns="0" bIns="0" rtlCol="0" anchor="t"/>
          <a:lstStyle/>
          <a:p>
            <a:pPr algn="ctr" indent="0" marL="0">
              <a:lnSpc>
                <a:spcPct val="125000"/>
              </a:lnSpc>
              <a:buNone/>
            </a:pPr>
            <a:r>
              <a:rPr lang="en-US" sz="1200" dirty="0">
                <a:solidFill>
                  <a:srgbClr val="AFC9EE"/>
                </a:solidFill>
                <a:latin typeface="Yu Gothic" pitchFamily="34" charset="0"/>
                <a:ea typeface="Yu Gothic" pitchFamily="34" charset="-122"/>
                <a:cs typeface="Yu Gothic" pitchFamily="34" charset="-120"/>
              </a:rPr>
              <a:t>弱いノード。不満があっても声を上げられず、静かに孤立する。</a:t>
            </a:r>
            <a:endParaRPr lang="en-US" sz="1200" dirty="0"/>
          </a:p>
        </p:txBody>
      </p:sp>
      <p:sp>
        <p:nvSpPr>
          <p:cNvPr id="24" name="Shape 19"/>
          <p:cNvSpPr/>
          <p:nvPr/>
        </p:nvSpPr>
        <p:spPr>
          <a:xfrm>
            <a:off x="9044788" y="1691640"/>
            <a:ext cx="2606040" cy="3383280"/>
          </a:xfrm>
          <a:prstGeom prst="roundRect">
            <a:avLst>
              <a:gd name="adj" fmla="val 4211"/>
            </a:avLst>
          </a:prstGeom>
          <a:solidFill>
            <a:srgbClr val="16213A"/>
          </a:solidFill>
          <a:ln/>
          <a:effectLst>
            <a:outerShdw sx="100000" sy="100000" kx="0" ky="0" algn="bl" rotWithShape="0" blurRad="101600" dist="38100" dir="5400000">
              <a:srgbClr val="000000">
                <a:alpha val="35000"/>
              </a:srgbClr>
            </a:outerShdw>
          </a:effectLst>
        </p:spPr>
      </p:sp>
      <p:sp>
        <p:nvSpPr>
          <p:cNvPr id="25" name="Shape 20"/>
          <p:cNvSpPr/>
          <p:nvPr/>
        </p:nvSpPr>
        <p:spPr>
          <a:xfrm>
            <a:off x="9392260" y="1513332"/>
            <a:ext cx="1911096" cy="1911096"/>
          </a:xfrm>
          <a:prstGeom prst="ellipse">
            <a:avLst/>
          </a:prstGeom>
          <a:solidFill>
            <a:srgbClr val="AFC9EE">
              <a:alpha val="12000"/>
            </a:srgbClr>
          </a:solidFill>
          <a:ln/>
        </p:spPr>
      </p:sp>
      <p:sp>
        <p:nvSpPr>
          <p:cNvPr id="26" name="Shape 21"/>
          <p:cNvSpPr/>
          <p:nvPr/>
        </p:nvSpPr>
        <p:spPr>
          <a:xfrm>
            <a:off x="9652864" y="1773936"/>
            <a:ext cx="1389888" cy="1389888"/>
          </a:xfrm>
          <a:prstGeom prst="ellipse">
            <a:avLst/>
          </a:prstGeom>
          <a:solidFill>
            <a:srgbClr val="AFC9EE">
              <a:alpha val="22000"/>
            </a:srgbClr>
          </a:solidFill>
          <a:ln/>
        </p:spPr>
      </p:sp>
      <p:sp>
        <p:nvSpPr>
          <p:cNvPr id="27" name="Shape 22"/>
          <p:cNvSpPr/>
          <p:nvPr/>
        </p:nvSpPr>
        <p:spPr>
          <a:xfrm>
            <a:off x="9913468" y="2034540"/>
            <a:ext cx="868680" cy="868680"/>
          </a:xfrm>
          <a:prstGeom prst="ellipse">
            <a:avLst/>
          </a:prstGeom>
          <a:solidFill>
            <a:srgbClr val="AFC9EE"/>
          </a:solidFill>
          <a:ln w="9525">
            <a:solidFill>
              <a:srgbClr val="AFC9EE"/>
            </a:solidFill>
            <a:prstDash val="solid"/>
          </a:ln>
        </p:spPr>
      </p:sp>
      <p:pic>
        <p:nvPicPr>
          <p:cNvPr id="28" name="Image 3" descr="preencoded.png">    </p:cNvPr>
          <p:cNvPicPr>
            <a:picLocks noChangeAspect="1"/>
          </p:cNvPicPr>
          <p:nvPr/>
        </p:nvPicPr>
        <p:blipFill>
          <a:blip r:embed="rId4"/>
          <a:stretch>
            <a:fillRect/>
          </a:stretch>
        </p:blipFill>
        <p:spPr>
          <a:xfrm>
            <a:off x="10139324" y="2260397"/>
            <a:ext cx="416966" cy="416966"/>
          </a:xfrm>
          <a:prstGeom prst="rect">
            <a:avLst/>
          </a:prstGeom>
        </p:spPr>
      </p:pic>
      <p:sp>
        <p:nvSpPr>
          <p:cNvPr id="29" name="Text 23"/>
          <p:cNvSpPr/>
          <p:nvPr/>
        </p:nvSpPr>
        <p:spPr>
          <a:xfrm>
            <a:off x="9154516" y="3063240"/>
            <a:ext cx="2386584"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村長・管理者</a:t>
            </a:r>
            <a:endParaRPr lang="en-US" sz="1500" dirty="0"/>
          </a:p>
        </p:txBody>
      </p:sp>
      <p:sp>
        <p:nvSpPr>
          <p:cNvPr id="30" name="Text 24"/>
          <p:cNvSpPr/>
          <p:nvPr/>
        </p:nvSpPr>
        <p:spPr>
          <a:xfrm>
            <a:off x="9245956" y="3566160"/>
            <a:ext cx="2203704" cy="1371600"/>
          </a:xfrm>
          <a:prstGeom prst="rect">
            <a:avLst/>
          </a:prstGeom>
          <a:noFill/>
          <a:ln/>
        </p:spPr>
        <p:txBody>
          <a:bodyPr wrap="square" lIns="0" tIns="0" rIns="0" bIns="0" rtlCol="0" anchor="t"/>
          <a:lstStyle/>
          <a:p>
            <a:pPr algn="ctr" indent="0" marL="0">
              <a:lnSpc>
                <a:spcPct val="125000"/>
              </a:lnSpc>
              <a:buNone/>
            </a:pPr>
            <a:r>
              <a:rPr lang="en-US" sz="1200" dirty="0">
                <a:solidFill>
                  <a:srgbClr val="AFC9EE"/>
                </a:solidFill>
                <a:latin typeface="Yu Gothic" pitchFamily="34" charset="0"/>
                <a:ea typeface="Yu Gothic" pitchFamily="34" charset="-122"/>
                <a:cs typeface="Yu Gothic" pitchFamily="34" charset="-120"/>
              </a:rPr>
              <a:t>権限ノード。権限はあるが、現場の文脈からは孤立している。</a:t>
            </a:r>
            <a:endParaRPr lang="en-US" sz="1200" dirty="0"/>
          </a:p>
        </p:txBody>
      </p:sp>
      <p:sp>
        <p:nvSpPr>
          <p:cNvPr id="31" name="Text 25"/>
          <p:cNvSpPr/>
          <p:nvPr/>
        </p:nvSpPr>
        <p:spPr>
          <a:xfrm>
            <a:off x="548640" y="5532120"/>
            <a:ext cx="11091672" cy="457200"/>
          </a:xfrm>
          <a:prstGeom prst="rect">
            <a:avLst/>
          </a:prstGeom>
          <a:noFill/>
          <a:ln/>
        </p:spPr>
        <p:txBody>
          <a:bodyPr wrap="square" lIns="0" tIns="0" rIns="0" bIns="0" rtlCol="0" anchor="ctr"/>
          <a:lstStyle/>
          <a:p>
            <a:pPr algn="ctr" indent="0" marL="0">
              <a:buNone/>
            </a:pPr>
            <a:r>
              <a:rPr lang="en-US" sz="1200" i="1" dirty="0">
                <a:solidFill>
                  <a:srgbClr val="9AA4C0"/>
                </a:solidFill>
                <a:latin typeface="Yu Gothic" pitchFamily="34" charset="0"/>
                <a:ea typeface="Yu Gothic" pitchFamily="34" charset="-122"/>
                <a:cs typeface="Yu Gothic" pitchFamily="34" charset="-120"/>
              </a:rPr>
              <a:t>企画段階では7ペルソナを構想したが、実装では時間の制約からこの4体に絞った。</a:t>
            </a:r>
            <a:endParaRPr lang="en-US" sz="1200" dirty="0"/>
          </a:p>
        </p:txBody>
      </p:sp>
      <p:sp>
        <p:nvSpPr>
          <p:cNvPr id="32" name="Text 26"/>
          <p:cNvSpPr/>
          <p:nvPr/>
        </p:nvSpPr>
        <p:spPr>
          <a:xfrm>
            <a:off x="548640" y="6473952"/>
            <a:ext cx="4572000" cy="274320"/>
          </a:xfrm>
          <a:prstGeom prst="rect">
            <a:avLst/>
          </a:prstGeom>
          <a:noFill/>
          <a:ln/>
        </p:spPr>
        <p:txBody>
          <a:bodyPr wrap="square" lIns="0" tIns="0" rIns="0" bIns="0" rtlCol="0" anchor="ctr"/>
          <a:lstStyle/>
          <a:p>
            <a:pPr indent="0" marL="0">
              <a:buNone/>
            </a:pPr>
            <a:r>
              <a:rPr lang="en-US" sz="900" dirty="0">
                <a:solidFill>
                  <a:srgbClr val="5B6480"/>
                </a:solidFill>
                <a:latin typeface="Yu Gothic" pitchFamily="34" charset="0"/>
                <a:ea typeface="Yu Gothic" pitchFamily="34" charset="-122"/>
                <a:cs typeface="Yu Gothic" pitchFamily="34" charset="-120"/>
              </a:rPr>
              <a:t>救済者 × ガバナンス</a:t>
            </a:r>
            <a:endParaRPr lang="en-US" sz="900" dirty="0"/>
          </a:p>
        </p:txBody>
      </p:sp>
      <p:sp>
        <p:nvSpPr>
          <p:cNvPr id="33" name="Text 27"/>
          <p:cNvSpPr/>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FFFFFF"/>
                </a:solidFill>
                <a:latin typeface="Yu Gothic" pitchFamily="34" charset="0"/>
                <a:ea typeface="Yu Gothic" pitchFamily="34" charset="-122"/>
                <a:cs typeface="Yu Gothic" pitchFamily="34" charset="-120"/>
              </a:rPr>
              <a:t>3つのフェーズで進行する物語</a:t>
            </a:r>
            <a:endParaRPr lang="en-US" sz="3000" dirty="0"/>
          </a:p>
        </p:txBody>
      </p:sp>
      <p:sp>
        <p:nvSpPr>
          <p:cNvPr id="3" name="Shape 1"/>
          <p:cNvSpPr/>
          <p:nvPr/>
        </p:nvSpPr>
        <p:spPr>
          <a:xfrm>
            <a:off x="723748" y="1828800"/>
            <a:ext cx="3246120" cy="2880360"/>
          </a:xfrm>
          <a:prstGeom prst="roundRect">
            <a:avLst>
              <a:gd name="adj" fmla="val 3810"/>
            </a:avLst>
          </a:prstGeom>
          <a:solidFill>
            <a:srgbClr val="16213A"/>
          </a:solidFill>
          <a:ln/>
          <a:effectLst>
            <a:outerShdw sx="100000" sy="100000" kx="0" ky="0" algn="bl" rotWithShape="0" blurRad="101600" dist="38100" dir="5400000">
              <a:srgbClr val="000000">
                <a:alpha val="35000"/>
              </a:srgbClr>
            </a:outerShdw>
          </a:effectLst>
        </p:spPr>
      </p:sp>
      <p:sp>
        <p:nvSpPr>
          <p:cNvPr id="4" name="Shape 2"/>
          <p:cNvSpPr/>
          <p:nvPr/>
        </p:nvSpPr>
        <p:spPr>
          <a:xfrm>
            <a:off x="1491844" y="1705356"/>
            <a:ext cx="1709928" cy="1709928"/>
          </a:xfrm>
          <a:prstGeom prst="ellipse">
            <a:avLst/>
          </a:prstGeom>
          <a:solidFill>
            <a:srgbClr val="5A8FD6">
              <a:alpha val="12000"/>
            </a:srgbClr>
          </a:solidFill>
          <a:ln/>
        </p:spPr>
      </p:sp>
      <p:sp>
        <p:nvSpPr>
          <p:cNvPr id="5" name="Shape 3"/>
          <p:cNvSpPr/>
          <p:nvPr/>
        </p:nvSpPr>
        <p:spPr>
          <a:xfrm>
            <a:off x="1725016" y="1938528"/>
            <a:ext cx="1243584" cy="1243584"/>
          </a:xfrm>
          <a:prstGeom prst="ellipse">
            <a:avLst/>
          </a:prstGeom>
          <a:solidFill>
            <a:srgbClr val="5A8FD6">
              <a:alpha val="22000"/>
            </a:srgbClr>
          </a:solidFill>
          <a:ln/>
        </p:spPr>
      </p:sp>
      <p:sp>
        <p:nvSpPr>
          <p:cNvPr id="6" name="Shape 4"/>
          <p:cNvSpPr/>
          <p:nvPr/>
        </p:nvSpPr>
        <p:spPr>
          <a:xfrm>
            <a:off x="1958188" y="2171700"/>
            <a:ext cx="777240" cy="777240"/>
          </a:xfrm>
          <a:prstGeom prst="ellipse">
            <a:avLst/>
          </a:prstGeom>
          <a:solidFill>
            <a:srgbClr val="5A8FD6"/>
          </a:solidFill>
          <a:ln w="9525">
            <a:solidFill>
              <a:srgbClr val="5A8FD6"/>
            </a:solidFill>
            <a:prstDash val="solid"/>
          </a:ln>
        </p:spPr>
      </p:sp>
      <p:pic>
        <p:nvPicPr>
          <p:cNvPr id="7" name="Image 0" descr="preencoded.png">    </p:cNvPr>
          <p:cNvPicPr>
            <a:picLocks noChangeAspect="1"/>
          </p:cNvPicPr>
          <p:nvPr/>
        </p:nvPicPr>
        <p:blipFill>
          <a:blip r:embed="rId1"/>
          <a:stretch>
            <a:fillRect/>
          </a:stretch>
        </p:blipFill>
        <p:spPr>
          <a:xfrm>
            <a:off x="2160270" y="2373782"/>
            <a:ext cx="373075" cy="373075"/>
          </a:xfrm>
          <a:prstGeom prst="rect">
            <a:avLst/>
          </a:prstGeom>
        </p:spPr>
      </p:pic>
      <p:sp>
        <p:nvSpPr>
          <p:cNvPr id="8" name="Text 5"/>
          <p:cNvSpPr/>
          <p:nvPr/>
        </p:nvSpPr>
        <p:spPr>
          <a:xfrm>
            <a:off x="860908" y="3108960"/>
            <a:ext cx="297180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フェーズ1：平常運転</a:t>
            </a:r>
            <a:endParaRPr lang="en-US" sz="1500" dirty="0"/>
          </a:p>
        </p:txBody>
      </p:sp>
      <p:sp>
        <p:nvSpPr>
          <p:cNvPr id="9" name="Text 6"/>
          <p:cNvSpPr/>
          <p:nvPr/>
        </p:nvSpPr>
        <p:spPr>
          <a:xfrm>
            <a:off x="952348" y="3566160"/>
            <a:ext cx="2788920" cy="1051560"/>
          </a:xfrm>
          <a:prstGeom prst="rect">
            <a:avLst/>
          </a:prstGeom>
          <a:noFill/>
          <a:ln/>
        </p:spPr>
        <p:txBody>
          <a:bodyPr wrap="square" lIns="0" tIns="0" rIns="0" bIns="0" rtlCol="0" anchor="ctr"/>
          <a:lstStyle/>
          <a:p>
            <a:pPr algn="ctr" indent="0" marL="0">
              <a:lnSpc>
                <a:spcPct val="130000"/>
              </a:lnSpc>
              <a:buNone/>
            </a:pPr>
            <a:r>
              <a:rPr lang="en-US" sz="1250" dirty="0">
                <a:solidFill>
                  <a:srgbClr val="AFC9EE"/>
                </a:solidFill>
                <a:latin typeface="Yu Gothic" pitchFamily="34" charset="0"/>
                <a:ea typeface="Yu Gothic" pitchFamily="34" charset="-122"/>
                <a:cs typeface="Yu Gothic" pitchFamily="34" charset="-120"/>
              </a:rPr>
              <a:t>村の日常のやり取り（世間話・ちょっとした相談・報告など）</a:t>
            </a:r>
            <a:endParaRPr lang="en-US" sz="1250" dirty="0"/>
          </a:p>
        </p:txBody>
      </p:sp>
      <p:sp>
        <p:nvSpPr>
          <p:cNvPr id="10" name="Text 7"/>
          <p:cNvSpPr/>
          <p:nvPr/>
        </p:nvSpPr>
        <p:spPr>
          <a:xfrm>
            <a:off x="3969868" y="2994660"/>
            <a:ext cx="502920" cy="548640"/>
          </a:xfrm>
          <a:prstGeom prst="rect">
            <a:avLst/>
          </a:prstGeom>
          <a:noFill/>
          <a:ln/>
        </p:spPr>
        <p:txBody>
          <a:bodyPr wrap="square" lIns="0" tIns="0" rIns="0" bIns="0" rtlCol="0" anchor="ctr"/>
          <a:lstStyle/>
          <a:p>
            <a:pPr algn="ctr" indent="0" marL="0">
              <a:buNone/>
            </a:pPr>
            <a:r>
              <a:rPr lang="en-US" sz="2600" dirty="0">
                <a:solidFill>
                  <a:srgbClr val="9AA4C0"/>
                </a:solidFill>
                <a:latin typeface="Yu Gothic" pitchFamily="34" charset="0"/>
                <a:ea typeface="Yu Gothic" pitchFamily="34" charset="-122"/>
                <a:cs typeface="Yu Gothic" pitchFamily="34" charset="-120"/>
              </a:rPr>
              <a:t>→</a:t>
            </a:r>
            <a:endParaRPr lang="en-US" sz="2600" dirty="0"/>
          </a:p>
        </p:txBody>
      </p:sp>
      <p:sp>
        <p:nvSpPr>
          <p:cNvPr id="11" name="Shape 8"/>
          <p:cNvSpPr/>
          <p:nvPr/>
        </p:nvSpPr>
        <p:spPr>
          <a:xfrm>
            <a:off x="4472788" y="1828800"/>
            <a:ext cx="3246120" cy="2880360"/>
          </a:xfrm>
          <a:prstGeom prst="roundRect">
            <a:avLst>
              <a:gd name="adj" fmla="val 3810"/>
            </a:avLst>
          </a:prstGeom>
          <a:solidFill>
            <a:srgbClr val="16213A"/>
          </a:solidFill>
          <a:ln/>
          <a:effectLst>
            <a:outerShdw sx="100000" sy="100000" kx="0" ky="0" algn="bl" rotWithShape="0" blurRad="101600" dist="38100" dir="5400000">
              <a:srgbClr val="000000">
                <a:alpha val="35000"/>
              </a:srgbClr>
            </a:outerShdw>
          </a:effectLst>
        </p:spPr>
      </p:sp>
      <p:sp>
        <p:nvSpPr>
          <p:cNvPr id="12" name="Shape 9"/>
          <p:cNvSpPr/>
          <p:nvPr/>
        </p:nvSpPr>
        <p:spPr>
          <a:xfrm>
            <a:off x="5240884" y="1705356"/>
            <a:ext cx="1709928" cy="1709928"/>
          </a:xfrm>
          <a:prstGeom prst="ellipse">
            <a:avLst/>
          </a:prstGeom>
          <a:solidFill>
            <a:srgbClr val="E8A33D">
              <a:alpha val="12000"/>
            </a:srgbClr>
          </a:solidFill>
          <a:ln/>
        </p:spPr>
      </p:sp>
      <p:sp>
        <p:nvSpPr>
          <p:cNvPr id="13" name="Shape 10"/>
          <p:cNvSpPr/>
          <p:nvPr/>
        </p:nvSpPr>
        <p:spPr>
          <a:xfrm>
            <a:off x="5474056" y="1938528"/>
            <a:ext cx="1243584" cy="1243584"/>
          </a:xfrm>
          <a:prstGeom prst="ellipse">
            <a:avLst/>
          </a:prstGeom>
          <a:solidFill>
            <a:srgbClr val="E8A33D">
              <a:alpha val="22000"/>
            </a:srgbClr>
          </a:solidFill>
          <a:ln/>
        </p:spPr>
      </p:sp>
      <p:sp>
        <p:nvSpPr>
          <p:cNvPr id="14" name="Shape 11"/>
          <p:cNvSpPr/>
          <p:nvPr/>
        </p:nvSpPr>
        <p:spPr>
          <a:xfrm>
            <a:off x="5707228" y="2171700"/>
            <a:ext cx="777240" cy="777240"/>
          </a:xfrm>
          <a:prstGeom prst="ellipse">
            <a:avLst/>
          </a:prstGeom>
          <a:solidFill>
            <a:srgbClr val="E8A33D"/>
          </a:solidFill>
          <a:ln w="9525">
            <a:solidFill>
              <a:srgbClr val="E8A33D"/>
            </a:solidFill>
            <a:prstDash val="solid"/>
          </a:ln>
        </p:spPr>
      </p:sp>
      <p:pic>
        <p:nvPicPr>
          <p:cNvPr id="15" name="Image 1" descr="preencoded.png">    </p:cNvPr>
          <p:cNvPicPr>
            <a:picLocks noChangeAspect="1"/>
          </p:cNvPicPr>
          <p:nvPr/>
        </p:nvPicPr>
        <p:blipFill>
          <a:blip r:embed="rId2"/>
          <a:stretch>
            <a:fillRect/>
          </a:stretch>
        </p:blipFill>
        <p:spPr>
          <a:xfrm>
            <a:off x="5909310" y="2373782"/>
            <a:ext cx="373075" cy="373075"/>
          </a:xfrm>
          <a:prstGeom prst="rect">
            <a:avLst/>
          </a:prstGeom>
        </p:spPr>
      </p:pic>
      <p:sp>
        <p:nvSpPr>
          <p:cNvPr id="16" name="Text 12"/>
          <p:cNvSpPr/>
          <p:nvPr/>
        </p:nvSpPr>
        <p:spPr>
          <a:xfrm>
            <a:off x="4609948" y="3108960"/>
            <a:ext cx="297180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フェーズ2：摩擦</a:t>
            </a:r>
            <a:endParaRPr lang="en-US" sz="1500" dirty="0"/>
          </a:p>
        </p:txBody>
      </p:sp>
      <p:sp>
        <p:nvSpPr>
          <p:cNvPr id="17" name="Text 13"/>
          <p:cNvSpPr/>
          <p:nvPr/>
        </p:nvSpPr>
        <p:spPr>
          <a:xfrm>
            <a:off x="4701388" y="3566160"/>
            <a:ext cx="2788920" cy="1051560"/>
          </a:xfrm>
          <a:prstGeom prst="rect">
            <a:avLst/>
          </a:prstGeom>
          <a:noFill/>
          <a:ln/>
        </p:spPr>
        <p:txBody>
          <a:bodyPr wrap="square" lIns="0" tIns="0" rIns="0" bIns="0" rtlCol="0" anchor="ctr"/>
          <a:lstStyle/>
          <a:p>
            <a:pPr algn="ctr" indent="0" marL="0">
              <a:lnSpc>
                <a:spcPct val="130000"/>
              </a:lnSpc>
              <a:buNone/>
            </a:pPr>
            <a:r>
              <a:rPr lang="en-US" sz="1250" dirty="0">
                <a:solidFill>
                  <a:srgbClr val="AFC9EE"/>
                </a:solidFill>
                <a:latin typeface="Yu Gothic" pitchFamily="34" charset="0"/>
                <a:ea typeface="Yu Gothic" pitchFamily="34" charset="-122"/>
                <a:cs typeface="Yu Gothic" pitchFamily="34" charset="-120"/>
              </a:rPr>
              <a:t>新しい住民の増加で役割が曖昧になり、小さな不満が蓄積し始める</a:t>
            </a:r>
            <a:endParaRPr lang="en-US" sz="1250" dirty="0"/>
          </a:p>
        </p:txBody>
      </p:sp>
      <p:sp>
        <p:nvSpPr>
          <p:cNvPr id="18" name="Text 14"/>
          <p:cNvSpPr/>
          <p:nvPr/>
        </p:nvSpPr>
        <p:spPr>
          <a:xfrm>
            <a:off x="7718908" y="2994660"/>
            <a:ext cx="502920" cy="548640"/>
          </a:xfrm>
          <a:prstGeom prst="rect">
            <a:avLst/>
          </a:prstGeom>
          <a:noFill/>
          <a:ln/>
        </p:spPr>
        <p:txBody>
          <a:bodyPr wrap="square" lIns="0" tIns="0" rIns="0" bIns="0" rtlCol="0" anchor="ctr"/>
          <a:lstStyle/>
          <a:p>
            <a:pPr algn="ctr" indent="0" marL="0">
              <a:buNone/>
            </a:pPr>
            <a:r>
              <a:rPr lang="en-US" sz="2600" dirty="0">
                <a:solidFill>
                  <a:srgbClr val="9AA4C0"/>
                </a:solidFill>
                <a:latin typeface="Yu Gothic" pitchFamily="34" charset="0"/>
                <a:ea typeface="Yu Gothic" pitchFamily="34" charset="-122"/>
                <a:cs typeface="Yu Gothic" pitchFamily="34" charset="-120"/>
              </a:rPr>
              <a:t>→</a:t>
            </a:r>
            <a:endParaRPr lang="en-US" sz="2600" dirty="0"/>
          </a:p>
        </p:txBody>
      </p:sp>
      <p:sp>
        <p:nvSpPr>
          <p:cNvPr id="19" name="Shape 15"/>
          <p:cNvSpPr/>
          <p:nvPr/>
        </p:nvSpPr>
        <p:spPr>
          <a:xfrm>
            <a:off x="8221828" y="1828800"/>
            <a:ext cx="3246120" cy="2880360"/>
          </a:xfrm>
          <a:prstGeom prst="roundRect">
            <a:avLst>
              <a:gd name="adj" fmla="val 3810"/>
            </a:avLst>
          </a:prstGeom>
          <a:solidFill>
            <a:srgbClr val="16213A"/>
          </a:solidFill>
          <a:ln/>
          <a:effectLst>
            <a:outerShdw sx="100000" sy="100000" kx="0" ky="0" algn="bl" rotWithShape="0" blurRad="101600" dist="38100" dir="5400000">
              <a:srgbClr val="000000">
                <a:alpha val="35000"/>
              </a:srgbClr>
            </a:outerShdw>
          </a:effectLst>
        </p:spPr>
      </p:sp>
      <p:sp>
        <p:nvSpPr>
          <p:cNvPr id="20" name="Shape 16"/>
          <p:cNvSpPr/>
          <p:nvPr/>
        </p:nvSpPr>
        <p:spPr>
          <a:xfrm>
            <a:off x="8989924" y="1705356"/>
            <a:ext cx="1709928" cy="1709928"/>
          </a:xfrm>
          <a:prstGeom prst="ellipse">
            <a:avLst/>
          </a:prstGeom>
          <a:solidFill>
            <a:srgbClr val="E2665A">
              <a:alpha val="12000"/>
            </a:srgbClr>
          </a:solidFill>
          <a:ln/>
        </p:spPr>
      </p:sp>
      <p:sp>
        <p:nvSpPr>
          <p:cNvPr id="21" name="Shape 17"/>
          <p:cNvSpPr/>
          <p:nvPr/>
        </p:nvSpPr>
        <p:spPr>
          <a:xfrm>
            <a:off x="9223096" y="1938528"/>
            <a:ext cx="1243584" cy="1243584"/>
          </a:xfrm>
          <a:prstGeom prst="ellipse">
            <a:avLst/>
          </a:prstGeom>
          <a:solidFill>
            <a:srgbClr val="E2665A">
              <a:alpha val="22000"/>
            </a:srgbClr>
          </a:solidFill>
          <a:ln/>
        </p:spPr>
      </p:sp>
      <p:sp>
        <p:nvSpPr>
          <p:cNvPr id="22" name="Shape 18"/>
          <p:cNvSpPr/>
          <p:nvPr/>
        </p:nvSpPr>
        <p:spPr>
          <a:xfrm>
            <a:off x="9456268" y="2171700"/>
            <a:ext cx="777240" cy="777240"/>
          </a:xfrm>
          <a:prstGeom prst="ellipse">
            <a:avLst/>
          </a:prstGeom>
          <a:solidFill>
            <a:srgbClr val="E2665A"/>
          </a:solidFill>
          <a:ln w="9525">
            <a:solidFill>
              <a:srgbClr val="E2665A"/>
            </a:solidFill>
            <a:prstDash val="solid"/>
          </a:ln>
        </p:spPr>
      </p:sp>
      <p:pic>
        <p:nvPicPr>
          <p:cNvPr id="23" name="Image 2" descr="preencoded.png">    </p:cNvPr>
          <p:cNvPicPr>
            <a:picLocks noChangeAspect="1"/>
          </p:cNvPicPr>
          <p:nvPr/>
        </p:nvPicPr>
        <p:blipFill>
          <a:blip r:embed="rId3"/>
          <a:stretch>
            <a:fillRect/>
          </a:stretch>
        </p:blipFill>
        <p:spPr>
          <a:xfrm>
            <a:off x="9658350" y="2373782"/>
            <a:ext cx="373075" cy="373075"/>
          </a:xfrm>
          <a:prstGeom prst="rect">
            <a:avLst/>
          </a:prstGeom>
        </p:spPr>
      </p:pic>
      <p:sp>
        <p:nvSpPr>
          <p:cNvPr id="24" name="Text 19"/>
          <p:cNvSpPr/>
          <p:nvPr/>
        </p:nvSpPr>
        <p:spPr>
          <a:xfrm>
            <a:off x="8358988" y="3108960"/>
            <a:ext cx="297180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フェーズ3：危機</a:t>
            </a:r>
            <a:endParaRPr lang="en-US" sz="1500" dirty="0"/>
          </a:p>
        </p:txBody>
      </p:sp>
      <p:sp>
        <p:nvSpPr>
          <p:cNvPr id="25" name="Text 20"/>
          <p:cNvSpPr/>
          <p:nvPr/>
        </p:nvSpPr>
        <p:spPr>
          <a:xfrm>
            <a:off x="8450428" y="3566160"/>
            <a:ext cx="2788920" cy="1051560"/>
          </a:xfrm>
          <a:prstGeom prst="rect">
            <a:avLst/>
          </a:prstGeom>
          <a:noFill/>
          <a:ln/>
        </p:spPr>
        <p:txBody>
          <a:bodyPr wrap="square" lIns="0" tIns="0" rIns="0" bIns="0" rtlCol="0" anchor="ctr"/>
          <a:lstStyle/>
          <a:p>
            <a:pPr algn="ctr" indent="0" marL="0">
              <a:lnSpc>
                <a:spcPct val="130000"/>
              </a:lnSpc>
              <a:buNone/>
            </a:pPr>
            <a:r>
              <a:rPr lang="en-US" sz="1250" dirty="0">
                <a:solidFill>
                  <a:srgbClr val="AFC9EE"/>
                </a:solidFill>
                <a:latin typeface="Yu Gothic" pitchFamily="34" charset="0"/>
                <a:ea typeface="Yu Gothic" pitchFamily="34" charset="-122"/>
                <a:cs typeface="Yu Gothic" pitchFamily="34" charset="-120"/>
              </a:rPr>
              <a:t>条件Aは平常運転が継続（対照群）。条件B・Cは救済者が突然不在になる</a:t>
            </a:r>
            <a:endParaRPr lang="en-US" sz="1250" dirty="0"/>
          </a:p>
        </p:txBody>
      </p:sp>
      <p:sp>
        <p:nvSpPr>
          <p:cNvPr id="26" name="Shape 21"/>
          <p:cNvSpPr/>
          <p:nvPr/>
        </p:nvSpPr>
        <p:spPr>
          <a:xfrm>
            <a:off x="548640" y="5212080"/>
            <a:ext cx="11091672" cy="960120"/>
          </a:xfrm>
          <a:prstGeom prst="roundRect">
            <a:avLst>
              <a:gd name="adj" fmla="val 9524"/>
            </a:avLst>
          </a:prstGeom>
          <a:solidFill>
            <a:srgbClr val="1C2C4A"/>
          </a:solidFill>
          <a:ln/>
          <a:effectLst>
            <a:outerShdw sx="100000" sy="100000" kx="0" ky="0" algn="bl" rotWithShape="0" blurRad="101600" dist="38100" dir="5400000">
              <a:srgbClr val="000000">
                <a:alpha val="35000"/>
              </a:srgbClr>
            </a:outerShdw>
          </a:effectLst>
        </p:spPr>
      </p:sp>
      <p:sp>
        <p:nvSpPr>
          <p:cNvPr id="27" name="Text 22"/>
          <p:cNvSpPr/>
          <p:nvPr/>
        </p:nvSpPr>
        <p:spPr>
          <a:xfrm>
            <a:off x="868680" y="5212080"/>
            <a:ext cx="10515600" cy="960120"/>
          </a:xfrm>
          <a:prstGeom prst="rect">
            <a:avLst/>
          </a:prstGeom>
          <a:noFill/>
          <a:ln/>
        </p:spPr>
        <p:txBody>
          <a:bodyPr wrap="square" lIns="0" tIns="0" rIns="0" bIns="0" rtlCol="0" anchor="ctr"/>
          <a:lstStyle/>
          <a:p>
            <a:pPr indent="0" marL="0">
              <a:buNone/>
            </a:pPr>
            <a:r>
              <a:rPr lang="en-US" sz="1400" dirty="0">
                <a:solidFill>
                  <a:srgbClr val="AFC9EE"/>
                </a:solidFill>
                <a:latin typeface="Yu Gothic" pitchFamily="34" charset="0"/>
                <a:ea typeface="Yu Gothic" pitchFamily="34" charset="-122"/>
                <a:cs typeface="Yu Gothic" pitchFamily="34" charset="-120"/>
              </a:rPr>
              <a:t>全く同じ危機イベント（救済者の不在）を、異なるガバナンス条件で発生させ、村の「回復のしかた」を比較する。</a:t>
            </a:r>
            <a:endParaRPr lang="en-US" sz="1400" dirty="0"/>
          </a:p>
        </p:txBody>
      </p:sp>
      <p:sp>
        <p:nvSpPr>
          <p:cNvPr id="28" name="Text 23"/>
          <p:cNvSpPr/>
          <p:nvPr/>
        </p:nvSpPr>
        <p:spPr>
          <a:xfrm>
            <a:off x="548640" y="6473952"/>
            <a:ext cx="4572000" cy="274320"/>
          </a:xfrm>
          <a:prstGeom prst="rect">
            <a:avLst/>
          </a:prstGeom>
          <a:noFill/>
          <a:ln/>
        </p:spPr>
        <p:txBody>
          <a:bodyPr wrap="square" lIns="0" tIns="0" rIns="0" bIns="0" rtlCol="0" anchor="ctr"/>
          <a:lstStyle/>
          <a:p>
            <a:pPr indent="0" marL="0">
              <a:buNone/>
            </a:pPr>
            <a:r>
              <a:rPr lang="en-US" sz="900" dirty="0">
                <a:solidFill>
                  <a:srgbClr val="5B6480"/>
                </a:solidFill>
                <a:latin typeface="Yu Gothic" pitchFamily="34" charset="0"/>
                <a:ea typeface="Yu Gothic" pitchFamily="34" charset="-122"/>
                <a:cs typeface="Yu Gothic" pitchFamily="34" charset="-120"/>
              </a:rPr>
              <a:t>救済者 × ガバナンス</a:t>
            </a:r>
            <a:endParaRPr lang="en-US" sz="900" dirty="0"/>
          </a:p>
        </p:txBody>
      </p:sp>
      <p:sp>
        <p:nvSpPr>
          <p:cNvPr id="29" name="Text 24"/>
          <p:cNvSpPr/>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FFFFFF"/>
                </a:solidFill>
                <a:latin typeface="Yu Gothic" pitchFamily="34" charset="0"/>
                <a:ea typeface="Yu Gothic" pitchFamily="34" charset="-122"/>
                <a:cs typeface="Yu Gothic" pitchFamily="34" charset="-120"/>
              </a:rPr>
              <a:t>ガバナンス・マトリクス：3つの実験条件</a:t>
            </a:r>
            <a:endParaRPr lang="en-US" sz="3000" dirty="0"/>
          </a:p>
        </p:txBody>
      </p:sp>
      <p:sp>
        <p:nvSpPr>
          <p:cNvPr id="3" name="Shape 1"/>
          <p:cNvSpPr/>
          <p:nvPr/>
        </p:nvSpPr>
        <p:spPr>
          <a:xfrm>
            <a:off x="10088575" y="502920"/>
            <a:ext cx="1554480" cy="365760"/>
          </a:xfrm>
          <a:prstGeom prst="roundRect">
            <a:avLst>
              <a:gd name="adj" fmla="val 50000"/>
            </a:avLst>
          </a:prstGeom>
          <a:solidFill>
            <a:srgbClr val="1C2C4A"/>
          </a:solidFill>
          <a:ln w="9525">
            <a:solidFill>
              <a:srgbClr val="E8A33D"/>
            </a:solidFill>
            <a:prstDash val="solid"/>
          </a:ln>
        </p:spPr>
      </p:sp>
      <p:sp>
        <p:nvSpPr>
          <p:cNvPr id="4" name="Text 2"/>
          <p:cNvSpPr/>
          <p:nvPr/>
        </p:nvSpPr>
        <p:spPr>
          <a:xfrm>
            <a:off x="10088575" y="502920"/>
            <a:ext cx="1554480" cy="365760"/>
          </a:xfrm>
          <a:prstGeom prst="rect">
            <a:avLst/>
          </a:prstGeom>
          <a:noFill/>
          <a:ln/>
        </p:spPr>
        <p:txBody>
          <a:bodyPr wrap="square" lIns="0" tIns="0" rIns="0" bIns="0" rtlCol="0" anchor="ctr"/>
          <a:lstStyle/>
          <a:p>
            <a:pPr algn="ctr" indent="0" marL="0">
              <a:buNone/>
            </a:pPr>
            <a:r>
              <a:rPr lang="en-US" sz="1100" dirty="0">
                <a:solidFill>
                  <a:srgbClr val="F4C878"/>
                </a:solidFill>
                <a:latin typeface="Yu Gothic" pitchFamily="34" charset="0"/>
                <a:ea typeface="Yu Gothic" pitchFamily="34" charset="-122"/>
                <a:cs typeface="Yu Gothic" pitchFamily="34" charset="-120"/>
              </a:rPr>
              <a:t>仮説段階</a:t>
            </a:r>
            <a:endParaRPr lang="en-US" sz="1100" dirty="0"/>
          </a:p>
        </p:txBody>
      </p:sp>
      <p:sp>
        <p:nvSpPr>
          <p:cNvPr id="5" name="Shape 3"/>
          <p:cNvSpPr/>
          <p:nvPr/>
        </p:nvSpPr>
        <p:spPr>
          <a:xfrm>
            <a:off x="641452" y="1737360"/>
            <a:ext cx="3429000" cy="3200400"/>
          </a:xfrm>
          <a:prstGeom prst="roundRect">
            <a:avLst>
              <a:gd name="adj" fmla="val 3429"/>
            </a:avLst>
          </a:prstGeom>
          <a:solidFill>
            <a:srgbClr val="16213A"/>
          </a:solidFill>
          <a:ln/>
          <a:effectLst>
            <a:outerShdw sx="100000" sy="100000" kx="0" ky="0" algn="bl" rotWithShape="0" blurRad="101600" dist="38100" dir="5400000">
              <a:srgbClr val="000000">
                <a:alpha val="35000"/>
              </a:srgbClr>
            </a:outerShdw>
          </a:effectLst>
        </p:spPr>
      </p:sp>
      <p:sp>
        <p:nvSpPr>
          <p:cNvPr id="6" name="Shape 4"/>
          <p:cNvSpPr/>
          <p:nvPr/>
        </p:nvSpPr>
        <p:spPr>
          <a:xfrm>
            <a:off x="1450696" y="1609344"/>
            <a:ext cx="1810512" cy="1810512"/>
          </a:xfrm>
          <a:prstGeom prst="ellipse">
            <a:avLst/>
          </a:prstGeom>
          <a:solidFill>
            <a:srgbClr val="2A78D6">
              <a:alpha val="12000"/>
            </a:srgbClr>
          </a:solidFill>
          <a:ln/>
        </p:spPr>
      </p:sp>
      <p:sp>
        <p:nvSpPr>
          <p:cNvPr id="7" name="Shape 5"/>
          <p:cNvSpPr/>
          <p:nvPr/>
        </p:nvSpPr>
        <p:spPr>
          <a:xfrm>
            <a:off x="1697584" y="1856232"/>
            <a:ext cx="1316736" cy="1316736"/>
          </a:xfrm>
          <a:prstGeom prst="ellipse">
            <a:avLst/>
          </a:prstGeom>
          <a:solidFill>
            <a:srgbClr val="2A78D6">
              <a:alpha val="22000"/>
            </a:srgbClr>
          </a:solidFill>
          <a:ln/>
        </p:spPr>
      </p:sp>
      <p:sp>
        <p:nvSpPr>
          <p:cNvPr id="8" name="Shape 6"/>
          <p:cNvSpPr/>
          <p:nvPr/>
        </p:nvSpPr>
        <p:spPr>
          <a:xfrm>
            <a:off x="1944472" y="2103120"/>
            <a:ext cx="822960" cy="822960"/>
          </a:xfrm>
          <a:prstGeom prst="ellipse">
            <a:avLst/>
          </a:prstGeom>
          <a:solidFill>
            <a:srgbClr val="2A78D6"/>
          </a:solidFill>
          <a:ln w="9525">
            <a:solidFill>
              <a:srgbClr val="2A78D6"/>
            </a:solidFill>
            <a:prstDash val="solid"/>
          </a:ln>
        </p:spPr>
      </p:sp>
      <p:pic>
        <p:nvPicPr>
          <p:cNvPr id="9" name="Image 0" descr="preencoded.png">    </p:cNvPr>
          <p:cNvPicPr>
            <a:picLocks noChangeAspect="1"/>
          </p:cNvPicPr>
          <p:nvPr/>
        </p:nvPicPr>
        <p:blipFill>
          <a:blip r:embed="rId1"/>
          <a:stretch>
            <a:fillRect/>
          </a:stretch>
        </p:blipFill>
        <p:spPr>
          <a:xfrm>
            <a:off x="2158441" y="2317090"/>
            <a:ext cx="395021" cy="395021"/>
          </a:xfrm>
          <a:prstGeom prst="rect">
            <a:avLst/>
          </a:prstGeom>
        </p:spPr>
      </p:pic>
      <p:sp>
        <p:nvSpPr>
          <p:cNvPr id="10" name="Text 7"/>
          <p:cNvSpPr/>
          <p:nvPr/>
        </p:nvSpPr>
        <p:spPr>
          <a:xfrm>
            <a:off x="778612" y="3063240"/>
            <a:ext cx="315468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A：救済者集中型</a:t>
            </a:r>
            <a:endParaRPr lang="en-US" sz="1500" dirty="0"/>
          </a:p>
        </p:txBody>
      </p:sp>
      <p:sp>
        <p:nvSpPr>
          <p:cNvPr id="11" name="Text 8"/>
          <p:cNvSpPr/>
          <p:nvPr/>
        </p:nvSpPr>
        <p:spPr>
          <a:xfrm>
            <a:off x="870052" y="3566160"/>
            <a:ext cx="2971800" cy="1188720"/>
          </a:xfrm>
          <a:prstGeom prst="rect">
            <a:avLst/>
          </a:prstGeom>
          <a:noFill/>
          <a:ln/>
        </p:spPr>
        <p:txBody>
          <a:bodyPr wrap="square" lIns="0" tIns="0" rIns="0" bIns="0" rtlCol="0" anchor="ctr"/>
          <a:lstStyle/>
          <a:p>
            <a:pPr algn="ctr" indent="0" marL="0">
              <a:lnSpc>
                <a:spcPct val="130000"/>
              </a:lnSpc>
              <a:buNone/>
            </a:pPr>
            <a:r>
              <a:rPr lang="en-US" sz="1250" dirty="0">
                <a:solidFill>
                  <a:srgbClr val="AFC9EE"/>
                </a:solidFill>
                <a:latin typeface="Yu Gothic" pitchFamily="34" charset="0"/>
                <a:ea typeface="Yu Gothic" pitchFamily="34" charset="-122"/>
                <a:cs typeface="Yu Gothic" pitchFamily="34" charset="-120"/>
              </a:rPr>
              <a:t>相談・判断はすべて救済者に集約。危機は発生しない対照群。</a:t>
            </a:r>
            <a:endParaRPr lang="en-US" sz="1250" dirty="0"/>
          </a:p>
        </p:txBody>
      </p:sp>
      <p:sp>
        <p:nvSpPr>
          <p:cNvPr id="12" name="Shape 9"/>
          <p:cNvSpPr/>
          <p:nvPr/>
        </p:nvSpPr>
        <p:spPr>
          <a:xfrm>
            <a:off x="4381348" y="1737360"/>
            <a:ext cx="3429000" cy="3200400"/>
          </a:xfrm>
          <a:prstGeom prst="roundRect">
            <a:avLst>
              <a:gd name="adj" fmla="val 3429"/>
            </a:avLst>
          </a:prstGeom>
          <a:solidFill>
            <a:srgbClr val="16213A"/>
          </a:solidFill>
          <a:ln/>
          <a:effectLst>
            <a:outerShdw sx="100000" sy="100000" kx="0" ky="0" algn="bl" rotWithShape="0" blurRad="101600" dist="38100" dir="5400000">
              <a:srgbClr val="000000">
                <a:alpha val="35000"/>
              </a:srgbClr>
            </a:outerShdw>
          </a:effectLst>
        </p:spPr>
      </p:sp>
      <p:sp>
        <p:nvSpPr>
          <p:cNvPr id="13" name="Shape 10"/>
          <p:cNvSpPr/>
          <p:nvPr/>
        </p:nvSpPr>
        <p:spPr>
          <a:xfrm>
            <a:off x="5190592" y="1609344"/>
            <a:ext cx="1810512" cy="1810512"/>
          </a:xfrm>
          <a:prstGeom prst="ellipse">
            <a:avLst/>
          </a:prstGeom>
          <a:solidFill>
            <a:srgbClr val="EB6834">
              <a:alpha val="12000"/>
            </a:srgbClr>
          </a:solidFill>
          <a:ln/>
        </p:spPr>
      </p:sp>
      <p:sp>
        <p:nvSpPr>
          <p:cNvPr id="14" name="Shape 11"/>
          <p:cNvSpPr/>
          <p:nvPr/>
        </p:nvSpPr>
        <p:spPr>
          <a:xfrm>
            <a:off x="5437480" y="1856232"/>
            <a:ext cx="1316736" cy="1316736"/>
          </a:xfrm>
          <a:prstGeom prst="ellipse">
            <a:avLst/>
          </a:prstGeom>
          <a:solidFill>
            <a:srgbClr val="EB6834">
              <a:alpha val="22000"/>
            </a:srgbClr>
          </a:solidFill>
          <a:ln/>
        </p:spPr>
      </p:sp>
      <p:sp>
        <p:nvSpPr>
          <p:cNvPr id="15" name="Shape 12"/>
          <p:cNvSpPr/>
          <p:nvPr/>
        </p:nvSpPr>
        <p:spPr>
          <a:xfrm>
            <a:off x="5684368" y="2103120"/>
            <a:ext cx="822960" cy="822960"/>
          </a:xfrm>
          <a:prstGeom prst="ellipse">
            <a:avLst/>
          </a:prstGeom>
          <a:solidFill>
            <a:srgbClr val="EB6834"/>
          </a:solidFill>
          <a:ln w="9525">
            <a:solidFill>
              <a:srgbClr val="EB6834"/>
            </a:solidFill>
            <a:prstDash val="solid"/>
          </a:ln>
        </p:spPr>
      </p:sp>
      <p:pic>
        <p:nvPicPr>
          <p:cNvPr id="16" name="Image 1" descr="preencoded.png">    </p:cNvPr>
          <p:cNvPicPr>
            <a:picLocks noChangeAspect="1"/>
          </p:cNvPicPr>
          <p:nvPr/>
        </p:nvPicPr>
        <p:blipFill>
          <a:blip r:embed="rId2"/>
          <a:stretch>
            <a:fillRect/>
          </a:stretch>
        </p:blipFill>
        <p:spPr>
          <a:xfrm>
            <a:off x="5898337" y="2317090"/>
            <a:ext cx="395021" cy="395021"/>
          </a:xfrm>
          <a:prstGeom prst="rect">
            <a:avLst/>
          </a:prstGeom>
        </p:spPr>
      </p:pic>
      <p:sp>
        <p:nvSpPr>
          <p:cNvPr id="17" name="Text 13"/>
          <p:cNvSpPr/>
          <p:nvPr/>
        </p:nvSpPr>
        <p:spPr>
          <a:xfrm>
            <a:off x="4518508" y="3063240"/>
            <a:ext cx="315468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B：救済者が消える村</a:t>
            </a:r>
            <a:endParaRPr lang="en-US" sz="1500" dirty="0"/>
          </a:p>
        </p:txBody>
      </p:sp>
      <p:sp>
        <p:nvSpPr>
          <p:cNvPr id="18" name="Text 14"/>
          <p:cNvSpPr/>
          <p:nvPr/>
        </p:nvSpPr>
        <p:spPr>
          <a:xfrm>
            <a:off x="4609948" y="3566160"/>
            <a:ext cx="2971800" cy="1188720"/>
          </a:xfrm>
          <a:prstGeom prst="rect">
            <a:avLst/>
          </a:prstGeom>
          <a:noFill/>
          <a:ln/>
        </p:spPr>
        <p:txBody>
          <a:bodyPr wrap="square" lIns="0" tIns="0" rIns="0" bIns="0" rtlCol="0" anchor="ctr"/>
          <a:lstStyle/>
          <a:p>
            <a:pPr algn="ctr" indent="0" marL="0">
              <a:lnSpc>
                <a:spcPct val="130000"/>
              </a:lnSpc>
              <a:buNone/>
            </a:pPr>
            <a:r>
              <a:rPr lang="en-US" sz="1250" dirty="0">
                <a:solidFill>
                  <a:srgbClr val="AFC9EE"/>
                </a:solidFill>
                <a:latin typeface="Yu Gothic" pitchFamily="34" charset="0"/>
                <a:ea typeface="Yu Gothic" pitchFamily="34" charset="-122"/>
                <a:cs typeface="Yu Gothic" pitchFamily="34" charset="-120"/>
              </a:rPr>
              <a:t>Aと同じ運用のまま、フェーズ3で救済者が突然不在になる。</a:t>
            </a:r>
            <a:endParaRPr lang="en-US" sz="1250" dirty="0"/>
          </a:p>
        </p:txBody>
      </p:sp>
      <p:sp>
        <p:nvSpPr>
          <p:cNvPr id="19" name="Shape 15"/>
          <p:cNvSpPr/>
          <p:nvPr/>
        </p:nvSpPr>
        <p:spPr>
          <a:xfrm>
            <a:off x="8121244" y="1737360"/>
            <a:ext cx="3429000" cy="3200400"/>
          </a:xfrm>
          <a:prstGeom prst="roundRect">
            <a:avLst>
              <a:gd name="adj" fmla="val 3429"/>
            </a:avLst>
          </a:prstGeom>
          <a:solidFill>
            <a:srgbClr val="16213A"/>
          </a:solidFill>
          <a:ln/>
          <a:effectLst>
            <a:outerShdw sx="100000" sy="100000" kx="0" ky="0" algn="bl" rotWithShape="0" blurRad="101600" dist="38100" dir="5400000">
              <a:srgbClr val="000000">
                <a:alpha val="35000"/>
              </a:srgbClr>
            </a:outerShdw>
          </a:effectLst>
        </p:spPr>
      </p:sp>
      <p:sp>
        <p:nvSpPr>
          <p:cNvPr id="20" name="Shape 16"/>
          <p:cNvSpPr/>
          <p:nvPr/>
        </p:nvSpPr>
        <p:spPr>
          <a:xfrm>
            <a:off x="8930488" y="1609344"/>
            <a:ext cx="1810512" cy="1810512"/>
          </a:xfrm>
          <a:prstGeom prst="ellipse">
            <a:avLst/>
          </a:prstGeom>
          <a:solidFill>
            <a:srgbClr val="1BAF7A">
              <a:alpha val="12000"/>
            </a:srgbClr>
          </a:solidFill>
          <a:ln/>
        </p:spPr>
      </p:sp>
      <p:sp>
        <p:nvSpPr>
          <p:cNvPr id="21" name="Shape 17"/>
          <p:cNvSpPr/>
          <p:nvPr/>
        </p:nvSpPr>
        <p:spPr>
          <a:xfrm>
            <a:off x="9177376" y="1856232"/>
            <a:ext cx="1316736" cy="1316736"/>
          </a:xfrm>
          <a:prstGeom prst="ellipse">
            <a:avLst/>
          </a:prstGeom>
          <a:solidFill>
            <a:srgbClr val="1BAF7A">
              <a:alpha val="22000"/>
            </a:srgbClr>
          </a:solidFill>
          <a:ln/>
        </p:spPr>
      </p:sp>
      <p:sp>
        <p:nvSpPr>
          <p:cNvPr id="22" name="Shape 18"/>
          <p:cNvSpPr/>
          <p:nvPr/>
        </p:nvSpPr>
        <p:spPr>
          <a:xfrm>
            <a:off x="9424264" y="2103120"/>
            <a:ext cx="822960" cy="822960"/>
          </a:xfrm>
          <a:prstGeom prst="ellipse">
            <a:avLst/>
          </a:prstGeom>
          <a:solidFill>
            <a:srgbClr val="1BAF7A"/>
          </a:solidFill>
          <a:ln w="9525">
            <a:solidFill>
              <a:srgbClr val="1BAF7A"/>
            </a:solidFill>
            <a:prstDash val="solid"/>
          </a:ln>
        </p:spPr>
      </p:sp>
      <p:pic>
        <p:nvPicPr>
          <p:cNvPr id="23" name="Image 2" descr="preencoded.png">    </p:cNvPr>
          <p:cNvPicPr>
            <a:picLocks noChangeAspect="1"/>
          </p:cNvPicPr>
          <p:nvPr/>
        </p:nvPicPr>
        <p:blipFill>
          <a:blip r:embed="rId3"/>
          <a:stretch>
            <a:fillRect/>
          </a:stretch>
        </p:blipFill>
        <p:spPr>
          <a:xfrm>
            <a:off x="9638233" y="2317090"/>
            <a:ext cx="395021" cy="395021"/>
          </a:xfrm>
          <a:prstGeom prst="rect">
            <a:avLst/>
          </a:prstGeom>
        </p:spPr>
      </p:pic>
      <p:sp>
        <p:nvSpPr>
          <p:cNvPr id="24" name="Text 19"/>
          <p:cNvSpPr/>
          <p:nvPr/>
        </p:nvSpPr>
        <p:spPr>
          <a:xfrm>
            <a:off x="8258404" y="3063240"/>
            <a:ext cx="315468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C：分散ガバナンス型</a:t>
            </a:r>
            <a:endParaRPr lang="en-US" sz="1500" dirty="0"/>
          </a:p>
        </p:txBody>
      </p:sp>
      <p:sp>
        <p:nvSpPr>
          <p:cNvPr id="25" name="Text 20"/>
          <p:cNvSpPr/>
          <p:nvPr/>
        </p:nvSpPr>
        <p:spPr>
          <a:xfrm>
            <a:off x="8349844" y="3566160"/>
            <a:ext cx="2971800" cy="1188720"/>
          </a:xfrm>
          <a:prstGeom prst="rect">
            <a:avLst/>
          </a:prstGeom>
          <a:noFill/>
          <a:ln/>
        </p:spPr>
        <p:txBody>
          <a:bodyPr wrap="square" lIns="0" tIns="0" rIns="0" bIns="0" rtlCol="0" anchor="ctr"/>
          <a:lstStyle/>
          <a:p>
            <a:pPr algn="ctr" indent="0" marL="0">
              <a:lnSpc>
                <a:spcPct val="130000"/>
              </a:lnSpc>
              <a:buNone/>
            </a:pPr>
            <a:r>
              <a:rPr lang="en-US" sz="1250" dirty="0">
                <a:solidFill>
                  <a:srgbClr val="AFC9EE"/>
                </a:solidFill>
                <a:latin typeface="Yu Gothic" pitchFamily="34" charset="0"/>
                <a:ea typeface="Yu Gothic" pitchFamily="34" charset="-122"/>
                <a:cs typeface="Yu Gothic" pitchFamily="34" charset="-120"/>
              </a:rPr>
              <a:t>相談経路と判断基準を事前に住民へ分配。救済者は例外のみ対応。</a:t>
            </a:r>
            <a:endParaRPr lang="en-US" sz="1250" dirty="0"/>
          </a:p>
        </p:txBody>
      </p:sp>
      <p:sp>
        <p:nvSpPr>
          <p:cNvPr id="26" name="Text 21"/>
          <p:cNvSpPr/>
          <p:nvPr/>
        </p:nvSpPr>
        <p:spPr>
          <a:xfrm>
            <a:off x="548640" y="5166360"/>
            <a:ext cx="11091672" cy="457200"/>
          </a:xfrm>
          <a:prstGeom prst="rect">
            <a:avLst/>
          </a:prstGeom>
          <a:noFill/>
          <a:ln/>
        </p:spPr>
        <p:txBody>
          <a:bodyPr wrap="square" lIns="0" tIns="0" rIns="0" bIns="0" rtlCol="0" anchor="ctr"/>
          <a:lstStyle/>
          <a:p>
            <a:pPr algn="ctr" indent="0" marL="0">
              <a:buNone/>
            </a:pPr>
            <a:r>
              <a:rPr lang="en-US" sz="1300" i="1" dirty="0">
                <a:solidFill>
                  <a:srgbClr val="9AA4C0"/>
                </a:solidFill>
                <a:latin typeface="Yu Gothic" pitchFamily="34" charset="0"/>
                <a:ea typeface="Yu Gothic" pitchFamily="34" charset="-122"/>
                <a:cs typeface="Yu Gothic" pitchFamily="34" charset="-120"/>
              </a:rPr>
              <a:t>B と C を同じ危機イベントで比較することで、「回復のしかた」の違いを観測する。</a:t>
            </a:r>
            <a:endParaRPr lang="en-US" sz="1300" dirty="0"/>
          </a:p>
        </p:txBody>
      </p:sp>
      <p:sp>
        <p:nvSpPr>
          <p:cNvPr id="27" name="Text 22"/>
          <p:cNvSpPr/>
          <p:nvPr/>
        </p:nvSpPr>
        <p:spPr>
          <a:xfrm>
            <a:off x="548640" y="6473952"/>
            <a:ext cx="4572000" cy="274320"/>
          </a:xfrm>
          <a:prstGeom prst="rect">
            <a:avLst/>
          </a:prstGeom>
          <a:noFill/>
          <a:ln/>
        </p:spPr>
        <p:txBody>
          <a:bodyPr wrap="square" lIns="0" tIns="0" rIns="0" bIns="0" rtlCol="0" anchor="ctr"/>
          <a:lstStyle/>
          <a:p>
            <a:pPr indent="0" marL="0">
              <a:buNone/>
            </a:pPr>
            <a:r>
              <a:rPr lang="en-US" sz="900" dirty="0">
                <a:solidFill>
                  <a:srgbClr val="5B6480"/>
                </a:solidFill>
                <a:latin typeface="Yu Gothic" pitchFamily="34" charset="0"/>
                <a:ea typeface="Yu Gothic" pitchFamily="34" charset="-122"/>
                <a:cs typeface="Yu Gothic" pitchFamily="34" charset="-120"/>
              </a:rPr>
              <a:t>救済者 × ガバナンス</a:t>
            </a:r>
            <a:endParaRPr lang="en-US" sz="900" dirty="0"/>
          </a:p>
        </p:txBody>
      </p:sp>
      <p:sp>
        <p:nvSpPr>
          <p:cNvPr id="28" name="Text 23"/>
          <p:cNvSpPr/>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FFFFFF"/>
                </a:solidFill>
                <a:latin typeface="Yu Gothic" pitchFamily="34" charset="0"/>
                <a:ea typeface="Yu Gothic" pitchFamily="34" charset="-122"/>
                <a:cs typeface="Yu Gothic" pitchFamily="34" charset="-120"/>
              </a:rPr>
              <a:t>見えない価値の測定：2つの評価軸</a:t>
            </a:r>
            <a:endParaRPr lang="en-US" sz="3000" dirty="0"/>
          </a:p>
        </p:txBody>
      </p:sp>
      <p:sp>
        <p:nvSpPr>
          <p:cNvPr id="3" name="Shape 1"/>
          <p:cNvSpPr/>
          <p:nvPr/>
        </p:nvSpPr>
        <p:spPr>
          <a:xfrm>
            <a:off x="548640" y="1737360"/>
            <a:ext cx="5349240" cy="3520440"/>
          </a:xfrm>
          <a:prstGeom prst="roundRect">
            <a:avLst>
              <a:gd name="adj" fmla="val 3117"/>
            </a:avLst>
          </a:prstGeom>
          <a:solidFill>
            <a:srgbClr val="16213A"/>
          </a:solidFill>
          <a:ln/>
          <a:effectLst>
            <a:outerShdw sx="100000" sy="100000" kx="0" ky="0" algn="bl" rotWithShape="0" blurRad="101600" dist="38100" dir="5400000">
              <a:srgbClr val="000000">
                <a:alpha val="35000"/>
              </a:srgbClr>
            </a:outerShdw>
          </a:effectLst>
        </p:spPr>
      </p:sp>
      <p:sp>
        <p:nvSpPr>
          <p:cNvPr id="4" name="Shape 2"/>
          <p:cNvSpPr/>
          <p:nvPr/>
        </p:nvSpPr>
        <p:spPr>
          <a:xfrm>
            <a:off x="914400" y="2011680"/>
            <a:ext cx="640080" cy="640080"/>
          </a:xfrm>
          <a:prstGeom prst="ellipse">
            <a:avLst/>
          </a:prstGeom>
          <a:solidFill>
            <a:srgbClr val="5A8FD6"/>
          </a:solidFill>
          <a:ln w="9525">
            <a:solidFill>
              <a:srgbClr val="5A8FD6"/>
            </a:solidFill>
            <a:prstDash val="solid"/>
          </a:ln>
        </p:spPr>
      </p:sp>
      <p:pic>
        <p:nvPicPr>
          <p:cNvPr id="5" name="Image 0" descr="preencoded.png">    </p:cNvPr>
          <p:cNvPicPr>
            <a:picLocks noChangeAspect="1"/>
          </p:cNvPicPr>
          <p:nvPr/>
        </p:nvPicPr>
        <p:blipFill>
          <a:blip r:embed="rId1"/>
          <a:stretch>
            <a:fillRect/>
          </a:stretch>
        </p:blipFill>
        <p:spPr>
          <a:xfrm>
            <a:off x="1080821" y="2178101"/>
            <a:ext cx="307238" cy="307238"/>
          </a:xfrm>
          <a:prstGeom prst="rect">
            <a:avLst/>
          </a:prstGeom>
        </p:spPr>
      </p:pic>
      <p:sp>
        <p:nvSpPr>
          <p:cNvPr id="6" name="Text 3"/>
          <p:cNvSpPr/>
          <p:nvPr/>
        </p:nvSpPr>
        <p:spPr>
          <a:xfrm>
            <a:off x="1691640" y="2057400"/>
            <a:ext cx="4023360" cy="548640"/>
          </a:xfrm>
          <a:prstGeom prst="rect">
            <a:avLst/>
          </a:prstGeom>
          <a:noFill/>
          <a:ln/>
        </p:spPr>
        <p:txBody>
          <a:bodyPr wrap="square" lIns="0" tIns="0" rIns="0" bIns="0" rtlCol="0" anchor="ctr"/>
          <a:lstStyle/>
          <a:p>
            <a:pPr indent="0" marL="0">
              <a:lnSpc>
                <a:spcPct val="110000"/>
              </a:lnSpc>
              <a:buNone/>
            </a:pPr>
            <a:r>
              <a:rPr lang="en-US" sz="1500" b="1" dirty="0">
                <a:solidFill>
                  <a:srgbClr val="5A8FD6"/>
                </a:solidFill>
                <a:latin typeface="Yu Gothic" pitchFamily="34" charset="0"/>
                <a:ea typeface="Yu Gothic" pitchFamily="34" charset="-122"/>
                <a:cs typeface="Yu Gothic" pitchFamily="34" charset="-120"/>
              </a:rPr>
              <a:t>組織運営の指標</a:t>
            </a:r>
            <a:endParaRPr lang="en-US" sz="1500" dirty="0"/>
          </a:p>
          <a:p>
            <a:pPr indent="0" marL="0">
              <a:lnSpc>
                <a:spcPct val="110000"/>
              </a:lnSpc>
              <a:buNone/>
            </a:pPr>
            <a:r>
              <a:rPr lang="en-US" sz="1500" b="1" dirty="0">
                <a:solidFill>
                  <a:srgbClr val="5A8FD6"/>
                </a:solidFill>
                <a:latin typeface="Yu Gothic" pitchFamily="34" charset="0"/>
                <a:ea typeface="Yu Gothic" pitchFamily="34" charset="-122"/>
                <a:cs typeface="Yu Gothic" pitchFamily="34" charset="-120"/>
              </a:rPr>
              <a:t>(Operational Metrics)</a:t>
            </a:r>
            <a:endParaRPr lang="en-US" sz="1500" dirty="0"/>
          </a:p>
        </p:txBody>
      </p:sp>
      <p:sp>
        <p:nvSpPr>
          <p:cNvPr id="7" name="Shape 4"/>
          <p:cNvSpPr/>
          <p:nvPr/>
        </p:nvSpPr>
        <p:spPr>
          <a:xfrm>
            <a:off x="914400" y="3081528"/>
            <a:ext cx="128016" cy="128016"/>
          </a:xfrm>
          <a:prstGeom prst="ellipse">
            <a:avLst/>
          </a:prstGeom>
          <a:solidFill>
            <a:srgbClr val="5A8FD6"/>
          </a:solidFill>
          <a:ln/>
        </p:spPr>
      </p:sp>
      <p:sp>
        <p:nvSpPr>
          <p:cNvPr id="8" name="Text 5"/>
          <p:cNvSpPr/>
          <p:nvPr/>
        </p:nvSpPr>
        <p:spPr>
          <a:xfrm>
            <a:off x="1188720" y="2971800"/>
            <a:ext cx="4480560" cy="640080"/>
          </a:xfrm>
          <a:prstGeom prst="rect">
            <a:avLst/>
          </a:prstGeom>
          <a:noFill/>
          <a:ln/>
        </p:spPr>
        <p:txBody>
          <a:bodyPr wrap="square" lIns="0" tIns="0" rIns="0" bIns="0" rtlCol="0" anchor="ctr"/>
          <a:lstStyle/>
          <a:p>
            <a:pPr indent="0" marL="0">
              <a:lnSpc>
                <a:spcPct val="125000"/>
              </a:lnSpc>
              <a:buNone/>
            </a:pPr>
            <a:r>
              <a:rPr lang="en-US" sz="1350" dirty="0">
                <a:solidFill>
                  <a:srgbClr val="AFC9EE"/>
                </a:solidFill>
                <a:latin typeface="Yu Gothic" pitchFamily="34" charset="0"/>
                <a:ea typeface="Yu Gothic" pitchFamily="34" charset="-122"/>
                <a:cs typeface="Yu Gothic" pitchFamily="34" charset="-120"/>
              </a:rPr>
              <a:t>救済者の負荷メーター（相談の集中度、0〜100%）</a:t>
            </a:r>
            <a:endParaRPr lang="en-US" sz="1350" dirty="0"/>
          </a:p>
        </p:txBody>
      </p:sp>
      <p:sp>
        <p:nvSpPr>
          <p:cNvPr id="9" name="Shape 6"/>
          <p:cNvSpPr/>
          <p:nvPr/>
        </p:nvSpPr>
        <p:spPr>
          <a:xfrm>
            <a:off x="914400" y="3950208"/>
            <a:ext cx="128016" cy="128016"/>
          </a:xfrm>
          <a:prstGeom prst="ellipse">
            <a:avLst/>
          </a:prstGeom>
          <a:solidFill>
            <a:srgbClr val="5A8FD6"/>
          </a:solidFill>
          <a:ln/>
        </p:spPr>
      </p:sp>
      <p:sp>
        <p:nvSpPr>
          <p:cNvPr id="10" name="Text 7"/>
          <p:cNvSpPr/>
          <p:nvPr/>
        </p:nvSpPr>
        <p:spPr>
          <a:xfrm>
            <a:off x="1188720" y="3840480"/>
            <a:ext cx="4480560" cy="640080"/>
          </a:xfrm>
          <a:prstGeom prst="rect">
            <a:avLst/>
          </a:prstGeom>
          <a:noFill/>
          <a:ln/>
        </p:spPr>
        <p:txBody>
          <a:bodyPr wrap="square" lIns="0" tIns="0" rIns="0" bIns="0" rtlCol="0" anchor="ctr"/>
          <a:lstStyle/>
          <a:p>
            <a:pPr indent="0" marL="0">
              <a:lnSpc>
                <a:spcPct val="125000"/>
              </a:lnSpc>
              <a:buNone/>
            </a:pPr>
            <a:r>
              <a:rPr lang="en-US" sz="1350" dirty="0">
                <a:solidFill>
                  <a:srgbClr val="AFC9EE"/>
                </a:solidFill>
                <a:latin typeface="Yu Gothic" pitchFamily="34" charset="0"/>
                <a:ea typeface="Yu Gothic" pitchFamily="34" charset="-122"/>
                <a:cs typeface="Yu Gothic" pitchFamily="34" charset="-120"/>
              </a:rPr>
              <a:t>村の自律度スコア（救済者以外が自力で解決できた割合）</a:t>
            </a:r>
            <a:endParaRPr lang="en-US" sz="1350" dirty="0"/>
          </a:p>
        </p:txBody>
      </p:sp>
      <p:sp>
        <p:nvSpPr>
          <p:cNvPr id="11" name="Shape 8"/>
          <p:cNvSpPr/>
          <p:nvPr/>
        </p:nvSpPr>
        <p:spPr>
          <a:xfrm>
            <a:off x="6263640" y="1737360"/>
            <a:ext cx="5376672" cy="3520440"/>
          </a:xfrm>
          <a:prstGeom prst="roundRect">
            <a:avLst>
              <a:gd name="adj" fmla="val 3117"/>
            </a:avLst>
          </a:prstGeom>
          <a:solidFill>
            <a:srgbClr val="1C2C4A"/>
          </a:solidFill>
          <a:ln/>
          <a:effectLst>
            <a:outerShdw sx="100000" sy="100000" kx="0" ky="0" algn="bl" rotWithShape="0" blurRad="101600" dist="38100" dir="5400000">
              <a:srgbClr val="000000">
                <a:alpha val="35000"/>
              </a:srgbClr>
            </a:outerShdw>
          </a:effectLst>
        </p:spPr>
      </p:sp>
      <p:sp>
        <p:nvSpPr>
          <p:cNvPr id="12" name="Shape 9"/>
          <p:cNvSpPr/>
          <p:nvPr/>
        </p:nvSpPr>
        <p:spPr>
          <a:xfrm>
            <a:off x="6629400" y="2011680"/>
            <a:ext cx="640080" cy="640080"/>
          </a:xfrm>
          <a:prstGeom prst="ellipse">
            <a:avLst/>
          </a:prstGeom>
          <a:solidFill>
            <a:srgbClr val="E8A33D"/>
          </a:solidFill>
          <a:ln w="9525">
            <a:solidFill>
              <a:srgbClr val="E8A33D"/>
            </a:solidFill>
            <a:prstDash val="solid"/>
          </a:ln>
        </p:spPr>
      </p:sp>
      <p:pic>
        <p:nvPicPr>
          <p:cNvPr id="13" name="Image 1" descr="preencoded.png">    </p:cNvPr>
          <p:cNvPicPr>
            <a:picLocks noChangeAspect="1"/>
          </p:cNvPicPr>
          <p:nvPr/>
        </p:nvPicPr>
        <p:blipFill>
          <a:blip r:embed="rId2"/>
          <a:stretch>
            <a:fillRect/>
          </a:stretch>
        </p:blipFill>
        <p:spPr>
          <a:xfrm>
            <a:off x="6795821" y="2178101"/>
            <a:ext cx="307238" cy="307238"/>
          </a:xfrm>
          <a:prstGeom prst="rect">
            <a:avLst/>
          </a:prstGeom>
        </p:spPr>
      </p:pic>
      <p:sp>
        <p:nvSpPr>
          <p:cNvPr id="14" name="Text 10"/>
          <p:cNvSpPr/>
          <p:nvPr/>
        </p:nvSpPr>
        <p:spPr>
          <a:xfrm>
            <a:off x="7406640" y="2057400"/>
            <a:ext cx="4023360" cy="548640"/>
          </a:xfrm>
          <a:prstGeom prst="rect">
            <a:avLst/>
          </a:prstGeom>
          <a:noFill/>
          <a:ln/>
        </p:spPr>
        <p:txBody>
          <a:bodyPr wrap="square" lIns="0" tIns="0" rIns="0" bIns="0" rtlCol="0" anchor="ctr"/>
          <a:lstStyle/>
          <a:p>
            <a:pPr indent="0" marL="0">
              <a:lnSpc>
                <a:spcPct val="110000"/>
              </a:lnSpc>
              <a:buNone/>
            </a:pPr>
            <a:r>
              <a:rPr lang="en-US" sz="1500" b="1" dirty="0">
                <a:solidFill>
                  <a:srgbClr val="F4C878"/>
                </a:solidFill>
                <a:latin typeface="Yu Gothic" pitchFamily="34" charset="0"/>
                <a:ea typeface="Yu Gothic" pitchFamily="34" charset="-122"/>
                <a:cs typeface="Yu Gothic" pitchFamily="34" charset="-120"/>
              </a:rPr>
              <a:t>関係性・心理的安全性</a:t>
            </a:r>
            <a:endParaRPr lang="en-US" sz="1500" dirty="0"/>
          </a:p>
          <a:p>
            <a:pPr indent="0" marL="0">
              <a:lnSpc>
                <a:spcPct val="110000"/>
              </a:lnSpc>
              <a:buNone/>
            </a:pPr>
            <a:r>
              <a:rPr lang="en-US" sz="1500" b="1" dirty="0">
                <a:solidFill>
                  <a:srgbClr val="F4C878"/>
                </a:solidFill>
                <a:latin typeface="Yu Gothic" pitchFamily="34" charset="0"/>
                <a:ea typeface="Yu Gothic" pitchFamily="34" charset="-122"/>
                <a:cs typeface="Yu Gothic" pitchFamily="34" charset="-120"/>
              </a:rPr>
              <a:t>(Relational Metrics)</a:t>
            </a:r>
            <a:endParaRPr lang="en-US" sz="1500" dirty="0"/>
          </a:p>
        </p:txBody>
      </p:sp>
      <p:sp>
        <p:nvSpPr>
          <p:cNvPr id="15" name="Shape 11"/>
          <p:cNvSpPr/>
          <p:nvPr/>
        </p:nvSpPr>
        <p:spPr>
          <a:xfrm>
            <a:off x="6629400" y="3063240"/>
            <a:ext cx="128016" cy="128016"/>
          </a:xfrm>
          <a:prstGeom prst="ellipse">
            <a:avLst/>
          </a:prstGeom>
          <a:solidFill>
            <a:srgbClr val="E8A33D"/>
          </a:solidFill>
          <a:ln/>
        </p:spPr>
      </p:sp>
      <p:sp>
        <p:nvSpPr>
          <p:cNvPr id="16" name="Text 12"/>
          <p:cNvSpPr/>
          <p:nvPr/>
        </p:nvSpPr>
        <p:spPr>
          <a:xfrm>
            <a:off x="6903720" y="2971800"/>
            <a:ext cx="4572000" cy="502920"/>
          </a:xfrm>
          <a:prstGeom prst="rect">
            <a:avLst/>
          </a:prstGeom>
          <a:noFill/>
          <a:ln/>
        </p:spPr>
        <p:txBody>
          <a:bodyPr wrap="square" lIns="0" tIns="0" rIns="0" bIns="0" rtlCol="0" anchor="ctr"/>
          <a:lstStyle/>
          <a:p>
            <a:pPr indent="0" marL="0">
              <a:buNone/>
            </a:pPr>
            <a:r>
              <a:rPr lang="en-US" sz="1350" dirty="0">
                <a:solidFill>
                  <a:srgbClr val="AFC9EE"/>
                </a:solidFill>
                <a:latin typeface="Yu Gothic" pitchFamily="34" charset="0"/>
                <a:ea typeface="Yu Gothic" pitchFamily="34" charset="-122"/>
                <a:cs typeface="Yu Gothic" pitchFamily="34" charset="-120"/>
              </a:rPr>
              <a:t>困ったときに助けを求められるか</a:t>
            </a:r>
            <a:endParaRPr lang="en-US" sz="1350" dirty="0"/>
          </a:p>
        </p:txBody>
      </p:sp>
      <p:sp>
        <p:nvSpPr>
          <p:cNvPr id="17" name="Shape 13"/>
          <p:cNvSpPr/>
          <p:nvPr/>
        </p:nvSpPr>
        <p:spPr>
          <a:xfrm>
            <a:off x="6629400" y="3721608"/>
            <a:ext cx="128016" cy="128016"/>
          </a:xfrm>
          <a:prstGeom prst="ellipse">
            <a:avLst/>
          </a:prstGeom>
          <a:solidFill>
            <a:srgbClr val="E8A33D"/>
          </a:solidFill>
          <a:ln/>
        </p:spPr>
      </p:sp>
      <p:sp>
        <p:nvSpPr>
          <p:cNvPr id="18" name="Text 14"/>
          <p:cNvSpPr/>
          <p:nvPr/>
        </p:nvSpPr>
        <p:spPr>
          <a:xfrm>
            <a:off x="6903720" y="3630168"/>
            <a:ext cx="4572000" cy="502920"/>
          </a:xfrm>
          <a:prstGeom prst="rect">
            <a:avLst/>
          </a:prstGeom>
          <a:noFill/>
          <a:ln/>
        </p:spPr>
        <p:txBody>
          <a:bodyPr wrap="square" lIns="0" tIns="0" rIns="0" bIns="0" rtlCol="0" anchor="ctr"/>
          <a:lstStyle/>
          <a:p>
            <a:pPr indent="0" marL="0">
              <a:buNone/>
            </a:pPr>
            <a:r>
              <a:rPr lang="en-US" sz="1350" dirty="0">
                <a:solidFill>
                  <a:srgbClr val="AFC9EE"/>
                </a:solidFill>
                <a:latin typeface="Yu Gothic" pitchFamily="34" charset="0"/>
                <a:ea typeface="Yu Gothic" pitchFamily="34" charset="-122"/>
                <a:cs typeface="Yu Gothic" pitchFamily="34" charset="-120"/>
              </a:rPr>
              <a:t>自分はこの村にいてよいと思えるか</a:t>
            </a:r>
            <a:endParaRPr lang="en-US" sz="1350" dirty="0"/>
          </a:p>
        </p:txBody>
      </p:sp>
      <p:sp>
        <p:nvSpPr>
          <p:cNvPr id="19" name="Shape 15"/>
          <p:cNvSpPr/>
          <p:nvPr/>
        </p:nvSpPr>
        <p:spPr>
          <a:xfrm>
            <a:off x="6629400" y="4379976"/>
            <a:ext cx="128016" cy="128016"/>
          </a:xfrm>
          <a:prstGeom prst="ellipse">
            <a:avLst/>
          </a:prstGeom>
          <a:solidFill>
            <a:srgbClr val="E8A33D"/>
          </a:solidFill>
          <a:ln/>
        </p:spPr>
      </p:sp>
      <p:sp>
        <p:nvSpPr>
          <p:cNvPr id="20" name="Text 16"/>
          <p:cNvSpPr/>
          <p:nvPr/>
        </p:nvSpPr>
        <p:spPr>
          <a:xfrm>
            <a:off x="6903720" y="4288536"/>
            <a:ext cx="4572000" cy="502920"/>
          </a:xfrm>
          <a:prstGeom prst="rect">
            <a:avLst/>
          </a:prstGeom>
          <a:noFill/>
          <a:ln/>
        </p:spPr>
        <p:txBody>
          <a:bodyPr wrap="square" lIns="0" tIns="0" rIns="0" bIns="0" rtlCol="0" anchor="ctr"/>
          <a:lstStyle/>
          <a:p>
            <a:pPr indent="0" marL="0">
              <a:buNone/>
            </a:pPr>
            <a:r>
              <a:rPr lang="en-US" sz="1350" dirty="0">
                <a:solidFill>
                  <a:srgbClr val="AFC9EE"/>
                </a:solidFill>
                <a:latin typeface="Yu Gothic" pitchFamily="34" charset="0"/>
                <a:ea typeface="Yu Gothic" pitchFamily="34" charset="-122"/>
                <a:cs typeface="Yu Gothic" pitchFamily="34" charset="-120"/>
              </a:rPr>
              <a:t>救済者がいなければ何もできないと感じていないか</a:t>
            </a:r>
            <a:endParaRPr lang="en-US" sz="1350" dirty="0"/>
          </a:p>
        </p:txBody>
      </p:sp>
      <p:sp>
        <p:nvSpPr>
          <p:cNvPr id="21" name="Text 17"/>
          <p:cNvSpPr/>
          <p:nvPr/>
        </p:nvSpPr>
        <p:spPr>
          <a:xfrm>
            <a:off x="548640" y="5486400"/>
            <a:ext cx="11091672" cy="457200"/>
          </a:xfrm>
          <a:prstGeom prst="rect">
            <a:avLst/>
          </a:prstGeom>
          <a:noFill/>
          <a:ln/>
        </p:spPr>
        <p:txBody>
          <a:bodyPr wrap="square" lIns="0" tIns="0" rIns="0" bIns="0" rtlCol="0" anchor="ctr"/>
          <a:lstStyle/>
          <a:p>
            <a:pPr algn="ctr" indent="0" marL="0">
              <a:buNone/>
            </a:pPr>
            <a:r>
              <a:rPr lang="en-US" sz="1400" i="1" dirty="0">
                <a:solidFill>
                  <a:srgbClr val="FFFFFF"/>
                </a:solidFill>
                <a:latin typeface="Yu Gothic" pitchFamily="34" charset="0"/>
                <a:ea typeface="Yu Gothic" pitchFamily="34" charset="-122"/>
                <a:cs typeface="Yu Gothic" pitchFamily="34" charset="-120"/>
              </a:rPr>
              <a:t>解決した「数」ではなく、問題が起きなかった「状態」を評価する。</a:t>
            </a:r>
            <a:endParaRPr lang="en-US" sz="1400" dirty="0"/>
          </a:p>
        </p:txBody>
      </p:sp>
      <p:sp>
        <p:nvSpPr>
          <p:cNvPr id="22" name="Text 18"/>
          <p:cNvSpPr/>
          <p:nvPr/>
        </p:nvSpPr>
        <p:spPr>
          <a:xfrm>
            <a:off x="548640" y="6473952"/>
            <a:ext cx="4572000" cy="274320"/>
          </a:xfrm>
          <a:prstGeom prst="rect">
            <a:avLst/>
          </a:prstGeom>
          <a:noFill/>
          <a:ln/>
        </p:spPr>
        <p:txBody>
          <a:bodyPr wrap="square" lIns="0" tIns="0" rIns="0" bIns="0" rtlCol="0" anchor="ctr"/>
          <a:lstStyle/>
          <a:p>
            <a:pPr indent="0" marL="0">
              <a:buNone/>
            </a:pPr>
            <a:r>
              <a:rPr lang="en-US" sz="900" dirty="0">
                <a:solidFill>
                  <a:srgbClr val="5B6480"/>
                </a:solidFill>
                <a:latin typeface="Yu Gothic" pitchFamily="34" charset="0"/>
                <a:ea typeface="Yu Gothic" pitchFamily="34" charset="-122"/>
                <a:cs typeface="Yu Gothic" pitchFamily="34" charset="-120"/>
              </a:rPr>
              <a:t>救済者 × ガバナンス</a:t>
            </a:r>
            <a:endParaRPr lang="en-US" sz="900" dirty="0"/>
          </a:p>
        </p:txBody>
      </p:sp>
      <p:sp>
        <p:nvSpPr>
          <p:cNvPr id="23" name="Text 19"/>
          <p:cNvSpPr/>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FFFFFF"/>
                </a:solidFill>
                <a:latin typeface="Yu Gothic" pitchFamily="34" charset="0"/>
                <a:ea typeface="Yu Gothic" pitchFamily="34" charset="-122"/>
                <a:cs typeface="Yu Gothic" pitchFamily="34" charset="-120"/>
              </a:rPr>
              <a:t>「聞く」のではなく「行動を見る」</a:t>
            </a:r>
            <a:endParaRPr lang="en-US" sz="3000" dirty="0"/>
          </a:p>
        </p:txBody>
      </p:sp>
      <p:sp>
        <p:nvSpPr>
          <p:cNvPr id="3" name="Text 1"/>
          <p:cNvSpPr/>
          <p:nvPr/>
        </p:nvSpPr>
        <p:spPr>
          <a:xfrm>
            <a:off x="548640" y="1207008"/>
            <a:ext cx="11094415" cy="365760"/>
          </a:xfrm>
          <a:prstGeom prst="rect">
            <a:avLst/>
          </a:prstGeom>
          <a:noFill/>
          <a:ln/>
        </p:spPr>
        <p:txBody>
          <a:bodyPr wrap="square" lIns="0" tIns="0" rIns="0" bIns="0" rtlCol="0" anchor="ctr"/>
          <a:lstStyle/>
          <a:p>
            <a:pPr algn="l" indent="0" marL="0">
              <a:buNone/>
            </a:pPr>
            <a:r>
              <a:rPr lang="en-US" sz="1400" dirty="0">
                <a:solidFill>
                  <a:srgbClr val="9AA4C0"/>
                </a:solidFill>
                <a:latin typeface="Yu Gothic" pitchFamily="34" charset="0"/>
                <a:ea typeface="Yu Gothic" pitchFamily="34" charset="-122"/>
                <a:cs typeface="Yu Gothic" pitchFamily="34" charset="-120"/>
              </a:rPr>
              <a:t>本人に尋ねても本心は出ない。だから自己申告は一切取らず、行動の痕跡だけを評価した。</a:t>
            </a:r>
            <a:endParaRPr lang="en-US" sz="1400" dirty="0"/>
          </a:p>
        </p:txBody>
      </p:sp>
      <p:sp>
        <p:nvSpPr>
          <p:cNvPr id="4" name="Shape 2"/>
          <p:cNvSpPr/>
          <p:nvPr/>
        </p:nvSpPr>
        <p:spPr>
          <a:xfrm>
            <a:off x="548640" y="1965960"/>
            <a:ext cx="5349240" cy="1371600"/>
          </a:xfrm>
          <a:prstGeom prst="roundRect">
            <a:avLst>
              <a:gd name="adj" fmla="val 8000"/>
            </a:avLst>
          </a:prstGeom>
          <a:solidFill>
            <a:srgbClr val="16213A"/>
          </a:solidFill>
          <a:ln/>
          <a:effectLst>
            <a:outerShdw sx="100000" sy="100000" kx="0" ky="0" algn="bl" rotWithShape="0" blurRad="101600" dist="38100" dir="5400000">
              <a:srgbClr val="000000">
                <a:alpha val="35000"/>
              </a:srgbClr>
            </a:outerShdw>
          </a:effectLst>
        </p:spPr>
      </p:sp>
      <p:sp>
        <p:nvSpPr>
          <p:cNvPr id="5" name="Shape 3"/>
          <p:cNvSpPr/>
          <p:nvPr/>
        </p:nvSpPr>
        <p:spPr>
          <a:xfrm>
            <a:off x="914400" y="2377440"/>
            <a:ext cx="548640" cy="548640"/>
          </a:xfrm>
          <a:prstGeom prst="ellipse">
            <a:avLst/>
          </a:prstGeom>
          <a:solidFill>
            <a:srgbClr val="5B6480"/>
          </a:solidFill>
          <a:ln w="9525">
            <a:solidFill>
              <a:srgbClr val="5B6480"/>
            </a:solidFill>
            <a:prstDash val="solid"/>
          </a:ln>
        </p:spPr>
      </p:sp>
      <p:pic>
        <p:nvPicPr>
          <p:cNvPr id="6" name="Image 0" descr="preencoded.png">    </p:cNvPr>
          <p:cNvPicPr>
            <a:picLocks noChangeAspect="1"/>
          </p:cNvPicPr>
          <p:nvPr/>
        </p:nvPicPr>
        <p:blipFill>
          <a:blip r:embed="rId1"/>
          <a:stretch>
            <a:fillRect/>
          </a:stretch>
        </p:blipFill>
        <p:spPr>
          <a:xfrm>
            <a:off x="1057046" y="2520086"/>
            <a:ext cx="263347" cy="263347"/>
          </a:xfrm>
          <a:prstGeom prst="rect">
            <a:avLst/>
          </a:prstGeom>
        </p:spPr>
      </p:pic>
      <p:sp>
        <p:nvSpPr>
          <p:cNvPr id="7" name="Text 4"/>
          <p:cNvSpPr/>
          <p:nvPr/>
        </p:nvSpPr>
        <p:spPr>
          <a:xfrm>
            <a:off x="1828800" y="2167128"/>
            <a:ext cx="3840480" cy="320040"/>
          </a:xfrm>
          <a:prstGeom prst="rect">
            <a:avLst/>
          </a:prstGeom>
          <a:noFill/>
          <a:ln/>
        </p:spPr>
        <p:txBody>
          <a:bodyPr wrap="square" lIns="0" tIns="0" rIns="0" bIns="0" rtlCol="0" anchor="ctr"/>
          <a:lstStyle/>
          <a:p>
            <a:pPr indent="0" marL="0">
              <a:buNone/>
            </a:pPr>
            <a:r>
              <a:rPr lang="en-US" sz="1200" b="1" dirty="0">
                <a:solidFill>
                  <a:srgbClr val="9AA4C0"/>
                </a:solidFill>
                <a:latin typeface="Yu Gothic" pitchFamily="34" charset="0"/>
                <a:ea typeface="Yu Gothic" pitchFamily="34" charset="-122"/>
                <a:cs typeface="Yu Gothic" pitchFamily="34" charset="-120"/>
              </a:rPr>
              <a:t>本人に聞くと</a:t>
            </a:r>
            <a:endParaRPr lang="en-US" sz="1200" dirty="0"/>
          </a:p>
        </p:txBody>
      </p:sp>
      <p:sp>
        <p:nvSpPr>
          <p:cNvPr id="8" name="Text 5"/>
          <p:cNvSpPr/>
          <p:nvPr/>
        </p:nvSpPr>
        <p:spPr>
          <a:xfrm>
            <a:off x="1828800" y="2514600"/>
            <a:ext cx="3840480" cy="502920"/>
          </a:xfrm>
          <a:prstGeom prst="rect">
            <a:avLst/>
          </a:prstGeom>
          <a:noFill/>
          <a:ln/>
        </p:spPr>
        <p:txBody>
          <a:bodyPr wrap="square" lIns="0" tIns="0" rIns="0" bIns="0" rtlCol="0" anchor="ctr"/>
          <a:lstStyle/>
          <a:p>
            <a:pPr indent="0" marL="0">
              <a:buNone/>
            </a:pPr>
            <a:r>
              <a:rPr lang="en-US" sz="1700" b="1" dirty="0">
                <a:solidFill>
                  <a:srgbClr val="FFFFFF"/>
                </a:solidFill>
                <a:latin typeface="Yu Gothic" pitchFamily="34" charset="0"/>
                <a:ea typeface="Yu Gothic" pitchFamily="34" charset="-122"/>
                <a:cs typeface="Yu Gothic" pitchFamily="34" charset="-120"/>
              </a:rPr>
              <a:t>「はい、大丈夫です」</a:t>
            </a:r>
            <a:endParaRPr lang="en-US" sz="1700" dirty="0"/>
          </a:p>
        </p:txBody>
      </p:sp>
      <p:sp>
        <p:nvSpPr>
          <p:cNvPr id="9" name="Text 6"/>
          <p:cNvSpPr/>
          <p:nvPr/>
        </p:nvSpPr>
        <p:spPr>
          <a:xfrm>
            <a:off x="5897880" y="1965960"/>
            <a:ext cx="868680" cy="1371600"/>
          </a:xfrm>
          <a:prstGeom prst="rect">
            <a:avLst/>
          </a:prstGeom>
          <a:noFill/>
          <a:ln/>
        </p:spPr>
        <p:txBody>
          <a:bodyPr wrap="square" lIns="0" tIns="0" rIns="0" bIns="0" rtlCol="0" anchor="ctr"/>
          <a:lstStyle/>
          <a:p>
            <a:pPr algn="ctr" indent="0" marL="0">
              <a:buNone/>
            </a:pPr>
            <a:r>
              <a:rPr lang="en-US" sz="2600" b="1" dirty="0">
                <a:solidFill>
                  <a:srgbClr val="E2665A"/>
                </a:solidFill>
                <a:latin typeface="Yu Gothic" pitchFamily="34" charset="0"/>
                <a:ea typeface="Yu Gothic" pitchFamily="34" charset="-122"/>
                <a:cs typeface="Yu Gothic" pitchFamily="34" charset="-120"/>
              </a:rPr>
              <a:t>≠</a:t>
            </a:r>
            <a:endParaRPr lang="en-US" sz="2600" dirty="0"/>
          </a:p>
        </p:txBody>
      </p:sp>
      <p:sp>
        <p:nvSpPr>
          <p:cNvPr id="10" name="Shape 7"/>
          <p:cNvSpPr/>
          <p:nvPr/>
        </p:nvSpPr>
        <p:spPr>
          <a:xfrm>
            <a:off x="6766560" y="1965960"/>
            <a:ext cx="4873752" cy="1371600"/>
          </a:xfrm>
          <a:prstGeom prst="roundRect">
            <a:avLst>
              <a:gd name="adj" fmla="val 8000"/>
            </a:avLst>
          </a:prstGeom>
          <a:solidFill>
            <a:srgbClr val="1C2C4A"/>
          </a:solidFill>
          <a:ln/>
          <a:effectLst>
            <a:outerShdw sx="100000" sy="100000" kx="0" ky="0" algn="bl" rotWithShape="0" blurRad="101600" dist="38100" dir="5400000">
              <a:srgbClr val="000000">
                <a:alpha val="35000"/>
              </a:srgbClr>
            </a:outerShdw>
          </a:effectLst>
        </p:spPr>
      </p:sp>
      <p:sp>
        <p:nvSpPr>
          <p:cNvPr id="11" name="Shape 8"/>
          <p:cNvSpPr/>
          <p:nvPr/>
        </p:nvSpPr>
        <p:spPr>
          <a:xfrm>
            <a:off x="7132320" y="2377440"/>
            <a:ext cx="548640" cy="548640"/>
          </a:xfrm>
          <a:prstGeom prst="ellipse">
            <a:avLst/>
          </a:prstGeom>
          <a:solidFill>
            <a:srgbClr val="E8A33D"/>
          </a:solidFill>
          <a:ln w="9525">
            <a:solidFill>
              <a:srgbClr val="E8A33D"/>
            </a:solidFill>
            <a:prstDash val="solid"/>
          </a:ln>
        </p:spPr>
      </p:sp>
      <p:pic>
        <p:nvPicPr>
          <p:cNvPr id="12" name="Image 1" descr="preencoded.png">    </p:cNvPr>
          <p:cNvPicPr>
            <a:picLocks noChangeAspect="1"/>
          </p:cNvPicPr>
          <p:nvPr/>
        </p:nvPicPr>
        <p:blipFill>
          <a:blip r:embed="rId2"/>
          <a:stretch>
            <a:fillRect/>
          </a:stretch>
        </p:blipFill>
        <p:spPr>
          <a:xfrm>
            <a:off x="7274966" y="2520086"/>
            <a:ext cx="263347" cy="263347"/>
          </a:xfrm>
          <a:prstGeom prst="rect">
            <a:avLst/>
          </a:prstGeom>
        </p:spPr>
      </p:pic>
      <p:sp>
        <p:nvSpPr>
          <p:cNvPr id="13" name="Text 9"/>
          <p:cNvSpPr/>
          <p:nvPr/>
        </p:nvSpPr>
        <p:spPr>
          <a:xfrm>
            <a:off x="8046720" y="2167128"/>
            <a:ext cx="3383280" cy="320040"/>
          </a:xfrm>
          <a:prstGeom prst="rect">
            <a:avLst/>
          </a:prstGeom>
          <a:noFill/>
          <a:ln/>
        </p:spPr>
        <p:txBody>
          <a:bodyPr wrap="square" lIns="0" tIns="0" rIns="0" bIns="0" rtlCol="0" anchor="ctr"/>
          <a:lstStyle/>
          <a:p>
            <a:pPr indent="0" marL="0">
              <a:buNone/>
            </a:pPr>
            <a:r>
              <a:rPr lang="en-US" sz="1200" b="1" dirty="0">
                <a:solidFill>
                  <a:srgbClr val="F4C878"/>
                </a:solidFill>
                <a:latin typeface="Yu Gothic" pitchFamily="34" charset="0"/>
                <a:ea typeface="Yu Gothic" pitchFamily="34" charset="-122"/>
                <a:cs typeface="Yu Gothic" pitchFamily="34" charset="-120"/>
              </a:rPr>
              <a:t>実際の行動は</a:t>
            </a:r>
            <a:endParaRPr lang="en-US" sz="1200" dirty="0"/>
          </a:p>
        </p:txBody>
      </p:sp>
      <p:sp>
        <p:nvSpPr>
          <p:cNvPr id="14" name="Text 10"/>
          <p:cNvSpPr/>
          <p:nvPr/>
        </p:nvSpPr>
        <p:spPr>
          <a:xfrm>
            <a:off x="8046720" y="2514600"/>
            <a:ext cx="3383280" cy="685800"/>
          </a:xfrm>
          <a:prstGeom prst="rect">
            <a:avLst/>
          </a:prstGeom>
          <a:noFill/>
          <a:ln/>
        </p:spPr>
        <p:txBody>
          <a:bodyPr wrap="square" lIns="0" tIns="0" rIns="0" bIns="0" rtlCol="0" anchor="ctr"/>
          <a:lstStyle/>
          <a:p>
            <a:pPr indent="0" marL="0">
              <a:lnSpc>
                <a:spcPct val="115000"/>
              </a:lnSpc>
              <a:buNone/>
            </a:pPr>
            <a:r>
              <a:rPr lang="en-US" sz="1350" b="1" dirty="0">
                <a:solidFill>
                  <a:srgbClr val="FFFFFF"/>
                </a:solidFill>
                <a:latin typeface="Yu Gothic" pitchFamily="34" charset="0"/>
                <a:ea typeface="Yu Gothic" pitchFamily="34" charset="-122"/>
                <a:cs typeface="Yu Gothic" pitchFamily="34" charset="-120"/>
              </a:rPr>
              <a:t>毎回同じ一人に確認し、</a:t>
            </a:r>
            <a:endParaRPr lang="en-US" sz="1350" dirty="0"/>
          </a:p>
          <a:p>
            <a:pPr indent="0" marL="0">
              <a:lnSpc>
                <a:spcPct val="115000"/>
              </a:lnSpc>
              <a:buNone/>
            </a:pPr>
            <a:r>
              <a:rPr lang="en-US" sz="1350" b="1" dirty="0">
                <a:solidFill>
                  <a:srgbClr val="FFFFFF"/>
                </a:solidFill>
                <a:latin typeface="Yu Gothic" pitchFamily="34" charset="0"/>
                <a:ea typeface="Yu Gothic" pitchFamily="34" charset="-122"/>
                <a:cs typeface="Yu Gothic" pitchFamily="34" charset="-120"/>
              </a:rPr>
              <a:t>自分では判断しない</a:t>
            </a:r>
            <a:endParaRPr lang="en-US" sz="1350" dirty="0"/>
          </a:p>
        </p:txBody>
      </p:sp>
      <p:sp>
        <p:nvSpPr>
          <p:cNvPr id="15" name="Text 11"/>
          <p:cNvSpPr/>
          <p:nvPr/>
        </p:nvSpPr>
        <p:spPr>
          <a:xfrm>
            <a:off x="548640" y="3611880"/>
            <a:ext cx="11091672" cy="365760"/>
          </a:xfrm>
          <a:prstGeom prst="rect">
            <a:avLst/>
          </a:prstGeom>
          <a:noFill/>
          <a:ln/>
        </p:spPr>
        <p:txBody>
          <a:bodyPr wrap="square" lIns="0" tIns="0" rIns="0" bIns="0" rtlCol="0" anchor="ctr"/>
          <a:lstStyle/>
          <a:p>
            <a:pPr indent="0" marL="0">
              <a:buNone/>
            </a:pPr>
            <a:r>
              <a:rPr lang="en-US" sz="1300" b="1" dirty="0">
                <a:solidFill>
                  <a:srgbClr val="AFC9EE"/>
                </a:solidFill>
                <a:latin typeface="Yu Gothic" pitchFamily="34" charset="0"/>
                <a:ea typeface="Yu Gothic" pitchFamily="34" charset="-122"/>
                <a:cs typeface="Yu Gothic" pitchFamily="34" charset="-120"/>
              </a:rPr>
              <a:t>採点で実際に拾っている行動シグナル</a:t>
            </a:r>
            <a:endParaRPr lang="en-US" sz="1300" dirty="0"/>
          </a:p>
        </p:txBody>
      </p:sp>
      <p:sp>
        <p:nvSpPr>
          <p:cNvPr id="16" name="Shape 12"/>
          <p:cNvSpPr/>
          <p:nvPr/>
        </p:nvSpPr>
        <p:spPr>
          <a:xfrm>
            <a:off x="548640" y="4069080"/>
            <a:ext cx="2635758" cy="1234440"/>
          </a:xfrm>
          <a:prstGeom prst="roundRect">
            <a:avLst>
              <a:gd name="adj" fmla="val 7407"/>
            </a:avLst>
          </a:prstGeom>
          <a:solidFill>
            <a:srgbClr val="16213A"/>
          </a:solidFill>
          <a:ln/>
          <a:effectLst>
            <a:outerShdw sx="100000" sy="100000" kx="0" ky="0" algn="bl" rotWithShape="0" blurRad="101600" dist="38100" dir="5400000">
              <a:srgbClr val="000000">
                <a:alpha val="35000"/>
              </a:srgbClr>
            </a:outerShdw>
          </a:effectLst>
        </p:spPr>
      </p:sp>
      <p:sp>
        <p:nvSpPr>
          <p:cNvPr id="17" name="Shape 13"/>
          <p:cNvSpPr/>
          <p:nvPr/>
        </p:nvSpPr>
        <p:spPr>
          <a:xfrm>
            <a:off x="777240" y="4297680"/>
            <a:ext cx="274320" cy="274320"/>
          </a:xfrm>
          <a:prstGeom prst="ellipse">
            <a:avLst/>
          </a:prstGeom>
          <a:solidFill>
            <a:srgbClr val="E8A33D"/>
          </a:solidFill>
          <a:ln/>
        </p:spPr>
      </p:sp>
      <p:sp>
        <p:nvSpPr>
          <p:cNvPr id="18" name="Text 14"/>
          <p:cNvSpPr/>
          <p:nvPr/>
        </p:nvSpPr>
        <p:spPr>
          <a:xfrm>
            <a:off x="777240" y="4297680"/>
            <a:ext cx="274320" cy="274320"/>
          </a:xfrm>
          <a:prstGeom prst="rect">
            <a:avLst/>
          </a:prstGeom>
          <a:noFill/>
          <a:ln/>
        </p:spPr>
        <p:txBody>
          <a:bodyPr wrap="square" lIns="0" tIns="0" rIns="0" bIns="0" rtlCol="0" anchor="ctr"/>
          <a:lstStyle/>
          <a:p>
            <a:pPr algn="ctr" indent="0" marL="0">
              <a:buNone/>
            </a:pPr>
            <a:r>
              <a:rPr lang="en-US" sz="1200" b="1" dirty="0">
                <a:solidFill>
                  <a:srgbClr val="0B1220"/>
                </a:solidFill>
                <a:latin typeface="Yu Gothic" pitchFamily="34" charset="0"/>
                <a:ea typeface="Yu Gothic" pitchFamily="34" charset="-122"/>
                <a:cs typeface="Yu Gothic" pitchFamily="34" charset="-120"/>
              </a:rPr>
              <a:t>1</a:t>
            </a:r>
            <a:endParaRPr lang="en-US" sz="1200" dirty="0"/>
          </a:p>
        </p:txBody>
      </p:sp>
      <p:sp>
        <p:nvSpPr>
          <p:cNvPr id="19" name="Text 15"/>
          <p:cNvSpPr/>
          <p:nvPr/>
        </p:nvSpPr>
        <p:spPr>
          <a:xfrm>
            <a:off x="777240" y="4636008"/>
            <a:ext cx="2178558" cy="548640"/>
          </a:xfrm>
          <a:prstGeom prst="rect">
            <a:avLst/>
          </a:prstGeom>
          <a:noFill/>
          <a:ln/>
        </p:spPr>
        <p:txBody>
          <a:bodyPr wrap="square" lIns="0" tIns="0" rIns="0" bIns="0" rtlCol="0" anchor="ctr"/>
          <a:lstStyle/>
          <a:p>
            <a:pPr indent="0" marL="0">
              <a:lnSpc>
                <a:spcPct val="120000"/>
              </a:lnSpc>
              <a:buNone/>
            </a:pPr>
            <a:r>
              <a:rPr lang="en-US" sz="1150" dirty="0">
                <a:solidFill>
                  <a:srgbClr val="AFC9EE"/>
                </a:solidFill>
                <a:latin typeface="Yu Gothic" pitchFamily="34" charset="0"/>
                <a:ea typeface="Yu Gothic" pitchFamily="34" charset="-122"/>
                <a:cs typeface="Yu Gothic" pitchFamily="34" charset="-120"/>
              </a:rPr>
              <a:t>同じ相手にばかり相談・確認していないか</a:t>
            </a:r>
            <a:endParaRPr lang="en-US" sz="1150" dirty="0"/>
          </a:p>
        </p:txBody>
      </p:sp>
      <p:sp>
        <p:nvSpPr>
          <p:cNvPr id="20" name="Shape 16"/>
          <p:cNvSpPr/>
          <p:nvPr/>
        </p:nvSpPr>
        <p:spPr>
          <a:xfrm>
            <a:off x="3367278" y="4069080"/>
            <a:ext cx="2635758" cy="1234440"/>
          </a:xfrm>
          <a:prstGeom prst="roundRect">
            <a:avLst>
              <a:gd name="adj" fmla="val 7407"/>
            </a:avLst>
          </a:prstGeom>
          <a:solidFill>
            <a:srgbClr val="16213A"/>
          </a:solidFill>
          <a:ln/>
          <a:effectLst>
            <a:outerShdw sx="100000" sy="100000" kx="0" ky="0" algn="bl" rotWithShape="0" blurRad="101600" dist="38100" dir="5400000">
              <a:srgbClr val="000000">
                <a:alpha val="35000"/>
              </a:srgbClr>
            </a:outerShdw>
          </a:effectLst>
        </p:spPr>
      </p:sp>
      <p:sp>
        <p:nvSpPr>
          <p:cNvPr id="21" name="Shape 17"/>
          <p:cNvSpPr/>
          <p:nvPr/>
        </p:nvSpPr>
        <p:spPr>
          <a:xfrm>
            <a:off x="3595878" y="4297680"/>
            <a:ext cx="274320" cy="274320"/>
          </a:xfrm>
          <a:prstGeom prst="ellipse">
            <a:avLst/>
          </a:prstGeom>
          <a:solidFill>
            <a:srgbClr val="E8A33D"/>
          </a:solidFill>
          <a:ln/>
        </p:spPr>
      </p:sp>
      <p:sp>
        <p:nvSpPr>
          <p:cNvPr id="22" name="Text 18"/>
          <p:cNvSpPr/>
          <p:nvPr/>
        </p:nvSpPr>
        <p:spPr>
          <a:xfrm>
            <a:off x="3595878" y="4297680"/>
            <a:ext cx="274320" cy="274320"/>
          </a:xfrm>
          <a:prstGeom prst="rect">
            <a:avLst/>
          </a:prstGeom>
          <a:noFill/>
          <a:ln/>
        </p:spPr>
        <p:txBody>
          <a:bodyPr wrap="square" lIns="0" tIns="0" rIns="0" bIns="0" rtlCol="0" anchor="ctr"/>
          <a:lstStyle/>
          <a:p>
            <a:pPr algn="ctr" indent="0" marL="0">
              <a:buNone/>
            </a:pPr>
            <a:r>
              <a:rPr lang="en-US" sz="1200" b="1" dirty="0">
                <a:solidFill>
                  <a:srgbClr val="0B1220"/>
                </a:solidFill>
                <a:latin typeface="Yu Gothic" pitchFamily="34" charset="0"/>
                <a:ea typeface="Yu Gothic" pitchFamily="34" charset="-122"/>
                <a:cs typeface="Yu Gothic" pitchFamily="34" charset="-120"/>
              </a:rPr>
              <a:t>2</a:t>
            </a:r>
            <a:endParaRPr lang="en-US" sz="1200" dirty="0"/>
          </a:p>
        </p:txBody>
      </p:sp>
      <p:sp>
        <p:nvSpPr>
          <p:cNvPr id="23" name="Text 19"/>
          <p:cNvSpPr/>
          <p:nvPr/>
        </p:nvSpPr>
        <p:spPr>
          <a:xfrm>
            <a:off x="3595878" y="4636008"/>
            <a:ext cx="2178558" cy="548640"/>
          </a:xfrm>
          <a:prstGeom prst="rect">
            <a:avLst/>
          </a:prstGeom>
          <a:noFill/>
          <a:ln/>
        </p:spPr>
        <p:txBody>
          <a:bodyPr wrap="square" lIns="0" tIns="0" rIns="0" bIns="0" rtlCol="0" anchor="ctr"/>
          <a:lstStyle/>
          <a:p>
            <a:pPr indent="0" marL="0">
              <a:lnSpc>
                <a:spcPct val="120000"/>
              </a:lnSpc>
              <a:buNone/>
            </a:pPr>
            <a:r>
              <a:rPr lang="en-US" sz="1150" dirty="0">
                <a:solidFill>
                  <a:srgbClr val="AFC9EE"/>
                </a:solidFill>
                <a:latin typeface="Yu Gothic" pitchFamily="34" charset="0"/>
                <a:ea typeface="Yu Gothic" pitchFamily="34" charset="-122"/>
                <a:cs typeface="Yu Gothic" pitchFamily="34" charset="-120"/>
              </a:rPr>
              <a:t>自分で判断せず許可を求めていないか</a:t>
            </a:r>
            <a:endParaRPr lang="en-US" sz="1150" dirty="0"/>
          </a:p>
        </p:txBody>
      </p:sp>
      <p:sp>
        <p:nvSpPr>
          <p:cNvPr id="24" name="Shape 20"/>
          <p:cNvSpPr/>
          <p:nvPr/>
        </p:nvSpPr>
        <p:spPr>
          <a:xfrm>
            <a:off x="6185916" y="4069080"/>
            <a:ext cx="2635758" cy="1234440"/>
          </a:xfrm>
          <a:prstGeom prst="roundRect">
            <a:avLst>
              <a:gd name="adj" fmla="val 7407"/>
            </a:avLst>
          </a:prstGeom>
          <a:solidFill>
            <a:srgbClr val="16213A"/>
          </a:solidFill>
          <a:ln/>
          <a:effectLst>
            <a:outerShdw sx="100000" sy="100000" kx="0" ky="0" algn="bl" rotWithShape="0" blurRad="101600" dist="38100" dir="5400000">
              <a:srgbClr val="000000">
                <a:alpha val="35000"/>
              </a:srgbClr>
            </a:outerShdw>
          </a:effectLst>
        </p:spPr>
      </p:sp>
      <p:sp>
        <p:nvSpPr>
          <p:cNvPr id="25" name="Shape 21"/>
          <p:cNvSpPr/>
          <p:nvPr/>
        </p:nvSpPr>
        <p:spPr>
          <a:xfrm>
            <a:off x="6414516" y="4297680"/>
            <a:ext cx="274320" cy="274320"/>
          </a:xfrm>
          <a:prstGeom prst="ellipse">
            <a:avLst/>
          </a:prstGeom>
          <a:solidFill>
            <a:srgbClr val="E8A33D"/>
          </a:solidFill>
          <a:ln/>
        </p:spPr>
      </p:sp>
      <p:sp>
        <p:nvSpPr>
          <p:cNvPr id="26" name="Text 22"/>
          <p:cNvSpPr/>
          <p:nvPr/>
        </p:nvSpPr>
        <p:spPr>
          <a:xfrm>
            <a:off x="6414516" y="4297680"/>
            <a:ext cx="274320" cy="274320"/>
          </a:xfrm>
          <a:prstGeom prst="rect">
            <a:avLst/>
          </a:prstGeom>
          <a:noFill/>
          <a:ln/>
        </p:spPr>
        <p:txBody>
          <a:bodyPr wrap="square" lIns="0" tIns="0" rIns="0" bIns="0" rtlCol="0" anchor="ctr"/>
          <a:lstStyle/>
          <a:p>
            <a:pPr algn="ctr" indent="0" marL="0">
              <a:buNone/>
            </a:pPr>
            <a:r>
              <a:rPr lang="en-US" sz="1200" b="1" dirty="0">
                <a:solidFill>
                  <a:srgbClr val="0B1220"/>
                </a:solidFill>
                <a:latin typeface="Yu Gothic" pitchFamily="34" charset="0"/>
                <a:ea typeface="Yu Gothic" pitchFamily="34" charset="-122"/>
                <a:cs typeface="Yu Gothic" pitchFamily="34" charset="-120"/>
              </a:rPr>
              <a:t>3</a:t>
            </a:r>
            <a:endParaRPr lang="en-US" sz="1200" dirty="0"/>
          </a:p>
        </p:txBody>
      </p:sp>
      <p:sp>
        <p:nvSpPr>
          <p:cNvPr id="27" name="Text 23"/>
          <p:cNvSpPr/>
          <p:nvPr/>
        </p:nvSpPr>
        <p:spPr>
          <a:xfrm>
            <a:off x="6414516" y="4636008"/>
            <a:ext cx="2178558" cy="548640"/>
          </a:xfrm>
          <a:prstGeom prst="rect">
            <a:avLst/>
          </a:prstGeom>
          <a:noFill/>
          <a:ln/>
        </p:spPr>
        <p:txBody>
          <a:bodyPr wrap="square" lIns="0" tIns="0" rIns="0" bIns="0" rtlCol="0" anchor="ctr"/>
          <a:lstStyle/>
          <a:p>
            <a:pPr indent="0" marL="0">
              <a:lnSpc>
                <a:spcPct val="120000"/>
              </a:lnSpc>
              <a:buNone/>
            </a:pPr>
            <a:r>
              <a:rPr lang="en-US" sz="1150" dirty="0">
                <a:solidFill>
                  <a:srgbClr val="AFC9EE"/>
                </a:solidFill>
                <a:latin typeface="Yu Gothic" pitchFamily="34" charset="0"/>
                <a:ea typeface="Yu Gothic" pitchFamily="34" charset="-122"/>
                <a:cs typeface="Yu Gothic" pitchFamily="34" charset="-120"/>
              </a:rPr>
              <a:t>その人が不在のとき行動が止まらないか</a:t>
            </a:r>
            <a:endParaRPr lang="en-US" sz="1150" dirty="0"/>
          </a:p>
        </p:txBody>
      </p:sp>
      <p:sp>
        <p:nvSpPr>
          <p:cNvPr id="28" name="Shape 24"/>
          <p:cNvSpPr/>
          <p:nvPr/>
        </p:nvSpPr>
        <p:spPr>
          <a:xfrm>
            <a:off x="9004554" y="4069080"/>
            <a:ext cx="2635758" cy="1234440"/>
          </a:xfrm>
          <a:prstGeom prst="roundRect">
            <a:avLst>
              <a:gd name="adj" fmla="val 7407"/>
            </a:avLst>
          </a:prstGeom>
          <a:solidFill>
            <a:srgbClr val="16213A"/>
          </a:solidFill>
          <a:ln/>
          <a:effectLst>
            <a:outerShdw sx="100000" sy="100000" kx="0" ky="0" algn="bl" rotWithShape="0" blurRad="101600" dist="38100" dir="5400000">
              <a:srgbClr val="000000">
                <a:alpha val="35000"/>
              </a:srgbClr>
            </a:outerShdw>
          </a:effectLst>
        </p:spPr>
      </p:sp>
      <p:sp>
        <p:nvSpPr>
          <p:cNvPr id="29" name="Shape 25"/>
          <p:cNvSpPr/>
          <p:nvPr/>
        </p:nvSpPr>
        <p:spPr>
          <a:xfrm>
            <a:off x="9233154" y="4297680"/>
            <a:ext cx="274320" cy="274320"/>
          </a:xfrm>
          <a:prstGeom prst="ellipse">
            <a:avLst/>
          </a:prstGeom>
          <a:solidFill>
            <a:srgbClr val="E8A33D"/>
          </a:solidFill>
          <a:ln/>
        </p:spPr>
      </p:sp>
      <p:sp>
        <p:nvSpPr>
          <p:cNvPr id="30" name="Text 26"/>
          <p:cNvSpPr/>
          <p:nvPr/>
        </p:nvSpPr>
        <p:spPr>
          <a:xfrm>
            <a:off x="9233154" y="4297680"/>
            <a:ext cx="274320" cy="274320"/>
          </a:xfrm>
          <a:prstGeom prst="rect">
            <a:avLst/>
          </a:prstGeom>
          <a:noFill/>
          <a:ln/>
        </p:spPr>
        <p:txBody>
          <a:bodyPr wrap="square" lIns="0" tIns="0" rIns="0" bIns="0" rtlCol="0" anchor="ctr"/>
          <a:lstStyle/>
          <a:p>
            <a:pPr algn="ctr" indent="0" marL="0">
              <a:buNone/>
            </a:pPr>
            <a:r>
              <a:rPr lang="en-US" sz="1200" b="1" dirty="0">
                <a:solidFill>
                  <a:srgbClr val="0B1220"/>
                </a:solidFill>
                <a:latin typeface="Yu Gothic" pitchFamily="34" charset="0"/>
                <a:ea typeface="Yu Gothic" pitchFamily="34" charset="-122"/>
                <a:cs typeface="Yu Gothic" pitchFamily="34" charset="-120"/>
              </a:rPr>
              <a:t>4</a:t>
            </a:r>
            <a:endParaRPr lang="en-US" sz="1200" dirty="0"/>
          </a:p>
        </p:txBody>
      </p:sp>
      <p:sp>
        <p:nvSpPr>
          <p:cNvPr id="31" name="Text 27"/>
          <p:cNvSpPr/>
          <p:nvPr/>
        </p:nvSpPr>
        <p:spPr>
          <a:xfrm>
            <a:off x="9233154" y="4636008"/>
            <a:ext cx="2178558" cy="548640"/>
          </a:xfrm>
          <a:prstGeom prst="rect">
            <a:avLst/>
          </a:prstGeom>
          <a:noFill/>
          <a:ln/>
        </p:spPr>
        <p:txBody>
          <a:bodyPr wrap="square" lIns="0" tIns="0" rIns="0" bIns="0" rtlCol="0" anchor="ctr"/>
          <a:lstStyle/>
          <a:p>
            <a:pPr indent="0" marL="0">
              <a:lnSpc>
                <a:spcPct val="120000"/>
              </a:lnSpc>
              <a:buNone/>
            </a:pPr>
            <a:r>
              <a:rPr lang="en-US" sz="1150" dirty="0">
                <a:solidFill>
                  <a:srgbClr val="AFC9EE"/>
                </a:solidFill>
                <a:latin typeface="Yu Gothic" pitchFamily="34" charset="0"/>
                <a:ea typeface="Yu Gothic" pitchFamily="34" charset="-122"/>
                <a:cs typeface="Yu Gothic" pitchFamily="34" charset="-120"/>
              </a:rPr>
              <a:t>「大丈夫」の裏で不満がにじんでいないか</a:t>
            </a:r>
            <a:endParaRPr lang="en-US" sz="1150" dirty="0"/>
          </a:p>
        </p:txBody>
      </p:sp>
      <p:sp>
        <p:nvSpPr>
          <p:cNvPr id="32" name="Shape 28"/>
          <p:cNvSpPr/>
          <p:nvPr/>
        </p:nvSpPr>
        <p:spPr>
          <a:xfrm>
            <a:off x="548640" y="5532120"/>
            <a:ext cx="11091672" cy="777240"/>
          </a:xfrm>
          <a:prstGeom prst="roundRect">
            <a:avLst>
              <a:gd name="adj" fmla="val 11765"/>
            </a:avLst>
          </a:prstGeom>
          <a:solidFill>
            <a:srgbClr val="1C2C4A"/>
          </a:solidFill>
          <a:ln/>
          <a:effectLst>
            <a:outerShdw sx="100000" sy="100000" kx="0" ky="0" algn="bl" rotWithShape="0" blurRad="101600" dist="38100" dir="5400000">
              <a:srgbClr val="000000">
                <a:alpha val="35000"/>
              </a:srgbClr>
            </a:outerShdw>
          </a:effectLst>
        </p:spPr>
      </p:sp>
      <p:sp>
        <p:nvSpPr>
          <p:cNvPr id="33" name="Text 29"/>
          <p:cNvSpPr/>
          <p:nvPr/>
        </p:nvSpPr>
        <p:spPr>
          <a:xfrm>
            <a:off x="868680" y="5532120"/>
            <a:ext cx="10515600" cy="777240"/>
          </a:xfrm>
          <a:prstGeom prst="rect">
            <a:avLst/>
          </a:prstGeom>
          <a:noFill/>
          <a:ln/>
        </p:spPr>
        <p:txBody>
          <a:bodyPr wrap="square" lIns="0" tIns="0" rIns="0" bIns="0" rtlCol="0" anchor="ctr"/>
          <a:lstStyle/>
          <a:p>
            <a:pPr indent="0" marL="0">
              <a:buNone/>
            </a:pPr>
            <a:r>
              <a:rPr lang="en-US" sz="1350" dirty="0">
                <a:solidFill>
                  <a:srgbClr val="FFFFFF"/>
                </a:solidFill>
                <a:latin typeface="Yu Gothic" pitchFamily="34" charset="0"/>
                <a:ea typeface="Yu Gothic" pitchFamily="34" charset="-122"/>
                <a:cs typeface="Yu Gothic" pitchFamily="34" charset="-120"/>
              </a:rPr>
              <a:t>測っているのは「安心だと言ったか」ではなく、「安心している人がとるはずの行動を実際にとれていたか」。</a:t>
            </a:r>
            <a:endParaRPr lang="en-US" sz="1350" dirty="0"/>
          </a:p>
        </p:txBody>
      </p:sp>
      <p:sp>
        <p:nvSpPr>
          <p:cNvPr id="34" name="Text 30"/>
          <p:cNvSpPr/>
          <p:nvPr/>
        </p:nvSpPr>
        <p:spPr>
          <a:xfrm>
            <a:off x="548640" y="6473952"/>
            <a:ext cx="4572000" cy="274320"/>
          </a:xfrm>
          <a:prstGeom prst="rect">
            <a:avLst/>
          </a:prstGeom>
          <a:noFill/>
          <a:ln/>
        </p:spPr>
        <p:txBody>
          <a:bodyPr wrap="square" lIns="0" tIns="0" rIns="0" bIns="0" rtlCol="0" anchor="ctr"/>
          <a:lstStyle/>
          <a:p>
            <a:pPr indent="0" marL="0">
              <a:buNone/>
            </a:pPr>
            <a:r>
              <a:rPr lang="en-US" sz="900" dirty="0">
                <a:solidFill>
                  <a:srgbClr val="5B6480"/>
                </a:solidFill>
                <a:latin typeface="Yu Gothic" pitchFamily="34" charset="0"/>
                <a:ea typeface="Yu Gothic" pitchFamily="34" charset="-122"/>
                <a:cs typeface="Yu Gothic" pitchFamily="34" charset="-120"/>
              </a:rPr>
              <a:t>救済者 × ガバナンス</a:t>
            </a:r>
            <a:endParaRPr lang="en-US" sz="900" dirty="0"/>
          </a:p>
        </p:txBody>
      </p:sp>
      <p:sp>
        <p:nvSpPr>
          <p:cNvPr id="35" name="Text 31"/>
          <p:cNvSpPr/>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FFFFFF"/>
                </a:solidFill>
                <a:latin typeface="Yu Gothic" pitchFamily="34" charset="0"/>
                <a:ea typeface="Yu Gothic" pitchFamily="34" charset="-122"/>
                <a:cs typeface="Yu Gothic" pitchFamily="34" charset="-120"/>
              </a:rPr>
              <a:t>本番実行：A / B / C スコア比較</a:t>
            </a:r>
            <a:endParaRPr lang="en-US" sz="3000" dirty="0"/>
          </a:p>
        </p:txBody>
      </p:sp>
      <p:sp>
        <p:nvSpPr>
          <p:cNvPr id="3" name="Text 1"/>
          <p:cNvSpPr/>
          <p:nvPr/>
        </p:nvSpPr>
        <p:spPr>
          <a:xfrm>
            <a:off x="548640" y="1207008"/>
            <a:ext cx="11094415" cy="365760"/>
          </a:xfrm>
          <a:prstGeom prst="rect">
            <a:avLst/>
          </a:prstGeom>
          <a:noFill/>
          <a:ln/>
        </p:spPr>
        <p:txBody>
          <a:bodyPr wrap="square" lIns="0" tIns="0" rIns="0" bIns="0" rtlCol="0" anchor="ctr"/>
          <a:lstStyle/>
          <a:p>
            <a:pPr algn="l" indent="0" marL="0">
              <a:buNone/>
            </a:pPr>
            <a:r>
              <a:rPr lang="en-US" sz="1400" dirty="0">
                <a:solidFill>
                  <a:srgbClr val="9AA4C0"/>
                </a:solidFill>
                <a:latin typeface="Yu Gothic" pitchFamily="34" charset="0"/>
                <a:ea typeface="Yu Gothic" pitchFamily="34" charset="-122"/>
                <a:cs typeface="Yu Gothic" pitchFamily="34" charset="-120"/>
              </a:rPr>
              <a:t>各条件5回ずつ計15回実行した平均値（data/scores_*_aggregate.json）</a:t>
            </a:r>
            <a:endParaRPr lang="en-US" sz="1400" dirty="0"/>
          </a:p>
        </p:txBody>
      </p:sp>
      <p:graphicFrame>
        <p:nvGraphicFramePr>
          <p:cNvPr id="4" name="Chart 0" descr=""/>
          <p:cNvGraphicFramePr/>
          <p:nvPr/>
        </p:nvGraphicFramePr>
        <p:xfrm>
          <a:off x="548640" y="1600200"/>
          <a:ext cx="6492240" cy="384048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360920" y="1737360"/>
            <a:ext cx="4279392" cy="1170432"/>
          </a:xfrm>
          <a:prstGeom prst="roundRect">
            <a:avLst>
              <a:gd name="adj" fmla="val 9375"/>
            </a:avLst>
          </a:prstGeom>
          <a:solidFill>
            <a:srgbClr val="16213A"/>
          </a:solidFill>
          <a:ln/>
          <a:effectLst>
            <a:outerShdw sx="100000" sy="100000" kx="0" ky="0" algn="bl" rotWithShape="0" blurRad="101600" dist="38100" dir="5400000">
              <a:srgbClr val="000000">
                <a:alpha val="35000"/>
              </a:srgbClr>
            </a:outerShdw>
          </a:effectLst>
        </p:spPr>
      </p:sp>
      <p:sp>
        <p:nvSpPr>
          <p:cNvPr id="6" name="Text 3"/>
          <p:cNvSpPr/>
          <p:nvPr/>
        </p:nvSpPr>
        <p:spPr>
          <a:xfrm>
            <a:off x="7543800" y="1847088"/>
            <a:ext cx="1600200" cy="914400"/>
          </a:xfrm>
          <a:prstGeom prst="rect">
            <a:avLst/>
          </a:prstGeom>
          <a:noFill/>
          <a:ln/>
        </p:spPr>
        <p:txBody>
          <a:bodyPr wrap="square" lIns="0" tIns="0" rIns="0" bIns="0" rtlCol="0" anchor="ctr"/>
          <a:lstStyle/>
          <a:p>
            <a:pPr algn="ctr" indent="0" marL="0">
              <a:buNone/>
            </a:pPr>
            <a:r>
              <a:rPr lang="en-US" sz="2600" b="1" dirty="0">
                <a:solidFill>
                  <a:srgbClr val="E2665A"/>
                </a:solidFill>
                <a:latin typeface="Yu Gothic" pitchFamily="34" charset="0"/>
                <a:ea typeface="Yu Gothic" pitchFamily="34" charset="-122"/>
                <a:cs typeface="Yu Gothic" pitchFamily="34" charset="-120"/>
              </a:rPr>
              <a:t>± 0.0</a:t>
            </a:r>
            <a:endParaRPr lang="en-US" sz="2600" dirty="0"/>
          </a:p>
        </p:txBody>
      </p:sp>
      <p:sp>
        <p:nvSpPr>
          <p:cNvPr id="7" name="Text 4"/>
          <p:cNvSpPr/>
          <p:nvPr/>
        </p:nvSpPr>
        <p:spPr>
          <a:xfrm>
            <a:off x="9235440" y="1883664"/>
            <a:ext cx="2286000" cy="457200"/>
          </a:xfrm>
          <a:prstGeom prst="rect">
            <a:avLst/>
          </a:prstGeom>
          <a:noFill/>
          <a:ln/>
        </p:spPr>
        <p:txBody>
          <a:bodyPr wrap="square" lIns="0" tIns="0" rIns="0" bIns="0"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条件Bの標準偏差</a:t>
            </a:r>
            <a:endParaRPr lang="en-US" sz="1200" dirty="0"/>
          </a:p>
        </p:txBody>
      </p:sp>
      <p:sp>
        <p:nvSpPr>
          <p:cNvPr id="8" name="Text 5"/>
          <p:cNvSpPr/>
          <p:nvPr/>
        </p:nvSpPr>
        <p:spPr>
          <a:xfrm>
            <a:off x="9235440" y="2286000"/>
            <a:ext cx="2286000" cy="530352"/>
          </a:xfrm>
          <a:prstGeom prst="rect">
            <a:avLst/>
          </a:prstGeom>
          <a:noFill/>
          <a:ln/>
        </p:spPr>
        <p:txBody>
          <a:bodyPr wrap="square" lIns="0" tIns="0" rIns="0" bIns="0" rtlCol="0" anchor="ctr"/>
          <a:lstStyle/>
          <a:p>
            <a:pPr indent="0" marL="0">
              <a:lnSpc>
                <a:spcPct val="115000"/>
              </a:lnSpc>
              <a:buNone/>
            </a:pPr>
            <a:r>
              <a:rPr lang="en-US" sz="1000" dirty="0">
                <a:solidFill>
                  <a:srgbClr val="9AA4C0"/>
                </a:solidFill>
                <a:latin typeface="Yu Gothic" pitchFamily="34" charset="0"/>
                <a:ea typeface="Yu Gothic" pitchFamily="34" charset="-122"/>
                <a:cs typeface="Yu Gothic" pitchFamily="34" charset="-120"/>
              </a:rPr>
              <a:t>5回とも同じ点数。依存側は結果がぶれなかった</a:t>
            </a:r>
            <a:endParaRPr lang="en-US" sz="1000" dirty="0"/>
          </a:p>
        </p:txBody>
      </p:sp>
      <p:sp>
        <p:nvSpPr>
          <p:cNvPr id="9" name="Shape 6"/>
          <p:cNvSpPr/>
          <p:nvPr/>
        </p:nvSpPr>
        <p:spPr>
          <a:xfrm>
            <a:off x="7360920" y="3063240"/>
            <a:ext cx="4279392" cy="1170432"/>
          </a:xfrm>
          <a:prstGeom prst="roundRect">
            <a:avLst>
              <a:gd name="adj" fmla="val 9375"/>
            </a:avLst>
          </a:prstGeom>
          <a:solidFill>
            <a:srgbClr val="16213A"/>
          </a:solidFill>
          <a:ln/>
          <a:effectLst>
            <a:outerShdw sx="100000" sy="100000" kx="0" ky="0" algn="bl" rotWithShape="0" blurRad="101600" dist="38100" dir="5400000">
              <a:srgbClr val="000000">
                <a:alpha val="35000"/>
              </a:srgbClr>
            </a:outerShdw>
          </a:effectLst>
        </p:spPr>
      </p:sp>
      <p:sp>
        <p:nvSpPr>
          <p:cNvPr id="10" name="Text 7"/>
          <p:cNvSpPr/>
          <p:nvPr/>
        </p:nvSpPr>
        <p:spPr>
          <a:xfrm>
            <a:off x="7543800" y="3172968"/>
            <a:ext cx="1600200" cy="914400"/>
          </a:xfrm>
          <a:prstGeom prst="rect">
            <a:avLst/>
          </a:prstGeom>
          <a:noFill/>
          <a:ln/>
        </p:spPr>
        <p:txBody>
          <a:bodyPr wrap="square" lIns="0" tIns="0" rIns="0" bIns="0" rtlCol="0" anchor="ctr"/>
          <a:lstStyle/>
          <a:p>
            <a:pPr algn="ctr" indent="0" marL="0">
              <a:buNone/>
            </a:pPr>
            <a:r>
              <a:rPr lang="en-US" sz="2600" b="1" dirty="0">
                <a:solidFill>
                  <a:srgbClr val="E8A33D"/>
                </a:solidFill>
                <a:latin typeface="Yu Gothic" pitchFamily="34" charset="0"/>
                <a:ea typeface="Yu Gothic" pitchFamily="34" charset="-122"/>
                <a:cs typeface="Yu Gothic" pitchFamily="34" charset="-120"/>
              </a:rPr>
              <a:t>± 25.9</a:t>
            </a:r>
            <a:endParaRPr lang="en-US" sz="2600" dirty="0"/>
          </a:p>
        </p:txBody>
      </p:sp>
      <p:sp>
        <p:nvSpPr>
          <p:cNvPr id="11" name="Text 8"/>
          <p:cNvSpPr/>
          <p:nvPr/>
        </p:nvSpPr>
        <p:spPr>
          <a:xfrm>
            <a:off x="9235440" y="3209544"/>
            <a:ext cx="2286000" cy="457200"/>
          </a:xfrm>
          <a:prstGeom prst="rect">
            <a:avLst/>
          </a:prstGeom>
          <a:noFill/>
          <a:ln/>
        </p:spPr>
        <p:txBody>
          <a:bodyPr wrap="square" lIns="0" tIns="0" rIns="0" bIns="0"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条件Cの標準偏差</a:t>
            </a:r>
            <a:endParaRPr lang="en-US" sz="1200" dirty="0"/>
          </a:p>
        </p:txBody>
      </p:sp>
      <p:sp>
        <p:nvSpPr>
          <p:cNvPr id="12" name="Text 9"/>
          <p:cNvSpPr/>
          <p:nvPr/>
        </p:nvSpPr>
        <p:spPr>
          <a:xfrm>
            <a:off x="9235440" y="3611880"/>
            <a:ext cx="2286000" cy="530352"/>
          </a:xfrm>
          <a:prstGeom prst="rect">
            <a:avLst/>
          </a:prstGeom>
          <a:noFill/>
          <a:ln/>
        </p:spPr>
        <p:txBody>
          <a:bodyPr wrap="square" lIns="0" tIns="0" rIns="0" bIns="0" rtlCol="0" anchor="ctr"/>
          <a:lstStyle/>
          <a:p>
            <a:pPr indent="0" marL="0">
              <a:lnSpc>
                <a:spcPct val="115000"/>
              </a:lnSpc>
              <a:buNone/>
            </a:pPr>
            <a:r>
              <a:rPr lang="en-US" sz="1000" dirty="0">
                <a:solidFill>
                  <a:srgbClr val="9AA4C0"/>
                </a:solidFill>
                <a:latin typeface="Yu Gothic" pitchFamily="34" charset="0"/>
                <a:ea typeface="Yu Gothic" pitchFamily="34" charset="-122"/>
                <a:cs typeface="Yu Gothic" pitchFamily="34" charset="-120"/>
              </a:rPr>
              <a:t>同じルールでも結果が大きく割れた</a:t>
            </a:r>
            <a:endParaRPr lang="en-US" sz="1000" dirty="0"/>
          </a:p>
        </p:txBody>
      </p:sp>
      <p:sp>
        <p:nvSpPr>
          <p:cNvPr id="13" name="Shape 10"/>
          <p:cNvSpPr/>
          <p:nvPr/>
        </p:nvSpPr>
        <p:spPr>
          <a:xfrm>
            <a:off x="7360920" y="4389120"/>
            <a:ext cx="4279392" cy="1170432"/>
          </a:xfrm>
          <a:prstGeom prst="roundRect">
            <a:avLst>
              <a:gd name="adj" fmla="val 9375"/>
            </a:avLst>
          </a:prstGeom>
          <a:solidFill>
            <a:srgbClr val="16213A"/>
          </a:solidFill>
          <a:ln/>
          <a:effectLst>
            <a:outerShdw sx="100000" sy="100000" kx="0" ky="0" algn="bl" rotWithShape="0" blurRad="101600" dist="38100" dir="5400000">
              <a:srgbClr val="000000">
                <a:alpha val="35000"/>
              </a:srgbClr>
            </a:outerShdw>
          </a:effectLst>
        </p:spPr>
      </p:sp>
      <p:sp>
        <p:nvSpPr>
          <p:cNvPr id="14" name="Text 11"/>
          <p:cNvSpPr/>
          <p:nvPr/>
        </p:nvSpPr>
        <p:spPr>
          <a:xfrm>
            <a:off x="7543800" y="4498848"/>
            <a:ext cx="1600200" cy="914400"/>
          </a:xfrm>
          <a:prstGeom prst="rect">
            <a:avLst/>
          </a:prstGeom>
          <a:noFill/>
          <a:ln/>
        </p:spPr>
        <p:txBody>
          <a:bodyPr wrap="square" lIns="0" tIns="0" rIns="0" bIns="0" rtlCol="0" anchor="ctr"/>
          <a:lstStyle/>
          <a:p>
            <a:pPr algn="ctr" indent="0" marL="0">
              <a:buNone/>
            </a:pPr>
            <a:r>
              <a:rPr lang="en-US" sz="2600" b="1" dirty="0">
                <a:solidFill>
                  <a:srgbClr val="1BAF7A"/>
                </a:solidFill>
                <a:latin typeface="Yu Gothic" pitchFamily="34" charset="0"/>
                <a:ea typeface="Yu Gothic" pitchFamily="34" charset="-122"/>
                <a:cs typeface="Yu Gothic" pitchFamily="34" charset="-120"/>
              </a:rPr>
              <a:t>0/5</a:t>
            </a:r>
            <a:endParaRPr lang="en-US" sz="2600" dirty="0"/>
          </a:p>
        </p:txBody>
      </p:sp>
      <p:sp>
        <p:nvSpPr>
          <p:cNvPr id="15" name="Text 12"/>
          <p:cNvSpPr/>
          <p:nvPr/>
        </p:nvSpPr>
        <p:spPr>
          <a:xfrm>
            <a:off x="9235440" y="4535424"/>
            <a:ext cx="2286000" cy="457200"/>
          </a:xfrm>
          <a:prstGeom prst="rect">
            <a:avLst/>
          </a:prstGeom>
          <a:noFill/>
          <a:ln/>
        </p:spPr>
        <p:txBody>
          <a:bodyPr wrap="square" lIns="0" tIns="0" rIns="0" bIns="0"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範囲の重なり</a:t>
            </a:r>
            <a:endParaRPr lang="en-US" sz="1200" dirty="0"/>
          </a:p>
        </p:txBody>
      </p:sp>
      <p:sp>
        <p:nvSpPr>
          <p:cNvPr id="16" name="Text 13"/>
          <p:cNvSpPr/>
          <p:nvPr/>
        </p:nvSpPr>
        <p:spPr>
          <a:xfrm>
            <a:off x="9235440" y="4937760"/>
            <a:ext cx="2286000" cy="530352"/>
          </a:xfrm>
          <a:prstGeom prst="rect">
            <a:avLst/>
          </a:prstGeom>
          <a:noFill/>
          <a:ln/>
        </p:spPr>
        <p:txBody>
          <a:bodyPr wrap="square" lIns="0" tIns="0" rIns="0" bIns="0" rtlCol="0" anchor="ctr"/>
          <a:lstStyle/>
          <a:p>
            <a:pPr indent="0" marL="0">
              <a:lnSpc>
                <a:spcPct val="115000"/>
              </a:lnSpc>
              <a:buNone/>
            </a:pPr>
            <a:r>
              <a:rPr lang="en-US" sz="1000" dirty="0">
                <a:solidFill>
                  <a:srgbClr val="9AA4C0"/>
                </a:solidFill>
                <a:latin typeface="Yu Gothic" pitchFamily="34" charset="0"/>
                <a:ea typeface="Yu Gothic" pitchFamily="34" charset="-122"/>
                <a:cs typeface="Yu Gothic" pitchFamily="34" charset="-120"/>
              </a:rPr>
              <a:t>Cの最悪回でもA/Bの最良回より良い（4指標）</a:t>
            </a:r>
            <a:endParaRPr lang="en-US" sz="1000" dirty="0"/>
          </a:p>
        </p:txBody>
      </p:sp>
      <p:sp>
        <p:nvSpPr>
          <p:cNvPr id="17" name="Text 14"/>
          <p:cNvSpPr/>
          <p:nvPr/>
        </p:nvSpPr>
        <p:spPr>
          <a:xfrm>
            <a:off x="548640" y="6473952"/>
            <a:ext cx="4572000" cy="274320"/>
          </a:xfrm>
          <a:prstGeom prst="rect">
            <a:avLst/>
          </a:prstGeom>
          <a:noFill/>
          <a:ln/>
        </p:spPr>
        <p:txBody>
          <a:bodyPr wrap="square" lIns="0" tIns="0" rIns="0" bIns="0" rtlCol="0" anchor="ctr"/>
          <a:lstStyle/>
          <a:p>
            <a:pPr indent="0" marL="0">
              <a:buNone/>
            </a:pPr>
            <a:r>
              <a:rPr lang="en-US" sz="900" dirty="0">
                <a:solidFill>
                  <a:srgbClr val="5B6480"/>
                </a:solidFill>
                <a:latin typeface="Yu Gothic" pitchFamily="34" charset="0"/>
                <a:ea typeface="Yu Gothic" pitchFamily="34" charset="-122"/>
                <a:cs typeface="Yu Gothic" pitchFamily="34" charset="-120"/>
              </a:rPr>
              <a:t>救済者 × ガバナンス</a:t>
            </a:r>
            <a:endParaRPr lang="en-US" sz="900" dirty="0"/>
          </a:p>
        </p:txBody>
      </p:sp>
      <p:sp>
        <p:nvSpPr>
          <p:cNvPr id="18" name="Text 15"/>
          <p:cNvSpPr/>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FFFFFF"/>
                </a:solidFill>
                <a:latin typeface="Yu Gothic" pitchFamily="34" charset="0"/>
                <a:ea typeface="Yu Gothic" pitchFamily="34" charset="-122"/>
                <a:cs typeface="Yu Gothic" pitchFamily="34" charset="-120"/>
              </a:rPr>
              <a:t>同じルールなのに、村が2つに分かれた</a:t>
            </a:r>
            <a:endParaRPr lang="en-US" sz="3000" dirty="0"/>
          </a:p>
        </p:txBody>
      </p:sp>
      <p:sp>
        <p:nvSpPr>
          <p:cNvPr id="3" name="Text 1"/>
          <p:cNvSpPr/>
          <p:nvPr/>
        </p:nvSpPr>
        <p:spPr>
          <a:xfrm>
            <a:off x="548640" y="1207008"/>
            <a:ext cx="11094415" cy="365760"/>
          </a:xfrm>
          <a:prstGeom prst="rect">
            <a:avLst/>
          </a:prstGeom>
          <a:noFill/>
          <a:ln/>
        </p:spPr>
        <p:txBody>
          <a:bodyPr wrap="square" lIns="0" tIns="0" rIns="0" bIns="0" rtlCol="0" anchor="ctr"/>
          <a:lstStyle/>
          <a:p>
            <a:pPr algn="l" indent="0" marL="0">
              <a:buNone/>
            </a:pPr>
            <a:r>
              <a:rPr lang="en-US" sz="1400" dirty="0">
                <a:solidFill>
                  <a:srgbClr val="9AA4C0"/>
                </a:solidFill>
                <a:latin typeface="Yu Gothic" pitchFamily="34" charset="0"/>
                <a:ea typeface="Yu Gothic" pitchFamily="34" charset="-122"/>
                <a:cs typeface="Yu Gothic" pitchFamily="34" charset="-120"/>
              </a:rPr>
              <a:t>条件Cを5回実行。ガバナンスも人格も完全に同一なのに、結果は2つの状態へ分岐した。</a:t>
            </a:r>
            <a:endParaRPr lang="en-US" sz="1400" dirty="0"/>
          </a:p>
        </p:txBody>
      </p:sp>
      <p:sp>
        <p:nvSpPr>
          <p:cNvPr id="4" name="Shape 2"/>
          <p:cNvSpPr/>
          <p:nvPr/>
        </p:nvSpPr>
        <p:spPr>
          <a:xfrm>
            <a:off x="548640" y="1783080"/>
            <a:ext cx="6492240" cy="3840480"/>
          </a:xfrm>
          <a:prstGeom prst="roundRect">
            <a:avLst>
              <a:gd name="adj" fmla="val 2857"/>
            </a:avLst>
          </a:prstGeom>
          <a:solidFill>
            <a:srgbClr val="16213A"/>
          </a:solidFill>
          <a:ln/>
          <a:effectLst>
            <a:outerShdw sx="100000" sy="100000" kx="0" ky="0" algn="bl" rotWithShape="0" blurRad="101600" dist="38100" dir="5400000">
              <a:srgbClr val="000000">
                <a:alpha val="35000"/>
              </a:srgbClr>
            </a:outerShdw>
          </a:effectLst>
        </p:spPr>
      </p:sp>
      <p:sp>
        <p:nvSpPr>
          <p:cNvPr id="5" name="Shape 3"/>
          <p:cNvSpPr/>
          <p:nvPr/>
        </p:nvSpPr>
        <p:spPr>
          <a:xfrm>
            <a:off x="1280160" y="4937760"/>
            <a:ext cx="5349240" cy="0"/>
          </a:xfrm>
          <a:prstGeom prst="line">
            <a:avLst/>
          </a:prstGeom>
          <a:noFill/>
          <a:ln w="9525">
            <a:solidFill>
              <a:srgbClr val="2A3752"/>
            </a:solidFill>
            <a:prstDash val="solid"/>
          </a:ln>
        </p:spPr>
      </p:sp>
      <p:sp>
        <p:nvSpPr>
          <p:cNvPr id="6" name="Text 4"/>
          <p:cNvSpPr/>
          <p:nvPr/>
        </p:nvSpPr>
        <p:spPr>
          <a:xfrm>
            <a:off x="731520" y="4818888"/>
            <a:ext cx="457200" cy="237744"/>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0</a:t>
            </a:r>
            <a:endParaRPr lang="en-US" sz="900" dirty="0"/>
          </a:p>
        </p:txBody>
      </p:sp>
      <p:sp>
        <p:nvSpPr>
          <p:cNvPr id="7" name="Shape 5"/>
          <p:cNvSpPr/>
          <p:nvPr/>
        </p:nvSpPr>
        <p:spPr>
          <a:xfrm>
            <a:off x="1280160" y="4206240"/>
            <a:ext cx="5349240" cy="0"/>
          </a:xfrm>
          <a:prstGeom prst="line">
            <a:avLst/>
          </a:prstGeom>
          <a:noFill/>
          <a:ln w="9525">
            <a:solidFill>
              <a:srgbClr val="2A3752"/>
            </a:solidFill>
            <a:prstDash val="solid"/>
          </a:ln>
        </p:spPr>
      </p:sp>
      <p:sp>
        <p:nvSpPr>
          <p:cNvPr id="8" name="Text 6"/>
          <p:cNvSpPr/>
          <p:nvPr/>
        </p:nvSpPr>
        <p:spPr>
          <a:xfrm>
            <a:off x="731520" y="4087368"/>
            <a:ext cx="457200" cy="237744"/>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25</a:t>
            </a:r>
            <a:endParaRPr lang="en-US" sz="900" dirty="0"/>
          </a:p>
        </p:txBody>
      </p:sp>
      <p:sp>
        <p:nvSpPr>
          <p:cNvPr id="9" name="Shape 7"/>
          <p:cNvSpPr/>
          <p:nvPr/>
        </p:nvSpPr>
        <p:spPr>
          <a:xfrm>
            <a:off x="1280160" y="3474720"/>
            <a:ext cx="5349240" cy="0"/>
          </a:xfrm>
          <a:prstGeom prst="line">
            <a:avLst/>
          </a:prstGeom>
          <a:noFill/>
          <a:ln w="9525">
            <a:solidFill>
              <a:srgbClr val="2A3752"/>
            </a:solidFill>
            <a:prstDash val="solid"/>
          </a:ln>
        </p:spPr>
      </p:sp>
      <p:sp>
        <p:nvSpPr>
          <p:cNvPr id="10" name="Text 8"/>
          <p:cNvSpPr/>
          <p:nvPr/>
        </p:nvSpPr>
        <p:spPr>
          <a:xfrm>
            <a:off x="731520" y="3355848"/>
            <a:ext cx="457200" cy="237744"/>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50</a:t>
            </a:r>
            <a:endParaRPr lang="en-US" sz="900" dirty="0"/>
          </a:p>
        </p:txBody>
      </p:sp>
      <p:sp>
        <p:nvSpPr>
          <p:cNvPr id="11" name="Shape 9"/>
          <p:cNvSpPr/>
          <p:nvPr/>
        </p:nvSpPr>
        <p:spPr>
          <a:xfrm>
            <a:off x="1280160" y="2743200"/>
            <a:ext cx="5349240" cy="0"/>
          </a:xfrm>
          <a:prstGeom prst="line">
            <a:avLst/>
          </a:prstGeom>
          <a:noFill/>
          <a:ln w="9525">
            <a:solidFill>
              <a:srgbClr val="2A3752"/>
            </a:solidFill>
            <a:prstDash val="solid"/>
          </a:ln>
        </p:spPr>
      </p:sp>
      <p:sp>
        <p:nvSpPr>
          <p:cNvPr id="12" name="Text 10"/>
          <p:cNvSpPr/>
          <p:nvPr/>
        </p:nvSpPr>
        <p:spPr>
          <a:xfrm>
            <a:off x="731520" y="2624328"/>
            <a:ext cx="457200" cy="237744"/>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75</a:t>
            </a:r>
            <a:endParaRPr lang="en-US" sz="900" dirty="0"/>
          </a:p>
        </p:txBody>
      </p:sp>
      <p:sp>
        <p:nvSpPr>
          <p:cNvPr id="13" name="Shape 11"/>
          <p:cNvSpPr/>
          <p:nvPr/>
        </p:nvSpPr>
        <p:spPr>
          <a:xfrm>
            <a:off x="1280160" y="2011680"/>
            <a:ext cx="5349240" cy="0"/>
          </a:xfrm>
          <a:prstGeom prst="line">
            <a:avLst/>
          </a:prstGeom>
          <a:noFill/>
          <a:ln w="9525">
            <a:solidFill>
              <a:srgbClr val="2A3752"/>
            </a:solidFill>
            <a:prstDash val="solid"/>
          </a:ln>
        </p:spPr>
      </p:sp>
      <p:sp>
        <p:nvSpPr>
          <p:cNvPr id="14" name="Text 12"/>
          <p:cNvSpPr/>
          <p:nvPr/>
        </p:nvSpPr>
        <p:spPr>
          <a:xfrm>
            <a:off x="731520" y="1892808"/>
            <a:ext cx="457200" cy="237744"/>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100</a:t>
            </a:r>
            <a:endParaRPr lang="en-US" sz="900" dirty="0"/>
          </a:p>
        </p:txBody>
      </p:sp>
      <p:sp>
        <p:nvSpPr>
          <p:cNvPr id="15" name="Shape 13"/>
          <p:cNvSpPr/>
          <p:nvPr/>
        </p:nvSpPr>
        <p:spPr>
          <a:xfrm>
            <a:off x="1892808" y="2743200"/>
            <a:ext cx="0" cy="1170432"/>
          </a:xfrm>
          <a:prstGeom prst="line">
            <a:avLst/>
          </a:prstGeom>
          <a:noFill/>
          <a:ln w="12700">
            <a:solidFill>
              <a:srgbClr val="E2665A">
                <a:alpha val="45000"/>
              </a:srgbClr>
            </a:solidFill>
            <a:prstDash val="solid"/>
          </a:ln>
        </p:spPr>
      </p:sp>
      <p:sp>
        <p:nvSpPr>
          <p:cNvPr id="16" name="Shape 14"/>
          <p:cNvSpPr/>
          <p:nvPr/>
        </p:nvSpPr>
        <p:spPr>
          <a:xfrm>
            <a:off x="1792224" y="2642616"/>
            <a:ext cx="201168" cy="201168"/>
          </a:xfrm>
          <a:prstGeom prst="ellipse">
            <a:avLst/>
          </a:prstGeom>
          <a:solidFill>
            <a:srgbClr val="E2665A"/>
          </a:solidFill>
          <a:ln/>
        </p:spPr>
      </p:sp>
      <p:sp>
        <p:nvSpPr>
          <p:cNvPr id="17" name="Shape 15"/>
          <p:cNvSpPr/>
          <p:nvPr/>
        </p:nvSpPr>
        <p:spPr>
          <a:xfrm>
            <a:off x="1792224" y="3813048"/>
            <a:ext cx="201168" cy="201168"/>
          </a:xfrm>
          <a:prstGeom prst="ellipse">
            <a:avLst/>
          </a:prstGeom>
          <a:solidFill>
            <a:srgbClr val="1BAF7A"/>
          </a:solidFill>
          <a:ln/>
        </p:spPr>
      </p:sp>
      <p:sp>
        <p:nvSpPr>
          <p:cNvPr id="18" name="Text 16"/>
          <p:cNvSpPr/>
          <p:nvPr/>
        </p:nvSpPr>
        <p:spPr>
          <a:xfrm>
            <a:off x="1481328" y="5047488"/>
            <a:ext cx="822960" cy="237744"/>
          </a:xfrm>
          <a:prstGeom prst="rect">
            <a:avLst/>
          </a:prstGeom>
          <a:noFill/>
          <a:ln/>
        </p:spPr>
        <p:txBody>
          <a:bodyPr wrap="square" lIns="0" tIns="0" rIns="0" bIns="0" rtlCol="0" anchor="ctr"/>
          <a:lstStyle/>
          <a:p>
            <a:pPr algn="ctr" indent="0" marL="0">
              <a:buNone/>
            </a:pPr>
            <a:r>
              <a:rPr lang="en-US" sz="1000" dirty="0">
                <a:solidFill>
                  <a:srgbClr val="E2665A"/>
                </a:solidFill>
                <a:latin typeface="Yu Gothic" pitchFamily="34" charset="0"/>
                <a:ea typeface="Yu Gothic" pitchFamily="34" charset="-122"/>
                <a:cs typeface="Yu Gothic" pitchFamily="34" charset="-120"/>
              </a:rPr>
              <a:t>1回目</a:t>
            </a:r>
            <a:endParaRPr lang="en-US" sz="1000" dirty="0"/>
          </a:p>
        </p:txBody>
      </p:sp>
      <p:sp>
        <p:nvSpPr>
          <p:cNvPr id="19" name="Text 17"/>
          <p:cNvSpPr/>
          <p:nvPr/>
        </p:nvSpPr>
        <p:spPr>
          <a:xfrm>
            <a:off x="1481328" y="5285232"/>
            <a:ext cx="822960" cy="237744"/>
          </a:xfrm>
          <a:prstGeom prst="rect">
            <a:avLst/>
          </a:prstGeom>
          <a:noFill/>
          <a:ln/>
        </p:spPr>
        <p:txBody>
          <a:bodyPr wrap="square" lIns="0" tIns="0" rIns="0" bIns="0" rtlCol="0" anchor="ctr"/>
          <a:lstStyle/>
          <a:p>
            <a:pPr algn="ctr" indent="0" marL="0">
              <a:buNone/>
            </a:pPr>
            <a:r>
              <a:rPr lang="en-US" sz="900" dirty="0">
                <a:solidFill>
                  <a:srgbClr val="9AA4C0"/>
                </a:solidFill>
                <a:latin typeface="Yu Gothic" pitchFamily="34" charset="0"/>
                <a:ea typeface="Yu Gothic" pitchFamily="34" charset="-122"/>
                <a:cs typeface="Yu Gothic" pitchFamily="34" charset="-120"/>
              </a:rPr>
              <a:t>依存</a:t>
            </a:r>
            <a:endParaRPr lang="en-US" sz="900" dirty="0"/>
          </a:p>
        </p:txBody>
      </p:sp>
      <p:sp>
        <p:nvSpPr>
          <p:cNvPr id="20" name="Shape 18"/>
          <p:cNvSpPr/>
          <p:nvPr/>
        </p:nvSpPr>
        <p:spPr>
          <a:xfrm>
            <a:off x="2935224" y="3035808"/>
            <a:ext cx="0" cy="585216"/>
          </a:xfrm>
          <a:prstGeom prst="line">
            <a:avLst/>
          </a:prstGeom>
          <a:noFill/>
          <a:ln w="12700">
            <a:solidFill>
              <a:srgbClr val="E2665A">
                <a:alpha val="45000"/>
              </a:srgbClr>
            </a:solidFill>
            <a:prstDash val="solid"/>
          </a:ln>
        </p:spPr>
      </p:sp>
      <p:sp>
        <p:nvSpPr>
          <p:cNvPr id="21" name="Shape 19"/>
          <p:cNvSpPr/>
          <p:nvPr/>
        </p:nvSpPr>
        <p:spPr>
          <a:xfrm>
            <a:off x="2834640" y="2935224"/>
            <a:ext cx="201168" cy="201168"/>
          </a:xfrm>
          <a:prstGeom prst="ellipse">
            <a:avLst/>
          </a:prstGeom>
          <a:solidFill>
            <a:srgbClr val="E2665A"/>
          </a:solidFill>
          <a:ln/>
        </p:spPr>
      </p:sp>
      <p:sp>
        <p:nvSpPr>
          <p:cNvPr id="22" name="Shape 20"/>
          <p:cNvSpPr/>
          <p:nvPr/>
        </p:nvSpPr>
        <p:spPr>
          <a:xfrm>
            <a:off x="2834640" y="3520440"/>
            <a:ext cx="201168" cy="201168"/>
          </a:xfrm>
          <a:prstGeom prst="ellipse">
            <a:avLst/>
          </a:prstGeom>
          <a:solidFill>
            <a:srgbClr val="1BAF7A"/>
          </a:solidFill>
          <a:ln/>
        </p:spPr>
      </p:sp>
      <p:sp>
        <p:nvSpPr>
          <p:cNvPr id="23" name="Text 21"/>
          <p:cNvSpPr/>
          <p:nvPr/>
        </p:nvSpPr>
        <p:spPr>
          <a:xfrm>
            <a:off x="2523744" y="5047488"/>
            <a:ext cx="822960" cy="237744"/>
          </a:xfrm>
          <a:prstGeom prst="rect">
            <a:avLst/>
          </a:prstGeom>
          <a:noFill/>
          <a:ln/>
        </p:spPr>
        <p:txBody>
          <a:bodyPr wrap="square" lIns="0" tIns="0" rIns="0" bIns="0" rtlCol="0" anchor="ctr"/>
          <a:lstStyle/>
          <a:p>
            <a:pPr algn="ctr" indent="0" marL="0">
              <a:buNone/>
            </a:pPr>
            <a:r>
              <a:rPr lang="en-US" sz="1000" dirty="0">
                <a:solidFill>
                  <a:srgbClr val="E8A33D"/>
                </a:solidFill>
                <a:latin typeface="Yu Gothic" pitchFamily="34" charset="0"/>
                <a:ea typeface="Yu Gothic" pitchFamily="34" charset="-122"/>
                <a:cs typeface="Yu Gothic" pitchFamily="34" charset="-120"/>
              </a:rPr>
              <a:t>2回目</a:t>
            </a:r>
            <a:endParaRPr lang="en-US" sz="1000" dirty="0"/>
          </a:p>
        </p:txBody>
      </p:sp>
      <p:sp>
        <p:nvSpPr>
          <p:cNvPr id="24" name="Text 22"/>
          <p:cNvSpPr/>
          <p:nvPr/>
        </p:nvSpPr>
        <p:spPr>
          <a:xfrm>
            <a:off x="2523744" y="5285232"/>
            <a:ext cx="822960" cy="237744"/>
          </a:xfrm>
          <a:prstGeom prst="rect">
            <a:avLst/>
          </a:prstGeom>
          <a:noFill/>
          <a:ln/>
        </p:spPr>
        <p:txBody>
          <a:bodyPr wrap="square" lIns="0" tIns="0" rIns="0" bIns="0" rtlCol="0" anchor="ctr"/>
          <a:lstStyle/>
          <a:p>
            <a:pPr algn="ctr" indent="0" marL="0">
              <a:buNone/>
            </a:pPr>
            <a:r>
              <a:rPr lang="en-US" sz="900" dirty="0">
                <a:solidFill>
                  <a:srgbClr val="9AA4C0"/>
                </a:solidFill>
                <a:latin typeface="Yu Gothic" pitchFamily="34" charset="0"/>
                <a:ea typeface="Yu Gothic" pitchFamily="34" charset="-122"/>
                <a:cs typeface="Yu Gothic" pitchFamily="34" charset="-120"/>
              </a:rPr>
              <a:t>中間</a:t>
            </a:r>
            <a:endParaRPr lang="en-US" sz="900" dirty="0"/>
          </a:p>
        </p:txBody>
      </p:sp>
      <p:sp>
        <p:nvSpPr>
          <p:cNvPr id="25" name="Shape 23"/>
          <p:cNvSpPr/>
          <p:nvPr/>
        </p:nvSpPr>
        <p:spPr>
          <a:xfrm>
            <a:off x="3977640" y="2743200"/>
            <a:ext cx="0" cy="1463040"/>
          </a:xfrm>
          <a:prstGeom prst="line">
            <a:avLst/>
          </a:prstGeom>
          <a:noFill/>
          <a:ln w="12700">
            <a:solidFill>
              <a:srgbClr val="1BAF7A">
                <a:alpha val="45000"/>
              </a:srgbClr>
            </a:solidFill>
            <a:prstDash val="solid"/>
          </a:ln>
        </p:spPr>
      </p:sp>
      <p:sp>
        <p:nvSpPr>
          <p:cNvPr id="26" name="Shape 24"/>
          <p:cNvSpPr/>
          <p:nvPr/>
        </p:nvSpPr>
        <p:spPr>
          <a:xfrm>
            <a:off x="3877056" y="4105656"/>
            <a:ext cx="201168" cy="201168"/>
          </a:xfrm>
          <a:prstGeom prst="ellipse">
            <a:avLst/>
          </a:prstGeom>
          <a:solidFill>
            <a:srgbClr val="E2665A"/>
          </a:solidFill>
          <a:ln/>
        </p:spPr>
      </p:sp>
      <p:sp>
        <p:nvSpPr>
          <p:cNvPr id="27" name="Shape 25"/>
          <p:cNvSpPr/>
          <p:nvPr/>
        </p:nvSpPr>
        <p:spPr>
          <a:xfrm>
            <a:off x="3877056" y="2642616"/>
            <a:ext cx="201168" cy="201168"/>
          </a:xfrm>
          <a:prstGeom prst="ellipse">
            <a:avLst/>
          </a:prstGeom>
          <a:solidFill>
            <a:srgbClr val="1BAF7A"/>
          </a:solidFill>
          <a:ln/>
        </p:spPr>
      </p:sp>
      <p:sp>
        <p:nvSpPr>
          <p:cNvPr id="28" name="Text 26"/>
          <p:cNvSpPr/>
          <p:nvPr/>
        </p:nvSpPr>
        <p:spPr>
          <a:xfrm>
            <a:off x="3566160" y="5047488"/>
            <a:ext cx="822960" cy="237744"/>
          </a:xfrm>
          <a:prstGeom prst="rect">
            <a:avLst/>
          </a:prstGeom>
          <a:noFill/>
          <a:ln/>
        </p:spPr>
        <p:txBody>
          <a:bodyPr wrap="square" lIns="0" tIns="0" rIns="0" bIns="0" rtlCol="0" anchor="ctr"/>
          <a:lstStyle/>
          <a:p>
            <a:pPr algn="ctr" indent="0" marL="0">
              <a:buNone/>
            </a:pPr>
            <a:r>
              <a:rPr lang="en-US" sz="1000" b="1" dirty="0">
                <a:solidFill>
                  <a:srgbClr val="1BAF7A"/>
                </a:solidFill>
                <a:latin typeface="Yu Gothic" pitchFamily="34" charset="0"/>
                <a:ea typeface="Yu Gothic" pitchFamily="34" charset="-122"/>
                <a:cs typeface="Yu Gothic" pitchFamily="34" charset="-120"/>
              </a:rPr>
              <a:t>3回目</a:t>
            </a:r>
            <a:endParaRPr lang="en-US" sz="1000" dirty="0"/>
          </a:p>
        </p:txBody>
      </p:sp>
      <p:sp>
        <p:nvSpPr>
          <p:cNvPr id="29" name="Text 27"/>
          <p:cNvSpPr/>
          <p:nvPr/>
        </p:nvSpPr>
        <p:spPr>
          <a:xfrm>
            <a:off x="3566160" y="5285232"/>
            <a:ext cx="822960" cy="237744"/>
          </a:xfrm>
          <a:prstGeom prst="rect">
            <a:avLst/>
          </a:prstGeom>
          <a:noFill/>
          <a:ln/>
        </p:spPr>
        <p:txBody>
          <a:bodyPr wrap="square" lIns="0" tIns="0" rIns="0" bIns="0" rtlCol="0" anchor="ctr"/>
          <a:lstStyle/>
          <a:p>
            <a:pPr algn="ctr" indent="0" marL="0">
              <a:buNone/>
            </a:pPr>
            <a:r>
              <a:rPr lang="en-US" sz="900" dirty="0">
                <a:solidFill>
                  <a:srgbClr val="9AA4C0"/>
                </a:solidFill>
                <a:latin typeface="Yu Gothic" pitchFamily="34" charset="0"/>
                <a:ea typeface="Yu Gothic" pitchFamily="34" charset="-122"/>
                <a:cs typeface="Yu Gothic" pitchFamily="34" charset="-120"/>
              </a:rPr>
              <a:t>自律</a:t>
            </a:r>
            <a:endParaRPr lang="en-US" sz="900" dirty="0"/>
          </a:p>
        </p:txBody>
      </p:sp>
      <p:sp>
        <p:nvSpPr>
          <p:cNvPr id="30" name="Shape 28"/>
          <p:cNvSpPr/>
          <p:nvPr/>
        </p:nvSpPr>
        <p:spPr>
          <a:xfrm>
            <a:off x="5020056" y="2743200"/>
            <a:ext cx="0" cy="1170432"/>
          </a:xfrm>
          <a:prstGeom prst="line">
            <a:avLst/>
          </a:prstGeom>
          <a:noFill/>
          <a:ln w="12700">
            <a:solidFill>
              <a:srgbClr val="E2665A">
                <a:alpha val="45000"/>
              </a:srgbClr>
            </a:solidFill>
            <a:prstDash val="solid"/>
          </a:ln>
        </p:spPr>
      </p:sp>
      <p:sp>
        <p:nvSpPr>
          <p:cNvPr id="31" name="Shape 29"/>
          <p:cNvSpPr/>
          <p:nvPr/>
        </p:nvSpPr>
        <p:spPr>
          <a:xfrm>
            <a:off x="4919472" y="2642616"/>
            <a:ext cx="201168" cy="201168"/>
          </a:xfrm>
          <a:prstGeom prst="ellipse">
            <a:avLst/>
          </a:prstGeom>
          <a:solidFill>
            <a:srgbClr val="E2665A"/>
          </a:solidFill>
          <a:ln/>
        </p:spPr>
      </p:sp>
      <p:sp>
        <p:nvSpPr>
          <p:cNvPr id="32" name="Shape 30"/>
          <p:cNvSpPr/>
          <p:nvPr/>
        </p:nvSpPr>
        <p:spPr>
          <a:xfrm>
            <a:off x="4919472" y="3813048"/>
            <a:ext cx="201168" cy="201168"/>
          </a:xfrm>
          <a:prstGeom prst="ellipse">
            <a:avLst/>
          </a:prstGeom>
          <a:solidFill>
            <a:srgbClr val="1BAF7A"/>
          </a:solidFill>
          <a:ln/>
        </p:spPr>
      </p:sp>
      <p:sp>
        <p:nvSpPr>
          <p:cNvPr id="33" name="Text 31"/>
          <p:cNvSpPr/>
          <p:nvPr/>
        </p:nvSpPr>
        <p:spPr>
          <a:xfrm>
            <a:off x="4608576" y="5047488"/>
            <a:ext cx="822960" cy="237744"/>
          </a:xfrm>
          <a:prstGeom prst="rect">
            <a:avLst/>
          </a:prstGeom>
          <a:noFill/>
          <a:ln/>
        </p:spPr>
        <p:txBody>
          <a:bodyPr wrap="square" lIns="0" tIns="0" rIns="0" bIns="0" rtlCol="0" anchor="ctr"/>
          <a:lstStyle/>
          <a:p>
            <a:pPr algn="ctr" indent="0" marL="0">
              <a:buNone/>
            </a:pPr>
            <a:r>
              <a:rPr lang="en-US" sz="1000" dirty="0">
                <a:solidFill>
                  <a:srgbClr val="E2665A"/>
                </a:solidFill>
                <a:latin typeface="Yu Gothic" pitchFamily="34" charset="0"/>
                <a:ea typeface="Yu Gothic" pitchFamily="34" charset="-122"/>
                <a:cs typeface="Yu Gothic" pitchFamily="34" charset="-120"/>
              </a:rPr>
              <a:t>4回目</a:t>
            </a:r>
            <a:endParaRPr lang="en-US" sz="1000" dirty="0"/>
          </a:p>
        </p:txBody>
      </p:sp>
      <p:sp>
        <p:nvSpPr>
          <p:cNvPr id="34" name="Text 32"/>
          <p:cNvSpPr/>
          <p:nvPr/>
        </p:nvSpPr>
        <p:spPr>
          <a:xfrm>
            <a:off x="4608576" y="5285232"/>
            <a:ext cx="822960" cy="237744"/>
          </a:xfrm>
          <a:prstGeom prst="rect">
            <a:avLst/>
          </a:prstGeom>
          <a:noFill/>
          <a:ln/>
        </p:spPr>
        <p:txBody>
          <a:bodyPr wrap="square" lIns="0" tIns="0" rIns="0" bIns="0" rtlCol="0" anchor="ctr"/>
          <a:lstStyle/>
          <a:p>
            <a:pPr algn="ctr" indent="0" marL="0">
              <a:buNone/>
            </a:pPr>
            <a:r>
              <a:rPr lang="en-US" sz="900" dirty="0">
                <a:solidFill>
                  <a:srgbClr val="9AA4C0"/>
                </a:solidFill>
                <a:latin typeface="Yu Gothic" pitchFamily="34" charset="0"/>
                <a:ea typeface="Yu Gothic" pitchFamily="34" charset="-122"/>
                <a:cs typeface="Yu Gothic" pitchFamily="34" charset="-120"/>
              </a:rPr>
              <a:t>依存</a:t>
            </a:r>
            <a:endParaRPr lang="en-US" sz="900" dirty="0"/>
          </a:p>
        </p:txBody>
      </p:sp>
      <p:sp>
        <p:nvSpPr>
          <p:cNvPr id="35" name="Shape 33"/>
          <p:cNvSpPr/>
          <p:nvPr/>
        </p:nvSpPr>
        <p:spPr>
          <a:xfrm>
            <a:off x="6062472" y="2743200"/>
            <a:ext cx="0" cy="1463040"/>
          </a:xfrm>
          <a:prstGeom prst="line">
            <a:avLst/>
          </a:prstGeom>
          <a:noFill/>
          <a:ln w="12700">
            <a:solidFill>
              <a:srgbClr val="1BAF7A">
                <a:alpha val="45000"/>
              </a:srgbClr>
            </a:solidFill>
            <a:prstDash val="solid"/>
          </a:ln>
        </p:spPr>
      </p:sp>
      <p:sp>
        <p:nvSpPr>
          <p:cNvPr id="36" name="Shape 34"/>
          <p:cNvSpPr/>
          <p:nvPr/>
        </p:nvSpPr>
        <p:spPr>
          <a:xfrm>
            <a:off x="5961888" y="4105656"/>
            <a:ext cx="201168" cy="201168"/>
          </a:xfrm>
          <a:prstGeom prst="ellipse">
            <a:avLst/>
          </a:prstGeom>
          <a:solidFill>
            <a:srgbClr val="E2665A"/>
          </a:solidFill>
          <a:ln/>
        </p:spPr>
      </p:sp>
      <p:sp>
        <p:nvSpPr>
          <p:cNvPr id="37" name="Shape 35"/>
          <p:cNvSpPr/>
          <p:nvPr/>
        </p:nvSpPr>
        <p:spPr>
          <a:xfrm>
            <a:off x="5961888" y="2642616"/>
            <a:ext cx="201168" cy="201168"/>
          </a:xfrm>
          <a:prstGeom prst="ellipse">
            <a:avLst/>
          </a:prstGeom>
          <a:solidFill>
            <a:srgbClr val="1BAF7A"/>
          </a:solidFill>
          <a:ln/>
        </p:spPr>
      </p:sp>
      <p:sp>
        <p:nvSpPr>
          <p:cNvPr id="38" name="Text 36"/>
          <p:cNvSpPr/>
          <p:nvPr/>
        </p:nvSpPr>
        <p:spPr>
          <a:xfrm>
            <a:off x="5650992" y="5047488"/>
            <a:ext cx="822960" cy="237744"/>
          </a:xfrm>
          <a:prstGeom prst="rect">
            <a:avLst/>
          </a:prstGeom>
          <a:noFill/>
          <a:ln/>
        </p:spPr>
        <p:txBody>
          <a:bodyPr wrap="square" lIns="0" tIns="0" rIns="0" bIns="0" rtlCol="0" anchor="ctr"/>
          <a:lstStyle/>
          <a:p>
            <a:pPr algn="ctr" indent="0" marL="0">
              <a:buNone/>
            </a:pPr>
            <a:r>
              <a:rPr lang="en-US" sz="1000" b="1" dirty="0">
                <a:solidFill>
                  <a:srgbClr val="1BAF7A"/>
                </a:solidFill>
                <a:latin typeface="Yu Gothic" pitchFamily="34" charset="0"/>
                <a:ea typeface="Yu Gothic" pitchFamily="34" charset="-122"/>
                <a:cs typeface="Yu Gothic" pitchFamily="34" charset="-120"/>
              </a:rPr>
              <a:t>5回目</a:t>
            </a:r>
            <a:endParaRPr lang="en-US" sz="1000" dirty="0"/>
          </a:p>
        </p:txBody>
      </p:sp>
      <p:sp>
        <p:nvSpPr>
          <p:cNvPr id="39" name="Text 37"/>
          <p:cNvSpPr/>
          <p:nvPr/>
        </p:nvSpPr>
        <p:spPr>
          <a:xfrm>
            <a:off x="5650992" y="5285232"/>
            <a:ext cx="822960" cy="237744"/>
          </a:xfrm>
          <a:prstGeom prst="rect">
            <a:avLst/>
          </a:prstGeom>
          <a:noFill/>
          <a:ln/>
        </p:spPr>
        <p:txBody>
          <a:bodyPr wrap="square" lIns="0" tIns="0" rIns="0" bIns="0" rtlCol="0" anchor="ctr"/>
          <a:lstStyle/>
          <a:p>
            <a:pPr algn="ctr" indent="0" marL="0">
              <a:buNone/>
            </a:pPr>
            <a:r>
              <a:rPr lang="en-US" sz="900" dirty="0">
                <a:solidFill>
                  <a:srgbClr val="9AA4C0"/>
                </a:solidFill>
                <a:latin typeface="Yu Gothic" pitchFamily="34" charset="0"/>
                <a:ea typeface="Yu Gothic" pitchFamily="34" charset="-122"/>
                <a:cs typeface="Yu Gothic" pitchFamily="34" charset="-120"/>
              </a:rPr>
              <a:t>自律</a:t>
            </a:r>
            <a:endParaRPr lang="en-US" sz="900" dirty="0"/>
          </a:p>
        </p:txBody>
      </p:sp>
      <p:sp>
        <p:nvSpPr>
          <p:cNvPr id="40" name="Text 38"/>
          <p:cNvSpPr/>
          <p:nvPr/>
        </p:nvSpPr>
        <p:spPr>
          <a:xfrm>
            <a:off x="1325880" y="1901952"/>
            <a:ext cx="1828800" cy="228600"/>
          </a:xfrm>
          <a:prstGeom prst="rect">
            <a:avLst/>
          </a:prstGeom>
          <a:noFill/>
          <a:ln/>
        </p:spPr>
        <p:txBody>
          <a:bodyPr wrap="square" lIns="0" tIns="0" rIns="0" bIns="0" rtlCol="0" anchor="ctr"/>
          <a:lstStyle/>
          <a:p>
            <a:pPr indent="0" marL="0">
              <a:buNone/>
            </a:pPr>
            <a:r>
              <a:rPr lang="en-US" sz="1000" dirty="0">
                <a:solidFill>
                  <a:srgbClr val="E2665A"/>
                </a:solidFill>
                <a:latin typeface="Yu Gothic" pitchFamily="34" charset="0"/>
                <a:ea typeface="Yu Gothic" pitchFamily="34" charset="-122"/>
                <a:cs typeface="Yu Gothic" pitchFamily="34" charset="-120"/>
              </a:rPr>
              <a:t>● 救済者の負荷</a:t>
            </a:r>
            <a:endParaRPr lang="en-US" sz="1000" dirty="0"/>
          </a:p>
        </p:txBody>
      </p:sp>
      <p:sp>
        <p:nvSpPr>
          <p:cNvPr id="41" name="Text 39"/>
          <p:cNvSpPr/>
          <p:nvPr/>
        </p:nvSpPr>
        <p:spPr>
          <a:xfrm>
            <a:off x="3154680" y="1901952"/>
            <a:ext cx="1828800" cy="228600"/>
          </a:xfrm>
          <a:prstGeom prst="rect">
            <a:avLst/>
          </a:prstGeom>
          <a:noFill/>
          <a:ln/>
        </p:spPr>
        <p:txBody>
          <a:bodyPr wrap="square" lIns="0" tIns="0" rIns="0" bIns="0" rtlCol="0" anchor="ctr"/>
          <a:lstStyle/>
          <a:p>
            <a:pPr indent="0" marL="0">
              <a:buNone/>
            </a:pPr>
            <a:r>
              <a:rPr lang="en-US" sz="1000" dirty="0">
                <a:solidFill>
                  <a:srgbClr val="1BAF7A"/>
                </a:solidFill>
                <a:latin typeface="Yu Gothic" pitchFamily="34" charset="0"/>
                <a:ea typeface="Yu Gothic" pitchFamily="34" charset="-122"/>
                <a:cs typeface="Yu Gothic" pitchFamily="34" charset="-120"/>
              </a:rPr>
              <a:t>● 村の自律度</a:t>
            </a:r>
            <a:endParaRPr lang="en-US" sz="1000" dirty="0"/>
          </a:p>
        </p:txBody>
      </p:sp>
      <p:sp>
        <p:nvSpPr>
          <p:cNvPr id="42" name="Text 40"/>
          <p:cNvSpPr/>
          <p:nvPr/>
        </p:nvSpPr>
        <p:spPr>
          <a:xfrm>
            <a:off x="7269480" y="1828800"/>
            <a:ext cx="4389120" cy="365760"/>
          </a:xfrm>
          <a:prstGeom prst="rect">
            <a:avLst/>
          </a:prstGeom>
          <a:noFill/>
          <a:ln/>
        </p:spPr>
        <p:txBody>
          <a:bodyPr wrap="square" lIns="0" tIns="0" rIns="0" bIns="0" rtlCol="0" anchor="ctr"/>
          <a:lstStyle/>
          <a:p>
            <a:pPr indent="0" marL="0">
              <a:buNone/>
            </a:pPr>
            <a:r>
              <a:rPr lang="en-US" sz="1350" b="1" dirty="0">
                <a:solidFill>
                  <a:srgbClr val="FFFFFF"/>
                </a:solidFill>
                <a:latin typeface="Yu Gothic" pitchFamily="34" charset="0"/>
                <a:ea typeface="Yu Gothic" pitchFamily="34" charset="-122"/>
                <a:cs typeface="Yu Gothic" pitchFamily="34" charset="-120"/>
              </a:rPr>
              <a:t>分岐点は、たった一人の最初の一歩だった</a:t>
            </a:r>
            <a:endParaRPr lang="en-US" sz="1350" dirty="0"/>
          </a:p>
        </p:txBody>
      </p:sp>
      <p:sp>
        <p:nvSpPr>
          <p:cNvPr id="43" name="Shape 41"/>
          <p:cNvSpPr/>
          <p:nvPr/>
        </p:nvSpPr>
        <p:spPr>
          <a:xfrm>
            <a:off x="7269480" y="2240280"/>
            <a:ext cx="4370832" cy="1371600"/>
          </a:xfrm>
          <a:prstGeom prst="roundRect">
            <a:avLst>
              <a:gd name="adj" fmla="val 6667"/>
            </a:avLst>
          </a:prstGeom>
          <a:solidFill>
            <a:srgbClr val="1C2C4A"/>
          </a:solidFill>
          <a:ln/>
          <a:effectLst>
            <a:outerShdw sx="100000" sy="100000" kx="0" ky="0" algn="bl" rotWithShape="0" blurRad="101600" dist="38100" dir="5400000">
              <a:srgbClr val="000000">
                <a:alpha val="35000"/>
              </a:srgbClr>
            </a:outerShdw>
          </a:effectLst>
        </p:spPr>
      </p:sp>
      <p:sp>
        <p:nvSpPr>
          <p:cNvPr id="44" name="Shape 42"/>
          <p:cNvSpPr/>
          <p:nvPr/>
        </p:nvSpPr>
        <p:spPr>
          <a:xfrm>
            <a:off x="7498080" y="2478024"/>
            <a:ext cx="182880" cy="182880"/>
          </a:xfrm>
          <a:prstGeom prst="ellipse">
            <a:avLst/>
          </a:prstGeom>
          <a:solidFill>
            <a:srgbClr val="1BAF7A"/>
          </a:solidFill>
          <a:ln/>
        </p:spPr>
      </p:sp>
      <p:sp>
        <p:nvSpPr>
          <p:cNvPr id="45" name="Text 43"/>
          <p:cNvSpPr/>
          <p:nvPr/>
        </p:nvSpPr>
        <p:spPr>
          <a:xfrm>
            <a:off x="7790688" y="2368296"/>
            <a:ext cx="3657600" cy="347472"/>
          </a:xfrm>
          <a:prstGeom prst="rect">
            <a:avLst/>
          </a:prstGeom>
          <a:noFill/>
          <a:ln/>
        </p:spPr>
        <p:txBody>
          <a:bodyPr wrap="square" lIns="0" tIns="0" rIns="0" bIns="0" rtlCol="0" anchor="ctr"/>
          <a:lstStyle/>
          <a:p>
            <a:pPr indent="0" marL="0">
              <a:buNone/>
            </a:pPr>
            <a:r>
              <a:rPr lang="en-US" sz="1200" b="1" dirty="0">
                <a:solidFill>
                  <a:srgbClr val="1BAF7A"/>
                </a:solidFill>
                <a:latin typeface="Yu Gothic" pitchFamily="34" charset="0"/>
                <a:ea typeface="Yu Gothic" pitchFamily="34" charset="-122"/>
                <a:cs typeface="Yu Gothic" pitchFamily="34" charset="-120"/>
              </a:rPr>
              <a:t>自律した回（3・5）</a:t>
            </a:r>
            <a:endParaRPr lang="en-US" sz="1200" dirty="0"/>
          </a:p>
        </p:txBody>
      </p:sp>
      <p:sp>
        <p:nvSpPr>
          <p:cNvPr id="46" name="Text 44"/>
          <p:cNvSpPr/>
          <p:nvPr/>
        </p:nvSpPr>
        <p:spPr>
          <a:xfrm>
            <a:off x="7543800" y="2734056"/>
            <a:ext cx="3931920" cy="457200"/>
          </a:xfrm>
          <a:prstGeom prst="rect">
            <a:avLst/>
          </a:prstGeom>
          <a:noFill/>
          <a:ln/>
        </p:spPr>
        <p:txBody>
          <a:bodyPr wrap="square" lIns="0" tIns="0" rIns="0" bIns="0" rtlCol="0" anchor="ctr"/>
          <a:lstStyle/>
          <a:p>
            <a:pPr indent="0" marL="0">
              <a:lnSpc>
                <a:spcPct val="115000"/>
              </a:lnSpc>
              <a:buNone/>
            </a:pPr>
            <a:r>
              <a:rPr lang="en-US" sz="1050" dirty="0">
                <a:solidFill>
                  <a:srgbClr val="AFC9EE"/>
                </a:solidFill>
                <a:latin typeface="Yu Gothic" pitchFamily="34" charset="0"/>
                <a:ea typeface="Yu Gothic" pitchFamily="34" charset="-122"/>
                <a:cs typeface="Yu Gothic" pitchFamily="34" charset="-120"/>
              </a:rPr>
              <a:t>世話好きな住民が、救済者に確認する前に住民同士の対話を始めた</a:t>
            </a:r>
            <a:endParaRPr lang="en-US" sz="1050" dirty="0"/>
          </a:p>
        </p:txBody>
      </p:sp>
      <p:sp>
        <p:nvSpPr>
          <p:cNvPr id="47" name="Text 45"/>
          <p:cNvSpPr/>
          <p:nvPr/>
        </p:nvSpPr>
        <p:spPr>
          <a:xfrm>
            <a:off x="7543800" y="3191256"/>
            <a:ext cx="3931920" cy="310896"/>
          </a:xfrm>
          <a:prstGeom prst="rect">
            <a:avLst/>
          </a:prstGeom>
          <a:noFill/>
          <a:ln/>
        </p:spPr>
        <p:txBody>
          <a:bodyPr wrap="square" lIns="0" tIns="0" rIns="0" bIns="0" rtlCol="0" anchor="ctr"/>
          <a:lstStyle/>
          <a:p>
            <a:pPr indent="0" marL="0">
              <a:buNone/>
            </a:pPr>
            <a:r>
              <a:rPr lang="en-US" sz="1050" i="1" dirty="0">
                <a:solidFill>
                  <a:srgbClr val="FFFFFF"/>
                </a:solidFill>
                <a:latin typeface="Yu Gothic" pitchFamily="34" charset="0"/>
                <a:ea typeface="Yu Gothic" pitchFamily="34" charset="-122"/>
                <a:cs typeface="Yu Gothic" pitchFamily="34" charset="-120"/>
              </a:rPr>
              <a:t>「まずは私たちで相談してみよう」</a:t>
            </a:r>
            <a:endParaRPr lang="en-US" sz="1050" dirty="0"/>
          </a:p>
        </p:txBody>
      </p:sp>
      <p:sp>
        <p:nvSpPr>
          <p:cNvPr id="48" name="Shape 46"/>
          <p:cNvSpPr/>
          <p:nvPr/>
        </p:nvSpPr>
        <p:spPr>
          <a:xfrm>
            <a:off x="7269480" y="3749040"/>
            <a:ext cx="4370832" cy="1371600"/>
          </a:xfrm>
          <a:prstGeom prst="roundRect">
            <a:avLst>
              <a:gd name="adj" fmla="val 6667"/>
            </a:avLst>
          </a:prstGeom>
          <a:solidFill>
            <a:srgbClr val="1C2C4A"/>
          </a:solidFill>
          <a:ln/>
          <a:effectLst>
            <a:outerShdw sx="100000" sy="100000" kx="0" ky="0" algn="bl" rotWithShape="0" blurRad="101600" dist="38100" dir="5400000">
              <a:srgbClr val="000000">
                <a:alpha val="35000"/>
              </a:srgbClr>
            </a:outerShdw>
          </a:effectLst>
        </p:spPr>
      </p:sp>
      <p:sp>
        <p:nvSpPr>
          <p:cNvPr id="49" name="Shape 47"/>
          <p:cNvSpPr/>
          <p:nvPr/>
        </p:nvSpPr>
        <p:spPr>
          <a:xfrm>
            <a:off x="7498080" y="3986784"/>
            <a:ext cx="182880" cy="182880"/>
          </a:xfrm>
          <a:prstGeom prst="ellipse">
            <a:avLst/>
          </a:prstGeom>
          <a:solidFill>
            <a:srgbClr val="E2665A"/>
          </a:solidFill>
          <a:ln/>
        </p:spPr>
      </p:sp>
      <p:sp>
        <p:nvSpPr>
          <p:cNvPr id="50" name="Text 48"/>
          <p:cNvSpPr/>
          <p:nvPr/>
        </p:nvSpPr>
        <p:spPr>
          <a:xfrm>
            <a:off x="7790688" y="3877056"/>
            <a:ext cx="3657600" cy="347472"/>
          </a:xfrm>
          <a:prstGeom prst="rect">
            <a:avLst/>
          </a:prstGeom>
          <a:noFill/>
          <a:ln/>
        </p:spPr>
        <p:txBody>
          <a:bodyPr wrap="square" lIns="0" tIns="0" rIns="0" bIns="0" rtlCol="0" anchor="ctr"/>
          <a:lstStyle/>
          <a:p>
            <a:pPr indent="0" marL="0">
              <a:buNone/>
            </a:pPr>
            <a:r>
              <a:rPr lang="en-US" sz="1200" b="1" dirty="0">
                <a:solidFill>
                  <a:srgbClr val="E2665A"/>
                </a:solidFill>
                <a:latin typeface="Yu Gothic" pitchFamily="34" charset="0"/>
                <a:ea typeface="Yu Gothic" pitchFamily="34" charset="-122"/>
                <a:cs typeface="Yu Gothic" pitchFamily="34" charset="-120"/>
              </a:rPr>
              <a:t>依存に戻った回（1・4）</a:t>
            </a:r>
            <a:endParaRPr lang="en-US" sz="1200" dirty="0"/>
          </a:p>
        </p:txBody>
      </p:sp>
      <p:sp>
        <p:nvSpPr>
          <p:cNvPr id="51" name="Text 49"/>
          <p:cNvSpPr/>
          <p:nvPr/>
        </p:nvSpPr>
        <p:spPr>
          <a:xfrm>
            <a:off x="7543800" y="4242816"/>
            <a:ext cx="3931920" cy="457200"/>
          </a:xfrm>
          <a:prstGeom prst="rect">
            <a:avLst/>
          </a:prstGeom>
          <a:noFill/>
          <a:ln/>
        </p:spPr>
        <p:txBody>
          <a:bodyPr wrap="square" lIns="0" tIns="0" rIns="0" bIns="0" rtlCol="0" anchor="ctr"/>
          <a:lstStyle/>
          <a:p>
            <a:pPr indent="0" marL="0">
              <a:lnSpc>
                <a:spcPct val="115000"/>
              </a:lnSpc>
              <a:buNone/>
            </a:pPr>
            <a:r>
              <a:rPr lang="en-US" sz="1050" dirty="0">
                <a:solidFill>
                  <a:srgbClr val="AFC9EE"/>
                </a:solidFill>
                <a:latin typeface="Yu Gothic" pitchFamily="34" charset="0"/>
                <a:ea typeface="Yu Gothic" pitchFamily="34" charset="-122"/>
                <a:cs typeface="Yu Gothic" pitchFamily="34" charset="-120"/>
              </a:rPr>
              <a:t>世話好きな住民が、最後まで許可を求め続けた</a:t>
            </a:r>
            <a:endParaRPr lang="en-US" sz="1050" dirty="0"/>
          </a:p>
        </p:txBody>
      </p:sp>
      <p:sp>
        <p:nvSpPr>
          <p:cNvPr id="52" name="Text 50"/>
          <p:cNvSpPr/>
          <p:nvPr/>
        </p:nvSpPr>
        <p:spPr>
          <a:xfrm>
            <a:off x="7543800" y="4700016"/>
            <a:ext cx="3931920" cy="310896"/>
          </a:xfrm>
          <a:prstGeom prst="rect">
            <a:avLst/>
          </a:prstGeom>
          <a:noFill/>
          <a:ln/>
        </p:spPr>
        <p:txBody>
          <a:bodyPr wrap="square" lIns="0" tIns="0" rIns="0" bIns="0" rtlCol="0" anchor="ctr"/>
          <a:lstStyle/>
          <a:p>
            <a:pPr indent="0" marL="0">
              <a:buNone/>
            </a:pPr>
            <a:r>
              <a:rPr lang="en-US" sz="1050" i="1" dirty="0">
                <a:solidFill>
                  <a:srgbClr val="FFFFFF"/>
                </a:solidFill>
                <a:latin typeface="Yu Gothic" pitchFamily="34" charset="0"/>
                <a:ea typeface="Yu Gothic" pitchFamily="34" charset="-122"/>
                <a:cs typeface="Yu Gothic" pitchFamily="34" charset="-120"/>
              </a:rPr>
              <a:t>「勝手に決めちゃっていいのか不安」</a:t>
            </a:r>
            <a:endParaRPr lang="en-US" sz="1050" dirty="0"/>
          </a:p>
        </p:txBody>
      </p:sp>
      <p:sp>
        <p:nvSpPr>
          <p:cNvPr id="53" name="Shape 51"/>
          <p:cNvSpPr/>
          <p:nvPr/>
        </p:nvSpPr>
        <p:spPr>
          <a:xfrm>
            <a:off x="548640" y="5669280"/>
            <a:ext cx="11091672" cy="685800"/>
          </a:xfrm>
          <a:prstGeom prst="roundRect">
            <a:avLst>
              <a:gd name="adj" fmla="val 13333"/>
            </a:avLst>
          </a:prstGeom>
          <a:solidFill>
            <a:srgbClr val="1C2C4A"/>
          </a:solidFill>
          <a:ln/>
          <a:effectLst>
            <a:outerShdw sx="100000" sy="100000" kx="0" ky="0" algn="bl" rotWithShape="0" blurRad="101600" dist="38100" dir="5400000">
              <a:srgbClr val="000000">
                <a:alpha val="35000"/>
              </a:srgbClr>
            </a:outerShdw>
          </a:effectLst>
        </p:spPr>
      </p:sp>
      <p:sp>
        <p:nvSpPr>
          <p:cNvPr id="54" name="Text 52"/>
          <p:cNvSpPr/>
          <p:nvPr/>
        </p:nvSpPr>
        <p:spPr>
          <a:xfrm>
            <a:off x="868680" y="5669280"/>
            <a:ext cx="10515600" cy="685800"/>
          </a:xfrm>
          <a:prstGeom prst="rect">
            <a:avLst/>
          </a:prstGeom>
          <a:noFill/>
          <a:ln/>
        </p:spPr>
        <p:txBody>
          <a:bodyPr wrap="square" lIns="0" tIns="0" rIns="0" bIns="0" rtlCol="0" anchor="ctr"/>
          <a:lstStyle/>
          <a:p>
            <a:pPr indent="0" marL="0">
              <a:buNone/>
            </a:pPr>
            <a:r>
              <a:rPr lang="en-US" sz="1400" b="1" dirty="0">
                <a:solidFill>
                  <a:srgbClr val="F4C878"/>
                </a:solidFill>
                <a:latin typeface="Yu Gothic" pitchFamily="34" charset="0"/>
                <a:ea typeface="Yu Gothic" pitchFamily="34" charset="-122"/>
                <a:cs typeface="Yu Gothic" pitchFamily="34" charset="-120"/>
              </a:rPr>
              <a:t>制度は自律を「可能にする」だけで、自律そのものを生みはしない。</a:t>
            </a:r>
            <a:endParaRPr lang="en-US" sz="1400" dirty="0"/>
          </a:p>
        </p:txBody>
      </p:sp>
      <p:sp>
        <p:nvSpPr>
          <p:cNvPr id="55" name="Text 53"/>
          <p:cNvSpPr/>
          <p:nvPr/>
        </p:nvSpPr>
        <p:spPr>
          <a:xfrm>
            <a:off x="548640" y="6473952"/>
            <a:ext cx="4572000" cy="274320"/>
          </a:xfrm>
          <a:prstGeom prst="rect">
            <a:avLst/>
          </a:prstGeom>
          <a:noFill/>
          <a:ln/>
        </p:spPr>
        <p:txBody>
          <a:bodyPr wrap="square" lIns="0" tIns="0" rIns="0" bIns="0" rtlCol="0" anchor="ctr"/>
          <a:lstStyle/>
          <a:p>
            <a:pPr indent="0" marL="0">
              <a:buNone/>
            </a:pPr>
            <a:r>
              <a:rPr lang="en-US" sz="900" dirty="0">
                <a:solidFill>
                  <a:srgbClr val="5B6480"/>
                </a:solidFill>
                <a:latin typeface="Yu Gothic" pitchFamily="34" charset="0"/>
                <a:ea typeface="Yu Gothic" pitchFamily="34" charset="-122"/>
                <a:cs typeface="Yu Gothic" pitchFamily="34" charset="-120"/>
              </a:rPr>
              <a:t>救済者 × ガバナンス</a:t>
            </a:r>
            <a:endParaRPr lang="en-US" sz="900" dirty="0"/>
          </a:p>
        </p:txBody>
      </p:sp>
      <p:sp>
        <p:nvSpPr>
          <p:cNvPr id="56" name="Text 54"/>
          <p:cNvSpPr/>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FFFFFF"/>
                </a:solidFill>
                <a:latin typeface="Yu Gothic" pitchFamily="34" charset="0"/>
                <a:ea typeface="Yu Gothic" pitchFamily="34" charset="-122"/>
                <a:cs typeface="Yu Gothic" pitchFamily="34" charset="-120"/>
              </a:rPr>
              <a:t>その「一歩」を、どこまで押せばいいのか</a:t>
            </a:r>
            <a:endParaRPr lang="en-US" sz="3000" dirty="0"/>
          </a:p>
        </p:txBody>
      </p:sp>
      <p:sp>
        <p:nvSpPr>
          <p:cNvPr id="3" name="Text 1"/>
          <p:cNvSpPr/>
          <p:nvPr/>
        </p:nvSpPr>
        <p:spPr>
          <a:xfrm>
            <a:off x="548640" y="1207008"/>
            <a:ext cx="11094415" cy="365760"/>
          </a:xfrm>
          <a:prstGeom prst="rect">
            <a:avLst/>
          </a:prstGeom>
          <a:noFill/>
          <a:ln/>
        </p:spPr>
        <p:txBody>
          <a:bodyPr wrap="square" lIns="0" tIns="0" rIns="0" bIns="0" rtlCol="0" anchor="ctr"/>
          <a:lstStyle/>
          <a:p>
            <a:pPr algn="l" indent="0" marL="0">
              <a:buNone/>
            </a:pPr>
            <a:r>
              <a:rPr lang="en-US" sz="1400" dirty="0">
                <a:solidFill>
                  <a:srgbClr val="9AA4C0"/>
                </a:solidFill>
                <a:latin typeface="Yu Gothic" pitchFamily="34" charset="0"/>
                <a:ea typeface="Yu Gothic" pitchFamily="34" charset="-122"/>
                <a:cs typeface="Yu Gothic" pitchFamily="34" charset="-120"/>
              </a:rPr>
              <a:t>世話好きな住民の「許可を求める度合い」だけを5段階に変え、各5回ずつ計25回実行した。</a:t>
            </a:r>
            <a:endParaRPr lang="en-US" sz="1400" dirty="0"/>
          </a:p>
        </p:txBody>
      </p:sp>
      <p:sp>
        <p:nvSpPr>
          <p:cNvPr id="4" name="Shape 2"/>
          <p:cNvSpPr/>
          <p:nvPr/>
        </p:nvSpPr>
        <p:spPr>
          <a:xfrm>
            <a:off x="9128455" y="457200"/>
            <a:ext cx="2514600" cy="365760"/>
          </a:xfrm>
          <a:prstGeom prst="roundRect">
            <a:avLst>
              <a:gd name="adj" fmla="val 50000"/>
            </a:avLst>
          </a:prstGeom>
          <a:solidFill>
            <a:srgbClr val="1C2C4A"/>
          </a:solidFill>
          <a:ln w="9525">
            <a:solidFill>
              <a:srgbClr val="5A8FD6"/>
            </a:solidFill>
            <a:prstDash val="solid"/>
          </a:ln>
        </p:spPr>
      </p:sp>
      <p:sp>
        <p:nvSpPr>
          <p:cNvPr id="5" name="Text 3"/>
          <p:cNvSpPr/>
          <p:nvPr/>
        </p:nvSpPr>
        <p:spPr>
          <a:xfrm>
            <a:off x="9128455" y="457200"/>
            <a:ext cx="2514600" cy="365760"/>
          </a:xfrm>
          <a:prstGeom prst="rect">
            <a:avLst/>
          </a:prstGeom>
          <a:noFill/>
          <a:ln/>
        </p:spPr>
        <p:txBody>
          <a:bodyPr wrap="square" lIns="0" tIns="0" rIns="0" bIns="0" rtlCol="0" anchor="ctr"/>
          <a:lstStyle/>
          <a:p>
            <a:pPr algn="ctr" indent="0" marL="0">
              <a:buNone/>
            </a:pPr>
            <a:r>
              <a:rPr lang="en-US" sz="1000" dirty="0">
                <a:solidFill>
                  <a:srgbClr val="AFC9EE"/>
                </a:solidFill>
                <a:latin typeface="Yu Gothic" pitchFamily="34" charset="0"/>
                <a:ea typeface="Yu Gothic" pitchFamily="34" charset="-122"/>
                <a:cs typeface="Yu Gothic" pitchFamily="34" charset="-120"/>
              </a:rPr>
              <a:t>Claude Sonnet 4.5 での結果</a:t>
            </a:r>
            <a:endParaRPr lang="en-US" sz="1000" dirty="0"/>
          </a:p>
        </p:txBody>
      </p:sp>
      <p:sp>
        <p:nvSpPr>
          <p:cNvPr id="6" name="Shape 4"/>
          <p:cNvSpPr/>
          <p:nvPr/>
        </p:nvSpPr>
        <p:spPr>
          <a:xfrm>
            <a:off x="548640" y="1691640"/>
            <a:ext cx="6949440" cy="3977640"/>
          </a:xfrm>
          <a:prstGeom prst="roundRect">
            <a:avLst>
              <a:gd name="adj" fmla="val 2759"/>
            </a:avLst>
          </a:prstGeom>
          <a:solidFill>
            <a:srgbClr val="16213A"/>
          </a:solidFill>
          <a:ln/>
          <a:effectLst>
            <a:outerShdw sx="100000" sy="100000" kx="0" ky="0" algn="bl" rotWithShape="0" blurRad="101600" dist="38100" dir="5400000">
              <a:srgbClr val="000000">
                <a:alpha val="35000"/>
              </a:srgbClr>
            </a:outerShdw>
          </a:effectLst>
        </p:spPr>
      </p:sp>
      <p:sp>
        <p:nvSpPr>
          <p:cNvPr id="7" name="Shape 5"/>
          <p:cNvSpPr/>
          <p:nvPr/>
        </p:nvSpPr>
        <p:spPr>
          <a:xfrm>
            <a:off x="1280160" y="4617720"/>
            <a:ext cx="5897880" cy="0"/>
          </a:xfrm>
          <a:prstGeom prst="line">
            <a:avLst/>
          </a:prstGeom>
          <a:noFill/>
          <a:ln w="9525">
            <a:solidFill>
              <a:srgbClr val="2A3752"/>
            </a:solidFill>
            <a:prstDash val="solid"/>
          </a:ln>
        </p:spPr>
      </p:sp>
      <p:sp>
        <p:nvSpPr>
          <p:cNvPr id="8" name="Text 6"/>
          <p:cNvSpPr/>
          <p:nvPr/>
        </p:nvSpPr>
        <p:spPr>
          <a:xfrm>
            <a:off x="731520" y="4498848"/>
            <a:ext cx="457200" cy="237744"/>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0</a:t>
            </a:r>
            <a:endParaRPr lang="en-US" sz="900" dirty="0"/>
          </a:p>
        </p:txBody>
      </p:sp>
      <p:sp>
        <p:nvSpPr>
          <p:cNvPr id="9" name="Shape 7"/>
          <p:cNvSpPr/>
          <p:nvPr/>
        </p:nvSpPr>
        <p:spPr>
          <a:xfrm>
            <a:off x="1280160" y="3954780"/>
            <a:ext cx="5897880" cy="0"/>
          </a:xfrm>
          <a:prstGeom prst="line">
            <a:avLst/>
          </a:prstGeom>
          <a:noFill/>
          <a:ln w="9525">
            <a:solidFill>
              <a:srgbClr val="2A3752"/>
            </a:solidFill>
            <a:prstDash val="solid"/>
          </a:ln>
        </p:spPr>
      </p:sp>
      <p:sp>
        <p:nvSpPr>
          <p:cNvPr id="10" name="Text 8"/>
          <p:cNvSpPr/>
          <p:nvPr/>
        </p:nvSpPr>
        <p:spPr>
          <a:xfrm>
            <a:off x="731520" y="3835908"/>
            <a:ext cx="457200" cy="237744"/>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25</a:t>
            </a:r>
            <a:endParaRPr lang="en-US" sz="900" dirty="0"/>
          </a:p>
        </p:txBody>
      </p:sp>
      <p:sp>
        <p:nvSpPr>
          <p:cNvPr id="11" name="Shape 9"/>
          <p:cNvSpPr/>
          <p:nvPr/>
        </p:nvSpPr>
        <p:spPr>
          <a:xfrm>
            <a:off x="1280160" y="3291840"/>
            <a:ext cx="5897880" cy="0"/>
          </a:xfrm>
          <a:prstGeom prst="line">
            <a:avLst/>
          </a:prstGeom>
          <a:noFill/>
          <a:ln w="9525">
            <a:solidFill>
              <a:srgbClr val="2A3752"/>
            </a:solidFill>
            <a:prstDash val="solid"/>
          </a:ln>
        </p:spPr>
      </p:sp>
      <p:sp>
        <p:nvSpPr>
          <p:cNvPr id="12" name="Text 10"/>
          <p:cNvSpPr/>
          <p:nvPr/>
        </p:nvSpPr>
        <p:spPr>
          <a:xfrm>
            <a:off x="731520" y="3172968"/>
            <a:ext cx="457200" cy="237744"/>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50</a:t>
            </a:r>
            <a:endParaRPr lang="en-US" sz="900" dirty="0"/>
          </a:p>
        </p:txBody>
      </p:sp>
      <p:sp>
        <p:nvSpPr>
          <p:cNvPr id="13" name="Shape 11"/>
          <p:cNvSpPr/>
          <p:nvPr/>
        </p:nvSpPr>
        <p:spPr>
          <a:xfrm>
            <a:off x="1280160" y="2628900"/>
            <a:ext cx="5897880" cy="0"/>
          </a:xfrm>
          <a:prstGeom prst="line">
            <a:avLst/>
          </a:prstGeom>
          <a:noFill/>
          <a:ln w="9525">
            <a:solidFill>
              <a:srgbClr val="2A3752"/>
            </a:solidFill>
            <a:prstDash val="solid"/>
          </a:ln>
        </p:spPr>
      </p:sp>
      <p:sp>
        <p:nvSpPr>
          <p:cNvPr id="14" name="Text 12"/>
          <p:cNvSpPr/>
          <p:nvPr/>
        </p:nvSpPr>
        <p:spPr>
          <a:xfrm>
            <a:off x="731520" y="2510028"/>
            <a:ext cx="457200" cy="237744"/>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75</a:t>
            </a:r>
            <a:endParaRPr lang="en-US" sz="900" dirty="0"/>
          </a:p>
        </p:txBody>
      </p:sp>
      <p:sp>
        <p:nvSpPr>
          <p:cNvPr id="15" name="Shape 13"/>
          <p:cNvSpPr/>
          <p:nvPr/>
        </p:nvSpPr>
        <p:spPr>
          <a:xfrm>
            <a:off x="1280160" y="1965960"/>
            <a:ext cx="5897880" cy="0"/>
          </a:xfrm>
          <a:prstGeom prst="line">
            <a:avLst/>
          </a:prstGeom>
          <a:noFill/>
          <a:ln w="9525">
            <a:solidFill>
              <a:srgbClr val="2A3752"/>
            </a:solidFill>
            <a:prstDash val="solid"/>
          </a:ln>
        </p:spPr>
      </p:sp>
      <p:sp>
        <p:nvSpPr>
          <p:cNvPr id="16" name="Text 14"/>
          <p:cNvSpPr/>
          <p:nvPr/>
        </p:nvSpPr>
        <p:spPr>
          <a:xfrm>
            <a:off x="731520" y="1847088"/>
            <a:ext cx="457200" cy="237744"/>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100</a:t>
            </a:r>
            <a:endParaRPr lang="en-US" sz="900" dirty="0"/>
          </a:p>
        </p:txBody>
      </p:sp>
      <p:sp>
        <p:nvSpPr>
          <p:cNvPr id="17" name="Shape 15"/>
          <p:cNvSpPr/>
          <p:nvPr/>
        </p:nvSpPr>
        <p:spPr>
          <a:xfrm flipV="1">
            <a:off x="1371600" y="3212287"/>
            <a:ext cx="1440180" cy="397764"/>
          </a:xfrm>
          <a:prstGeom prst="line">
            <a:avLst/>
          </a:prstGeom>
          <a:noFill/>
          <a:ln w="31750">
            <a:solidFill>
              <a:srgbClr val="1BAF7A"/>
            </a:solidFill>
            <a:prstDash val="solid"/>
          </a:ln>
        </p:spPr>
      </p:sp>
      <p:sp>
        <p:nvSpPr>
          <p:cNvPr id="18" name="Shape 16"/>
          <p:cNvSpPr/>
          <p:nvPr/>
        </p:nvSpPr>
        <p:spPr>
          <a:xfrm flipV="1">
            <a:off x="2811780" y="2894076"/>
            <a:ext cx="1440180" cy="318211"/>
          </a:xfrm>
          <a:prstGeom prst="line">
            <a:avLst/>
          </a:prstGeom>
          <a:noFill/>
          <a:ln w="31750">
            <a:solidFill>
              <a:srgbClr val="1BAF7A"/>
            </a:solidFill>
            <a:prstDash val="solid"/>
          </a:ln>
        </p:spPr>
      </p:sp>
      <p:sp>
        <p:nvSpPr>
          <p:cNvPr id="19" name="Shape 17"/>
          <p:cNvSpPr/>
          <p:nvPr/>
        </p:nvSpPr>
        <p:spPr>
          <a:xfrm flipV="1">
            <a:off x="4251960" y="2734970"/>
            <a:ext cx="1440180" cy="159106"/>
          </a:xfrm>
          <a:prstGeom prst="line">
            <a:avLst/>
          </a:prstGeom>
          <a:noFill/>
          <a:ln w="31750">
            <a:solidFill>
              <a:srgbClr val="1BAF7A"/>
            </a:solidFill>
            <a:prstDash val="solid"/>
          </a:ln>
        </p:spPr>
      </p:sp>
      <p:sp>
        <p:nvSpPr>
          <p:cNvPr id="20" name="Shape 18"/>
          <p:cNvSpPr/>
          <p:nvPr/>
        </p:nvSpPr>
        <p:spPr>
          <a:xfrm>
            <a:off x="5692140" y="2734970"/>
            <a:ext cx="1440180" cy="424282"/>
          </a:xfrm>
          <a:prstGeom prst="line">
            <a:avLst/>
          </a:prstGeom>
          <a:noFill/>
          <a:ln w="31750">
            <a:solidFill>
              <a:srgbClr val="E2665A"/>
            </a:solidFill>
            <a:prstDash val="solid"/>
          </a:ln>
        </p:spPr>
      </p:sp>
      <p:sp>
        <p:nvSpPr>
          <p:cNvPr id="21" name="Shape 19"/>
          <p:cNvSpPr/>
          <p:nvPr/>
        </p:nvSpPr>
        <p:spPr>
          <a:xfrm>
            <a:off x="1271016" y="3509467"/>
            <a:ext cx="201168" cy="201168"/>
          </a:xfrm>
          <a:prstGeom prst="ellipse">
            <a:avLst/>
          </a:prstGeom>
          <a:solidFill>
            <a:srgbClr val="E2665A"/>
          </a:solidFill>
          <a:ln/>
        </p:spPr>
      </p:sp>
      <p:sp>
        <p:nvSpPr>
          <p:cNvPr id="22" name="Text 20"/>
          <p:cNvSpPr/>
          <p:nvPr/>
        </p:nvSpPr>
        <p:spPr>
          <a:xfrm>
            <a:off x="1005840" y="3079699"/>
            <a:ext cx="731520" cy="274320"/>
          </a:xfrm>
          <a:prstGeom prst="rect">
            <a:avLst/>
          </a:prstGeom>
          <a:noFill/>
          <a:ln/>
        </p:spPr>
        <p:txBody>
          <a:bodyPr wrap="square" lIns="0" tIns="0" rIns="0" bIns="0" rtlCol="0" anchor="ctr"/>
          <a:lstStyle/>
          <a:p>
            <a:pPr algn="ctr" indent="0" marL="0">
              <a:buNone/>
            </a:pPr>
            <a:r>
              <a:rPr lang="en-US" sz="1100" dirty="0">
                <a:solidFill>
                  <a:srgbClr val="9AA4C0"/>
                </a:solidFill>
                <a:latin typeface="Yu Gothic" pitchFamily="34" charset="0"/>
                <a:ea typeface="Yu Gothic" pitchFamily="34" charset="-122"/>
                <a:cs typeface="Yu Gothic" pitchFamily="34" charset="-120"/>
              </a:rPr>
              <a:t>38</a:t>
            </a:r>
            <a:endParaRPr lang="en-US" sz="1100" dirty="0"/>
          </a:p>
        </p:txBody>
      </p:sp>
      <p:sp>
        <p:nvSpPr>
          <p:cNvPr id="23" name="Text 21"/>
          <p:cNvSpPr/>
          <p:nvPr/>
        </p:nvSpPr>
        <p:spPr>
          <a:xfrm>
            <a:off x="1005840" y="4745736"/>
            <a:ext cx="731520" cy="237744"/>
          </a:xfrm>
          <a:prstGeom prst="rect">
            <a:avLst/>
          </a:prstGeom>
          <a:noFill/>
          <a:ln/>
        </p:spPr>
        <p:txBody>
          <a:bodyPr wrap="square" lIns="0" tIns="0" rIns="0" bIns="0" rtlCol="0" anchor="ctr"/>
          <a:lstStyle/>
          <a:p>
            <a:pPr algn="ctr" indent="0" marL="0">
              <a:buNone/>
            </a:pPr>
            <a:r>
              <a:rPr lang="en-US" sz="1100" dirty="0">
                <a:solidFill>
                  <a:srgbClr val="E2665A"/>
                </a:solidFill>
                <a:latin typeface="Yu Gothic" pitchFamily="34" charset="0"/>
                <a:ea typeface="Yu Gothic" pitchFamily="34" charset="-122"/>
                <a:cs typeface="Yu Gothic" pitchFamily="34" charset="-120"/>
              </a:rPr>
              <a:t>L0</a:t>
            </a:r>
            <a:endParaRPr lang="en-US" sz="1100" dirty="0"/>
          </a:p>
        </p:txBody>
      </p:sp>
      <p:sp>
        <p:nvSpPr>
          <p:cNvPr id="24" name="Text 22"/>
          <p:cNvSpPr/>
          <p:nvPr/>
        </p:nvSpPr>
        <p:spPr>
          <a:xfrm>
            <a:off x="1005840" y="5001768"/>
            <a:ext cx="731520" cy="237744"/>
          </a:xfrm>
          <a:prstGeom prst="rect">
            <a:avLst/>
          </a:prstGeom>
          <a:noFill/>
          <a:ln/>
        </p:spPr>
        <p:txBody>
          <a:bodyPr wrap="square" lIns="0" tIns="0" rIns="0" bIns="0" rtlCol="0" anchor="ctr"/>
          <a:lstStyle/>
          <a:p>
            <a:pPr algn="ctr" indent="0" marL="0">
              <a:buNone/>
            </a:pPr>
            <a:r>
              <a:rPr lang="en-US" sz="900" dirty="0">
                <a:solidFill>
                  <a:srgbClr val="9AA4C0"/>
                </a:solidFill>
                <a:latin typeface="Yu Gothic" pitchFamily="34" charset="0"/>
                <a:ea typeface="Yu Gothic" pitchFamily="34" charset="-122"/>
                <a:cs typeface="Yu Gothic" pitchFamily="34" charset="-120"/>
              </a:rPr>
              <a:t>0/5</a:t>
            </a:r>
            <a:endParaRPr lang="en-US" sz="900" dirty="0"/>
          </a:p>
        </p:txBody>
      </p:sp>
      <p:sp>
        <p:nvSpPr>
          <p:cNvPr id="25" name="Shape 23"/>
          <p:cNvSpPr/>
          <p:nvPr/>
        </p:nvSpPr>
        <p:spPr>
          <a:xfrm>
            <a:off x="2711196" y="3111703"/>
            <a:ext cx="201168" cy="201168"/>
          </a:xfrm>
          <a:prstGeom prst="ellipse">
            <a:avLst/>
          </a:prstGeom>
          <a:solidFill>
            <a:srgbClr val="E2665A"/>
          </a:solidFill>
          <a:ln/>
        </p:spPr>
      </p:sp>
      <p:sp>
        <p:nvSpPr>
          <p:cNvPr id="26" name="Text 24"/>
          <p:cNvSpPr/>
          <p:nvPr/>
        </p:nvSpPr>
        <p:spPr>
          <a:xfrm>
            <a:off x="2446020" y="2681935"/>
            <a:ext cx="731520" cy="274320"/>
          </a:xfrm>
          <a:prstGeom prst="rect">
            <a:avLst/>
          </a:prstGeom>
          <a:noFill/>
          <a:ln/>
        </p:spPr>
        <p:txBody>
          <a:bodyPr wrap="square" lIns="0" tIns="0" rIns="0" bIns="0" rtlCol="0" anchor="ctr"/>
          <a:lstStyle/>
          <a:p>
            <a:pPr algn="ctr" indent="0" marL="0">
              <a:buNone/>
            </a:pPr>
            <a:r>
              <a:rPr lang="en-US" sz="1100" dirty="0">
                <a:solidFill>
                  <a:srgbClr val="9AA4C0"/>
                </a:solidFill>
                <a:latin typeface="Yu Gothic" pitchFamily="34" charset="0"/>
                <a:ea typeface="Yu Gothic" pitchFamily="34" charset="-122"/>
                <a:cs typeface="Yu Gothic" pitchFamily="34" charset="-120"/>
              </a:rPr>
              <a:t>53</a:t>
            </a:r>
            <a:endParaRPr lang="en-US" sz="1100" dirty="0"/>
          </a:p>
        </p:txBody>
      </p:sp>
      <p:sp>
        <p:nvSpPr>
          <p:cNvPr id="27" name="Text 25"/>
          <p:cNvSpPr/>
          <p:nvPr/>
        </p:nvSpPr>
        <p:spPr>
          <a:xfrm>
            <a:off x="2446020" y="4745736"/>
            <a:ext cx="731520" cy="237744"/>
          </a:xfrm>
          <a:prstGeom prst="rect">
            <a:avLst/>
          </a:prstGeom>
          <a:noFill/>
          <a:ln/>
        </p:spPr>
        <p:txBody>
          <a:bodyPr wrap="square" lIns="0" tIns="0" rIns="0" bIns="0" rtlCol="0" anchor="ctr"/>
          <a:lstStyle/>
          <a:p>
            <a:pPr algn="ctr" indent="0" marL="0">
              <a:buNone/>
            </a:pPr>
            <a:r>
              <a:rPr lang="en-US" sz="1100" dirty="0">
                <a:solidFill>
                  <a:srgbClr val="E2665A"/>
                </a:solidFill>
                <a:latin typeface="Yu Gothic" pitchFamily="34" charset="0"/>
                <a:ea typeface="Yu Gothic" pitchFamily="34" charset="-122"/>
                <a:cs typeface="Yu Gothic" pitchFamily="34" charset="-120"/>
              </a:rPr>
              <a:t>L1</a:t>
            </a:r>
            <a:endParaRPr lang="en-US" sz="1100" dirty="0"/>
          </a:p>
        </p:txBody>
      </p:sp>
      <p:sp>
        <p:nvSpPr>
          <p:cNvPr id="28" name="Text 26"/>
          <p:cNvSpPr/>
          <p:nvPr/>
        </p:nvSpPr>
        <p:spPr>
          <a:xfrm>
            <a:off x="2446020" y="5001768"/>
            <a:ext cx="731520" cy="237744"/>
          </a:xfrm>
          <a:prstGeom prst="rect">
            <a:avLst/>
          </a:prstGeom>
          <a:noFill/>
          <a:ln/>
        </p:spPr>
        <p:txBody>
          <a:bodyPr wrap="square" lIns="0" tIns="0" rIns="0" bIns="0" rtlCol="0" anchor="ctr"/>
          <a:lstStyle/>
          <a:p>
            <a:pPr algn="ctr" indent="0" marL="0">
              <a:buNone/>
            </a:pPr>
            <a:r>
              <a:rPr lang="en-US" sz="900" dirty="0">
                <a:solidFill>
                  <a:srgbClr val="9AA4C0"/>
                </a:solidFill>
                <a:latin typeface="Yu Gothic" pitchFamily="34" charset="0"/>
                <a:ea typeface="Yu Gothic" pitchFamily="34" charset="-122"/>
                <a:cs typeface="Yu Gothic" pitchFamily="34" charset="-120"/>
              </a:rPr>
              <a:t>2/5</a:t>
            </a:r>
            <a:endParaRPr lang="en-US" sz="900" dirty="0"/>
          </a:p>
        </p:txBody>
      </p:sp>
      <p:sp>
        <p:nvSpPr>
          <p:cNvPr id="29" name="Shape 27"/>
          <p:cNvSpPr/>
          <p:nvPr/>
        </p:nvSpPr>
        <p:spPr>
          <a:xfrm>
            <a:off x="4151376" y="2793492"/>
            <a:ext cx="201168" cy="201168"/>
          </a:xfrm>
          <a:prstGeom prst="ellipse">
            <a:avLst/>
          </a:prstGeom>
          <a:solidFill>
            <a:srgbClr val="E8A33D"/>
          </a:solidFill>
          <a:ln/>
        </p:spPr>
      </p:sp>
      <p:sp>
        <p:nvSpPr>
          <p:cNvPr id="30" name="Text 28"/>
          <p:cNvSpPr/>
          <p:nvPr/>
        </p:nvSpPr>
        <p:spPr>
          <a:xfrm>
            <a:off x="3886200" y="2363724"/>
            <a:ext cx="731520" cy="274320"/>
          </a:xfrm>
          <a:prstGeom prst="rect">
            <a:avLst/>
          </a:prstGeom>
          <a:noFill/>
          <a:ln/>
        </p:spPr>
        <p:txBody>
          <a:bodyPr wrap="square" lIns="0" tIns="0" rIns="0" bIns="0" rtlCol="0" anchor="ctr"/>
          <a:lstStyle/>
          <a:p>
            <a:pPr algn="ctr" indent="0" marL="0">
              <a:buNone/>
            </a:pPr>
            <a:r>
              <a:rPr lang="en-US" sz="1100" dirty="0">
                <a:solidFill>
                  <a:srgbClr val="9AA4C0"/>
                </a:solidFill>
                <a:latin typeface="Yu Gothic" pitchFamily="34" charset="0"/>
                <a:ea typeface="Yu Gothic" pitchFamily="34" charset="-122"/>
                <a:cs typeface="Yu Gothic" pitchFamily="34" charset="-120"/>
              </a:rPr>
              <a:t>65</a:t>
            </a:r>
            <a:endParaRPr lang="en-US" sz="1100" dirty="0"/>
          </a:p>
        </p:txBody>
      </p:sp>
      <p:sp>
        <p:nvSpPr>
          <p:cNvPr id="31" name="Text 29"/>
          <p:cNvSpPr/>
          <p:nvPr/>
        </p:nvSpPr>
        <p:spPr>
          <a:xfrm>
            <a:off x="3886200" y="4745736"/>
            <a:ext cx="731520" cy="237744"/>
          </a:xfrm>
          <a:prstGeom prst="rect">
            <a:avLst/>
          </a:prstGeom>
          <a:noFill/>
          <a:ln/>
        </p:spPr>
        <p:txBody>
          <a:bodyPr wrap="square" lIns="0" tIns="0" rIns="0" bIns="0" rtlCol="0" anchor="ctr"/>
          <a:lstStyle/>
          <a:p>
            <a:pPr algn="ctr" indent="0" marL="0">
              <a:buNone/>
            </a:pPr>
            <a:r>
              <a:rPr lang="en-US" sz="1100" dirty="0">
                <a:solidFill>
                  <a:srgbClr val="E8A33D"/>
                </a:solidFill>
                <a:latin typeface="Yu Gothic" pitchFamily="34" charset="0"/>
                <a:ea typeface="Yu Gothic" pitchFamily="34" charset="-122"/>
                <a:cs typeface="Yu Gothic" pitchFamily="34" charset="-120"/>
              </a:rPr>
              <a:t>L2</a:t>
            </a:r>
            <a:endParaRPr lang="en-US" sz="1100" dirty="0"/>
          </a:p>
        </p:txBody>
      </p:sp>
      <p:sp>
        <p:nvSpPr>
          <p:cNvPr id="32" name="Text 30"/>
          <p:cNvSpPr/>
          <p:nvPr/>
        </p:nvSpPr>
        <p:spPr>
          <a:xfrm>
            <a:off x="3886200" y="5001768"/>
            <a:ext cx="731520" cy="237744"/>
          </a:xfrm>
          <a:prstGeom prst="rect">
            <a:avLst/>
          </a:prstGeom>
          <a:noFill/>
          <a:ln/>
        </p:spPr>
        <p:txBody>
          <a:bodyPr wrap="square" lIns="0" tIns="0" rIns="0" bIns="0" rtlCol="0" anchor="ctr"/>
          <a:lstStyle/>
          <a:p>
            <a:pPr algn="ctr" indent="0" marL="0">
              <a:buNone/>
            </a:pPr>
            <a:r>
              <a:rPr lang="en-US" sz="900" dirty="0">
                <a:solidFill>
                  <a:srgbClr val="9AA4C0"/>
                </a:solidFill>
                <a:latin typeface="Yu Gothic" pitchFamily="34" charset="0"/>
                <a:ea typeface="Yu Gothic" pitchFamily="34" charset="-122"/>
                <a:cs typeface="Yu Gothic" pitchFamily="34" charset="-120"/>
              </a:rPr>
              <a:t>3/5</a:t>
            </a:r>
            <a:endParaRPr lang="en-US" sz="900" dirty="0"/>
          </a:p>
        </p:txBody>
      </p:sp>
      <p:sp>
        <p:nvSpPr>
          <p:cNvPr id="33" name="Shape 31"/>
          <p:cNvSpPr/>
          <p:nvPr/>
        </p:nvSpPr>
        <p:spPr>
          <a:xfrm>
            <a:off x="5545836" y="2588666"/>
            <a:ext cx="292608" cy="292608"/>
          </a:xfrm>
          <a:prstGeom prst="ellipse">
            <a:avLst/>
          </a:prstGeom>
          <a:solidFill>
            <a:srgbClr val="1BAF7A"/>
          </a:solidFill>
          <a:ln w="19050">
            <a:solidFill>
              <a:srgbClr val="FFFFFF"/>
            </a:solidFill>
            <a:prstDash val="solid"/>
          </a:ln>
        </p:spPr>
      </p:sp>
      <p:sp>
        <p:nvSpPr>
          <p:cNvPr id="34" name="Text 32"/>
          <p:cNvSpPr/>
          <p:nvPr/>
        </p:nvSpPr>
        <p:spPr>
          <a:xfrm>
            <a:off x="5326380" y="2204618"/>
            <a:ext cx="7315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Yu Gothic" pitchFamily="34" charset="0"/>
                <a:ea typeface="Yu Gothic" pitchFamily="34" charset="-122"/>
                <a:cs typeface="Yu Gothic" pitchFamily="34" charset="-120"/>
              </a:rPr>
              <a:t>71</a:t>
            </a:r>
            <a:endParaRPr lang="en-US" sz="1100" dirty="0"/>
          </a:p>
        </p:txBody>
      </p:sp>
      <p:sp>
        <p:nvSpPr>
          <p:cNvPr id="35" name="Text 33"/>
          <p:cNvSpPr/>
          <p:nvPr/>
        </p:nvSpPr>
        <p:spPr>
          <a:xfrm>
            <a:off x="5326380" y="4745736"/>
            <a:ext cx="731520" cy="237744"/>
          </a:xfrm>
          <a:prstGeom prst="rect">
            <a:avLst/>
          </a:prstGeom>
          <a:noFill/>
          <a:ln/>
        </p:spPr>
        <p:txBody>
          <a:bodyPr wrap="square" lIns="0" tIns="0" rIns="0" bIns="0" rtlCol="0" anchor="ctr"/>
          <a:lstStyle/>
          <a:p>
            <a:pPr algn="ctr" indent="0" marL="0">
              <a:buNone/>
            </a:pPr>
            <a:r>
              <a:rPr lang="en-US" sz="1100" b="1" dirty="0">
                <a:solidFill>
                  <a:srgbClr val="1BAF7A"/>
                </a:solidFill>
                <a:latin typeface="Yu Gothic" pitchFamily="34" charset="0"/>
                <a:ea typeface="Yu Gothic" pitchFamily="34" charset="-122"/>
                <a:cs typeface="Yu Gothic" pitchFamily="34" charset="-120"/>
              </a:rPr>
              <a:t>L3</a:t>
            </a:r>
            <a:endParaRPr lang="en-US" sz="1100" dirty="0"/>
          </a:p>
        </p:txBody>
      </p:sp>
      <p:sp>
        <p:nvSpPr>
          <p:cNvPr id="36" name="Text 34"/>
          <p:cNvSpPr/>
          <p:nvPr/>
        </p:nvSpPr>
        <p:spPr>
          <a:xfrm>
            <a:off x="5326380" y="5001768"/>
            <a:ext cx="731520" cy="237744"/>
          </a:xfrm>
          <a:prstGeom prst="rect">
            <a:avLst/>
          </a:prstGeom>
          <a:noFill/>
          <a:ln/>
        </p:spPr>
        <p:txBody>
          <a:bodyPr wrap="square" lIns="0" tIns="0" rIns="0" bIns="0" rtlCol="0" anchor="ctr"/>
          <a:lstStyle/>
          <a:p>
            <a:pPr algn="ctr" indent="0" marL="0">
              <a:buNone/>
            </a:pPr>
            <a:r>
              <a:rPr lang="en-US" sz="900" dirty="0">
                <a:solidFill>
                  <a:srgbClr val="9AA4C0"/>
                </a:solidFill>
                <a:latin typeface="Yu Gothic" pitchFamily="34" charset="0"/>
                <a:ea typeface="Yu Gothic" pitchFamily="34" charset="-122"/>
                <a:cs typeface="Yu Gothic" pitchFamily="34" charset="-120"/>
              </a:rPr>
              <a:t>5/5</a:t>
            </a:r>
            <a:endParaRPr lang="en-US" sz="900" dirty="0"/>
          </a:p>
        </p:txBody>
      </p:sp>
      <p:sp>
        <p:nvSpPr>
          <p:cNvPr id="37" name="Shape 35"/>
          <p:cNvSpPr/>
          <p:nvPr/>
        </p:nvSpPr>
        <p:spPr>
          <a:xfrm>
            <a:off x="7031736" y="3058668"/>
            <a:ext cx="201168" cy="201168"/>
          </a:xfrm>
          <a:prstGeom prst="ellipse">
            <a:avLst/>
          </a:prstGeom>
          <a:solidFill>
            <a:srgbClr val="E2665A"/>
          </a:solidFill>
          <a:ln/>
        </p:spPr>
      </p:sp>
      <p:sp>
        <p:nvSpPr>
          <p:cNvPr id="38" name="Text 36"/>
          <p:cNvSpPr/>
          <p:nvPr/>
        </p:nvSpPr>
        <p:spPr>
          <a:xfrm>
            <a:off x="6766560" y="2628900"/>
            <a:ext cx="731520" cy="274320"/>
          </a:xfrm>
          <a:prstGeom prst="rect">
            <a:avLst/>
          </a:prstGeom>
          <a:noFill/>
          <a:ln/>
        </p:spPr>
        <p:txBody>
          <a:bodyPr wrap="square" lIns="0" tIns="0" rIns="0" bIns="0" rtlCol="0" anchor="ctr"/>
          <a:lstStyle/>
          <a:p>
            <a:pPr algn="ctr" indent="0" marL="0">
              <a:buNone/>
            </a:pPr>
            <a:r>
              <a:rPr lang="en-US" sz="1100" dirty="0">
                <a:solidFill>
                  <a:srgbClr val="9AA4C0"/>
                </a:solidFill>
                <a:latin typeface="Yu Gothic" pitchFamily="34" charset="0"/>
                <a:ea typeface="Yu Gothic" pitchFamily="34" charset="-122"/>
                <a:cs typeface="Yu Gothic" pitchFamily="34" charset="-120"/>
              </a:rPr>
              <a:t>55</a:t>
            </a:r>
            <a:endParaRPr lang="en-US" sz="1100" dirty="0"/>
          </a:p>
        </p:txBody>
      </p:sp>
      <p:sp>
        <p:nvSpPr>
          <p:cNvPr id="39" name="Text 37"/>
          <p:cNvSpPr/>
          <p:nvPr/>
        </p:nvSpPr>
        <p:spPr>
          <a:xfrm>
            <a:off x="6766560" y="4745736"/>
            <a:ext cx="731520" cy="237744"/>
          </a:xfrm>
          <a:prstGeom prst="rect">
            <a:avLst/>
          </a:prstGeom>
          <a:noFill/>
          <a:ln/>
        </p:spPr>
        <p:txBody>
          <a:bodyPr wrap="square" lIns="0" tIns="0" rIns="0" bIns="0" rtlCol="0" anchor="ctr"/>
          <a:lstStyle/>
          <a:p>
            <a:pPr algn="ctr" indent="0" marL="0">
              <a:buNone/>
            </a:pPr>
            <a:r>
              <a:rPr lang="en-US" sz="1100" dirty="0">
                <a:solidFill>
                  <a:srgbClr val="E2665A"/>
                </a:solidFill>
                <a:latin typeface="Yu Gothic" pitchFamily="34" charset="0"/>
                <a:ea typeface="Yu Gothic" pitchFamily="34" charset="-122"/>
                <a:cs typeface="Yu Gothic" pitchFamily="34" charset="-120"/>
              </a:rPr>
              <a:t>L4</a:t>
            </a:r>
            <a:endParaRPr lang="en-US" sz="1100" dirty="0"/>
          </a:p>
        </p:txBody>
      </p:sp>
      <p:sp>
        <p:nvSpPr>
          <p:cNvPr id="40" name="Text 38"/>
          <p:cNvSpPr/>
          <p:nvPr/>
        </p:nvSpPr>
        <p:spPr>
          <a:xfrm>
            <a:off x="6766560" y="5001768"/>
            <a:ext cx="731520" cy="237744"/>
          </a:xfrm>
          <a:prstGeom prst="rect">
            <a:avLst/>
          </a:prstGeom>
          <a:noFill/>
          <a:ln/>
        </p:spPr>
        <p:txBody>
          <a:bodyPr wrap="square" lIns="0" tIns="0" rIns="0" bIns="0" rtlCol="0" anchor="ctr"/>
          <a:lstStyle/>
          <a:p>
            <a:pPr algn="ctr" indent="0" marL="0">
              <a:buNone/>
            </a:pPr>
            <a:r>
              <a:rPr lang="en-US" sz="900" dirty="0">
                <a:solidFill>
                  <a:srgbClr val="9AA4C0"/>
                </a:solidFill>
                <a:latin typeface="Yu Gothic" pitchFamily="34" charset="0"/>
                <a:ea typeface="Yu Gothic" pitchFamily="34" charset="-122"/>
                <a:cs typeface="Yu Gothic" pitchFamily="34" charset="-120"/>
              </a:rPr>
              <a:t>2/5</a:t>
            </a:r>
            <a:endParaRPr lang="en-US" sz="900" dirty="0"/>
          </a:p>
        </p:txBody>
      </p:sp>
      <p:sp>
        <p:nvSpPr>
          <p:cNvPr id="41" name="Text 39"/>
          <p:cNvSpPr/>
          <p:nvPr/>
        </p:nvSpPr>
        <p:spPr>
          <a:xfrm>
            <a:off x="1280160" y="1801368"/>
            <a:ext cx="4572000" cy="237744"/>
          </a:xfrm>
          <a:prstGeom prst="rect">
            <a:avLst/>
          </a:prstGeom>
          <a:noFill/>
          <a:ln/>
        </p:spPr>
        <p:txBody>
          <a:bodyPr wrap="square" lIns="0" tIns="0" rIns="0" bIns="0" rtlCol="0" anchor="ctr"/>
          <a:lstStyle/>
          <a:p>
            <a:pPr indent="0" marL="0">
              <a:buNone/>
            </a:pPr>
            <a:r>
              <a:rPr lang="en-US" sz="1000" dirty="0">
                <a:solidFill>
                  <a:srgbClr val="9AA4C0"/>
                </a:solidFill>
                <a:latin typeface="Yu Gothic" pitchFamily="34" charset="0"/>
                <a:ea typeface="Yu Gothic" pitchFamily="34" charset="-122"/>
                <a:cs typeface="Yu Gothic" pitchFamily="34" charset="-120"/>
              </a:rPr>
              <a:t>村の自律度（5回平均）と、自律できた回数</a:t>
            </a:r>
            <a:endParaRPr lang="en-US" sz="1000" dirty="0"/>
          </a:p>
        </p:txBody>
      </p:sp>
      <p:sp>
        <p:nvSpPr>
          <p:cNvPr id="42" name="Text 40"/>
          <p:cNvSpPr/>
          <p:nvPr/>
        </p:nvSpPr>
        <p:spPr>
          <a:xfrm>
            <a:off x="1280160" y="5276088"/>
            <a:ext cx="5486400" cy="274320"/>
          </a:xfrm>
          <a:prstGeom prst="rect">
            <a:avLst/>
          </a:prstGeom>
          <a:noFill/>
          <a:ln/>
        </p:spPr>
        <p:txBody>
          <a:bodyPr wrap="square" lIns="0" tIns="0" rIns="0" bIns="0" rtlCol="0" anchor="ctr"/>
          <a:lstStyle/>
          <a:p>
            <a:pPr algn="ctr" indent="0" marL="0">
              <a:buNone/>
            </a:pPr>
            <a:r>
              <a:rPr lang="en-US" sz="1100" i="1" dirty="0">
                <a:solidFill>
                  <a:srgbClr val="AFC9EE"/>
                </a:solidFill>
                <a:latin typeface="Yu Gothic" pitchFamily="34" charset="0"/>
                <a:ea typeface="Yu Gothic" pitchFamily="34" charset="-122"/>
                <a:cs typeface="Yu Gothic" pitchFamily="34" charset="-120"/>
              </a:rPr>
              <a:t>↑ 押すほど良くなるが、L4で反転</a:t>
            </a:r>
            <a:endParaRPr lang="en-US" sz="1100" dirty="0"/>
          </a:p>
        </p:txBody>
      </p:sp>
      <p:sp>
        <p:nvSpPr>
          <p:cNvPr id="43" name="Shape 41"/>
          <p:cNvSpPr/>
          <p:nvPr/>
        </p:nvSpPr>
        <p:spPr>
          <a:xfrm>
            <a:off x="7680960" y="1783080"/>
            <a:ext cx="3959352" cy="1691640"/>
          </a:xfrm>
          <a:prstGeom prst="roundRect">
            <a:avLst>
              <a:gd name="adj" fmla="val 6486"/>
            </a:avLst>
          </a:prstGeom>
          <a:solidFill>
            <a:srgbClr val="1C2C4A"/>
          </a:solidFill>
          <a:ln/>
          <a:effectLst>
            <a:outerShdw sx="100000" sy="100000" kx="0" ky="0" algn="bl" rotWithShape="0" blurRad="101600" dist="38100" dir="5400000">
              <a:srgbClr val="000000">
                <a:alpha val="35000"/>
              </a:srgbClr>
            </a:outerShdw>
          </a:effectLst>
        </p:spPr>
      </p:sp>
      <p:sp>
        <p:nvSpPr>
          <p:cNvPr id="44" name="Shape 42"/>
          <p:cNvSpPr/>
          <p:nvPr/>
        </p:nvSpPr>
        <p:spPr>
          <a:xfrm>
            <a:off x="7909560" y="2020824"/>
            <a:ext cx="182880" cy="182880"/>
          </a:xfrm>
          <a:prstGeom prst="ellipse">
            <a:avLst/>
          </a:prstGeom>
          <a:solidFill>
            <a:srgbClr val="1BAF7A"/>
          </a:solidFill>
          <a:ln/>
        </p:spPr>
      </p:sp>
      <p:sp>
        <p:nvSpPr>
          <p:cNvPr id="45" name="Text 43"/>
          <p:cNvSpPr/>
          <p:nvPr/>
        </p:nvSpPr>
        <p:spPr>
          <a:xfrm>
            <a:off x="8202168" y="1911096"/>
            <a:ext cx="3291840" cy="365760"/>
          </a:xfrm>
          <a:prstGeom prst="rect">
            <a:avLst/>
          </a:prstGeom>
          <a:noFill/>
          <a:ln/>
        </p:spPr>
        <p:txBody>
          <a:bodyPr wrap="square" lIns="0" tIns="0" rIns="0" bIns="0" rtlCol="0" anchor="ctr"/>
          <a:lstStyle/>
          <a:p>
            <a:pPr indent="0" marL="0">
              <a:buNone/>
            </a:pPr>
            <a:r>
              <a:rPr lang="en-US" sz="1250" b="1" dirty="0">
                <a:solidFill>
                  <a:srgbClr val="1BAF7A"/>
                </a:solidFill>
                <a:latin typeface="Yu Gothic" pitchFamily="34" charset="0"/>
                <a:ea typeface="Yu Gothic" pitchFamily="34" charset="-122"/>
                <a:cs typeface="Yu Gothic" pitchFamily="34" charset="-120"/>
              </a:rPr>
              <a:t>L3で分岐が消えた</a:t>
            </a:r>
            <a:endParaRPr lang="en-US" sz="1250" dirty="0"/>
          </a:p>
        </p:txBody>
      </p:sp>
      <p:sp>
        <p:nvSpPr>
          <p:cNvPr id="46" name="Text 44"/>
          <p:cNvSpPr/>
          <p:nvPr/>
        </p:nvSpPr>
        <p:spPr>
          <a:xfrm>
            <a:off x="7955280" y="2313432"/>
            <a:ext cx="3474720" cy="1051560"/>
          </a:xfrm>
          <a:prstGeom prst="rect">
            <a:avLst/>
          </a:prstGeom>
          <a:noFill/>
          <a:ln/>
        </p:spPr>
        <p:txBody>
          <a:bodyPr wrap="square" lIns="0" tIns="0" rIns="0" bIns="0" rtlCol="0" anchor="ctr"/>
          <a:lstStyle/>
          <a:p>
            <a:pPr indent="0" marL="0">
              <a:lnSpc>
                <a:spcPct val="125000"/>
              </a:lnSpc>
              <a:buNone/>
            </a:pPr>
            <a:r>
              <a:rPr lang="en-US" sz="1050" dirty="0">
                <a:solidFill>
                  <a:srgbClr val="AFC9EE"/>
                </a:solidFill>
                <a:latin typeface="Yu Gothic" pitchFamily="34" charset="0"/>
                <a:ea typeface="Yu Gothic" pitchFamily="34" charset="-122"/>
                <a:cs typeface="Yu Gothic" pitchFamily="34" charset="-120"/>
              </a:rPr>
              <a:t>2/5だった自律が5回とも成功に。ばらつきも最小（幅10点）。「運が良ければ」を「確実に」へ変える閾値がある。</a:t>
            </a:r>
            <a:endParaRPr lang="en-US" sz="1050" dirty="0"/>
          </a:p>
        </p:txBody>
      </p:sp>
      <p:sp>
        <p:nvSpPr>
          <p:cNvPr id="47" name="Shape 45"/>
          <p:cNvSpPr/>
          <p:nvPr/>
        </p:nvSpPr>
        <p:spPr>
          <a:xfrm>
            <a:off x="7680960" y="3611880"/>
            <a:ext cx="3959352" cy="1691640"/>
          </a:xfrm>
          <a:prstGeom prst="roundRect">
            <a:avLst>
              <a:gd name="adj" fmla="val 6486"/>
            </a:avLst>
          </a:prstGeom>
          <a:solidFill>
            <a:srgbClr val="1C2C4A"/>
          </a:solidFill>
          <a:ln/>
          <a:effectLst>
            <a:outerShdw sx="100000" sy="100000" kx="0" ky="0" algn="bl" rotWithShape="0" blurRad="101600" dist="38100" dir="5400000">
              <a:srgbClr val="000000">
                <a:alpha val="35000"/>
              </a:srgbClr>
            </a:outerShdw>
          </a:effectLst>
        </p:spPr>
      </p:sp>
      <p:sp>
        <p:nvSpPr>
          <p:cNvPr id="48" name="Shape 46"/>
          <p:cNvSpPr/>
          <p:nvPr/>
        </p:nvSpPr>
        <p:spPr>
          <a:xfrm>
            <a:off x="7909560" y="3849624"/>
            <a:ext cx="182880" cy="182880"/>
          </a:xfrm>
          <a:prstGeom prst="ellipse">
            <a:avLst/>
          </a:prstGeom>
          <a:solidFill>
            <a:srgbClr val="E2665A"/>
          </a:solidFill>
          <a:ln/>
        </p:spPr>
      </p:sp>
      <p:sp>
        <p:nvSpPr>
          <p:cNvPr id="49" name="Text 47"/>
          <p:cNvSpPr/>
          <p:nvPr/>
        </p:nvSpPr>
        <p:spPr>
          <a:xfrm>
            <a:off x="8202168" y="3739896"/>
            <a:ext cx="3291840" cy="365760"/>
          </a:xfrm>
          <a:prstGeom prst="rect">
            <a:avLst/>
          </a:prstGeom>
          <a:noFill/>
          <a:ln/>
        </p:spPr>
        <p:txBody>
          <a:bodyPr wrap="square" lIns="0" tIns="0" rIns="0" bIns="0" rtlCol="0" anchor="ctr"/>
          <a:lstStyle/>
          <a:p>
            <a:pPr indent="0" marL="0">
              <a:buNone/>
            </a:pPr>
            <a:r>
              <a:rPr lang="en-US" sz="1250" b="1" dirty="0">
                <a:solidFill>
                  <a:srgbClr val="E2665A"/>
                </a:solidFill>
                <a:latin typeface="Yu Gothic" pitchFamily="34" charset="0"/>
                <a:ea typeface="Yu Gothic" pitchFamily="34" charset="-122"/>
                <a:cs typeface="Yu Gothic" pitchFamily="34" charset="-120"/>
              </a:rPr>
              <a:t>L4は第二の救済者を生んだ</a:t>
            </a:r>
            <a:endParaRPr lang="en-US" sz="1250" dirty="0"/>
          </a:p>
        </p:txBody>
      </p:sp>
      <p:sp>
        <p:nvSpPr>
          <p:cNvPr id="50" name="Text 48"/>
          <p:cNvSpPr/>
          <p:nvPr/>
        </p:nvSpPr>
        <p:spPr>
          <a:xfrm>
            <a:off x="7955280" y="4142232"/>
            <a:ext cx="3474720" cy="1051560"/>
          </a:xfrm>
          <a:prstGeom prst="rect">
            <a:avLst/>
          </a:prstGeom>
          <a:noFill/>
          <a:ln/>
        </p:spPr>
        <p:txBody>
          <a:bodyPr wrap="square" lIns="0" tIns="0" rIns="0" bIns="0" rtlCol="0" anchor="ctr"/>
          <a:lstStyle/>
          <a:p>
            <a:pPr indent="0" marL="0">
              <a:lnSpc>
                <a:spcPct val="125000"/>
              </a:lnSpc>
              <a:buNone/>
            </a:pPr>
            <a:r>
              <a:rPr lang="en-US" sz="1050" dirty="0">
                <a:solidFill>
                  <a:srgbClr val="AFC9EE"/>
                </a:solidFill>
                <a:latin typeface="Yu Gothic" pitchFamily="34" charset="0"/>
                <a:ea typeface="Yu Gothic" pitchFamily="34" charset="-122"/>
                <a:cs typeface="Yu Gothic" pitchFamily="34" charset="-120"/>
              </a:rPr>
              <a:t>独立度はL3より高いのに自律度は71→55。住民の待ち相手が救済者から世話好きな住民に移っただけだった。</a:t>
            </a:r>
            <a:endParaRPr lang="en-US" sz="1050" dirty="0"/>
          </a:p>
        </p:txBody>
      </p:sp>
      <p:sp>
        <p:nvSpPr>
          <p:cNvPr id="51" name="Shape 49"/>
          <p:cNvSpPr/>
          <p:nvPr/>
        </p:nvSpPr>
        <p:spPr>
          <a:xfrm>
            <a:off x="548640" y="5742432"/>
            <a:ext cx="11091672" cy="658368"/>
          </a:xfrm>
          <a:prstGeom prst="roundRect">
            <a:avLst>
              <a:gd name="adj" fmla="val 13889"/>
            </a:avLst>
          </a:prstGeom>
          <a:solidFill>
            <a:srgbClr val="16213A"/>
          </a:solidFill>
          <a:ln/>
          <a:effectLst>
            <a:outerShdw sx="100000" sy="100000" kx="0" ky="0" algn="bl" rotWithShape="0" blurRad="101600" dist="38100" dir="5400000">
              <a:srgbClr val="000000">
                <a:alpha val="35000"/>
              </a:srgbClr>
            </a:outerShdw>
          </a:effectLst>
        </p:spPr>
      </p:sp>
      <p:sp>
        <p:nvSpPr>
          <p:cNvPr id="52" name="Text 50"/>
          <p:cNvSpPr/>
          <p:nvPr/>
        </p:nvSpPr>
        <p:spPr>
          <a:xfrm>
            <a:off x="868680" y="5742432"/>
            <a:ext cx="10515600" cy="658368"/>
          </a:xfrm>
          <a:prstGeom prst="rect">
            <a:avLst/>
          </a:prstGeom>
          <a:noFill/>
          <a:ln/>
        </p:spPr>
        <p:txBody>
          <a:bodyPr wrap="square" lIns="0" tIns="0" rIns="0" bIns="0" rtlCol="0" anchor="ctr"/>
          <a:lstStyle/>
          <a:p>
            <a:pPr indent="0" marL="0">
              <a:buNone/>
            </a:pPr>
            <a:r>
              <a:rPr lang="en-US" sz="1400" b="1" dirty="0">
                <a:solidFill>
                  <a:srgbClr val="F4C878"/>
                </a:solidFill>
                <a:latin typeface="Yu Gothic" pitchFamily="34" charset="0"/>
                <a:ea typeface="Yu Gothic" pitchFamily="34" charset="-122"/>
                <a:cs typeface="Yu Gothic" pitchFamily="34" charset="-120"/>
              </a:rPr>
              <a:t>効いていたのは「救済者に頼らないこと」ではなく、「他の住民を巻き込むこと」だった。</a:t>
            </a:r>
            <a:endParaRPr lang="en-US" sz="1400" dirty="0"/>
          </a:p>
        </p:txBody>
      </p:sp>
      <p:sp>
        <p:nvSpPr>
          <p:cNvPr id="53" name="Text 51"/>
          <p:cNvSpPr/>
          <p:nvPr/>
        </p:nvSpPr>
        <p:spPr>
          <a:xfrm>
            <a:off x="548640" y="6473952"/>
            <a:ext cx="4572000" cy="274320"/>
          </a:xfrm>
          <a:prstGeom prst="rect">
            <a:avLst/>
          </a:prstGeom>
          <a:noFill/>
          <a:ln/>
        </p:spPr>
        <p:txBody>
          <a:bodyPr wrap="square" lIns="0" tIns="0" rIns="0" bIns="0" rtlCol="0" anchor="ctr"/>
          <a:lstStyle/>
          <a:p>
            <a:pPr indent="0" marL="0">
              <a:buNone/>
            </a:pPr>
            <a:r>
              <a:rPr lang="en-US" sz="900" dirty="0">
                <a:solidFill>
                  <a:srgbClr val="5B6480"/>
                </a:solidFill>
                <a:latin typeface="Yu Gothic" pitchFamily="34" charset="0"/>
                <a:ea typeface="Yu Gothic" pitchFamily="34" charset="-122"/>
                <a:cs typeface="Yu Gothic" pitchFamily="34" charset="-120"/>
              </a:rPr>
              <a:t>救済者 × ガバナンス</a:t>
            </a:r>
            <a:endParaRPr lang="en-US" sz="900" dirty="0"/>
          </a:p>
        </p:txBody>
      </p:sp>
      <p:sp>
        <p:nvSpPr>
          <p:cNvPr id="54" name="Text 52"/>
          <p:cNvSpPr/>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FFFFFF"/>
                </a:solidFill>
                <a:latin typeface="Yu Gothic" pitchFamily="34" charset="0"/>
                <a:ea typeface="Yu Gothic" pitchFamily="34" charset="-122"/>
                <a:cs typeface="Yu Gothic" pitchFamily="34" charset="-120"/>
              </a:rPr>
              <a:t>別のモデルでも同じことが起きるのか</a:t>
            </a:r>
            <a:endParaRPr lang="en-US" sz="3000" dirty="0"/>
          </a:p>
        </p:txBody>
      </p:sp>
      <p:sp>
        <p:nvSpPr>
          <p:cNvPr id="3" name="Text 1"/>
          <p:cNvSpPr/>
          <p:nvPr/>
        </p:nvSpPr>
        <p:spPr>
          <a:xfrm>
            <a:off x="548640" y="1207008"/>
            <a:ext cx="11094415" cy="365760"/>
          </a:xfrm>
          <a:prstGeom prst="rect">
            <a:avLst/>
          </a:prstGeom>
          <a:noFill/>
          <a:ln/>
        </p:spPr>
        <p:txBody>
          <a:bodyPr wrap="square" lIns="0" tIns="0" rIns="0" bIns="0" rtlCol="0" anchor="ctr"/>
          <a:lstStyle/>
          <a:p>
            <a:pPr algn="l" indent="0" marL="0">
              <a:buNone/>
            </a:pPr>
            <a:r>
              <a:rPr lang="en-US" sz="1400" dirty="0">
                <a:solidFill>
                  <a:srgbClr val="9AA4C0"/>
                </a:solidFill>
                <a:latin typeface="Yu Gothic" pitchFamily="34" charset="0"/>
                <a:ea typeface="Yu Gothic" pitchFamily="34" charset="-122"/>
                <a:cs typeface="Yu Gothic" pitchFamily="34" charset="-120"/>
              </a:rPr>
              <a:t>生成モデルだけを Sonnet 4.5 → Opus 5 に変更。採点する審査役は据え置き、L1/L3/L4を各8回。</a:t>
            </a:r>
            <a:endParaRPr lang="en-US" sz="1400" dirty="0"/>
          </a:p>
        </p:txBody>
      </p:sp>
      <p:sp>
        <p:nvSpPr>
          <p:cNvPr id="4" name="Shape 2"/>
          <p:cNvSpPr/>
          <p:nvPr/>
        </p:nvSpPr>
        <p:spPr>
          <a:xfrm>
            <a:off x="548640" y="1828800"/>
            <a:ext cx="5806440" cy="2157984"/>
          </a:xfrm>
          <a:prstGeom prst="roundRect">
            <a:avLst>
              <a:gd name="adj" fmla="val 5085"/>
            </a:avLst>
          </a:prstGeom>
          <a:solidFill>
            <a:srgbClr val="16213A"/>
          </a:solidFill>
          <a:ln/>
          <a:effectLst>
            <a:outerShdw sx="100000" sy="100000" kx="0" ky="0" algn="bl" rotWithShape="0" blurRad="101600" dist="38100" dir="5400000">
              <a:srgbClr val="000000">
                <a:alpha val="35000"/>
              </a:srgbClr>
            </a:outerShdw>
          </a:effectLst>
        </p:spPr>
      </p:sp>
      <p:sp>
        <p:nvSpPr>
          <p:cNvPr id="5" name="Text 3"/>
          <p:cNvSpPr/>
          <p:nvPr/>
        </p:nvSpPr>
        <p:spPr>
          <a:xfrm>
            <a:off x="731520" y="1965960"/>
            <a:ext cx="1828800" cy="566928"/>
          </a:xfrm>
          <a:prstGeom prst="rect">
            <a:avLst/>
          </a:prstGeom>
          <a:noFill/>
          <a:ln/>
        </p:spPr>
        <p:txBody>
          <a:bodyPr wrap="square" lIns="0" tIns="0" rIns="0" bIns="0" rtlCol="0" anchor="ctr"/>
          <a:lstStyle/>
          <a:p>
            <a:pPr algn="l" indent="0" marL="0">
              <a:buNone/>
            </a:pPr>
            <a:endParaRPr lang="en-US" sz="1200" dirty="0"/>
          </a:p>
        </p:txBody>
      </p:sp>
      <p:sp>
        <p:nvSpPr>
          <p:cNvPr id="6" name="Text 4"/>
          <p:cNvSpPr/>
          <p:nvPr/>
        </p:nvSpPr>
        <p:spPr>
          <a:xfrm>
            <a:off x="2560320" y="1965960"/>
            <a:ext cx="1234440" cy="566928"/>
          </a:xfrm>
          <a:prstGeom prst="rect">
            <a:avLst/>
          </a:prstGeom>
          <a:noFill/>
          <a:ln/>
        </p:spPr>
        <p:txBody>
          <a:bodyPr wrap="square" lIns="0" tIns="0" rIns="0" bIns="0" rtlCol="0" anchor="ctr"/>
          <a:lstStyle/>
          <a:p>
            <a:pPr algn="ctr" indent="0" marL="0">
              <a:buNone/>
            </a:pPr>
            <a:r>
              <a:rPr lang="en-US" sz="1200" b="1" dirty="0">
                <a:solidFill>
                  <a:srgbClr val="9AA4C0"/>
                </a:solidFill>
                <a:latin typeface="Yu Gothic" pitchFamily="34" charset="0"/>
                <a:ea typeface="Yu Gothic" pitchFamily="34" charset="-122"/>
                <a:cs typeface="Yu Gothic" pitchFamily="34" charset="-120"/>
              </a:rPr>
              <a:t>L1</a:t>
            </a:r>
            <a:endParaRPr lang="en-US" sz="1200" dirty="0"/>
          </a:p>
        </p:txBody>
      </p:sp>
      <p:sp>
        <p:nvSpPr>
          <p:cNvPr id="7" name="Text 5"/>
          <p:cNvSpPr/>
          <p:nvPr/>
        </p:nvSpPr>
        <p:spPr>
          <a:xfrm>
            <a:off x="3794760" y="1965960"/>
            <a:ext cx="1234440" cy="566928"/>
          </a:xfrm>
          <a:prstGeom prst="rect">
            <a:avLst/>
          </a:prstGeom>
          <a:noFill/>
          <a:ln/>
        </p:spPr>
        <p:txBody>
          <a:bodyPr wrap="square" lIns="0" tIns="0" rIns="0" bIns="0" rtlCol="0" anchor="ctr"/>
          <a:lstStyle/>
          <a:p>
            <a:pPr algn="ctr" indent="0" marL="0">
              <a:buNone/>
            </a:pPr>
            <a:r>
              <a:rPr lang="en-US" sz="1200" b="1" dirty="0">
                <a:solidFill>
                  <a:srgbClr val="9AA4C0"/>
                </a:solidFill>
                <a:latin typeface="Yu Gothic" pitchFamily="34" charset="0"/>
                <a:ea typeface="Yu Gothic" pitchFamily="34" charset="-122"/>
                <a:cs typeface="Yu Gothic" pitchFamily="34" charset="-120"/>
              </a:rPr>
              <a:t>L3</a:t>
            </a:r>
            <a:endParaRPr lang="en-US" sz="1200" dirty="0"/>
          </a:p>
        </p:txBody>
      </p:sp>
      <p:sp>
        <p:nvSpPr>
          <p:cNvPr id="8" name="Text 6"/>
          <p:cNvSpPr/>
          <p:nvPr/>
        </p:nvSpPr>
        <p:spPr>
          <a:xfrm>
            <a:off x="5029200" y="1965960"/>
            <a:ext cx="1234440" cy="566928"/>
          </a:xfrm>
          <a:prstGeom prst="rect">
            <a:avLst/>
          </a:prstGeom>
          <a:noFill/>
          <a:ln/>
        </p:spPr>
        <p:txBody>
          <a:bodyPr wrap="square" lIns="0" tIns="0" rIns="0" bIns="0" rtlCol="0" anchor="ctr"/>
          <a:lstStyle/>
          <a:p>
            <a:pPr algn="ctr" indent="0" marL="0">
              <a:buNone/>
            </a:pPr>
            <a:r>
              <a:rPr lang="en-US" sz="1200" b="1" dirty="0">
                <a:solidFill>
                  <a:srgbClr val="9AA4C0"/>
                </a:solidFill>
                <a:latin typeface="Yu Gothic" pitchFamily="34" charset="0"/>
                <a:ea typeface="Yu Gothic" pitchFamily="34" charset="-122"/>
                <a:cs typeface="Yu Gothic" pitchFamily="34" charset="-120"/>
              </a:rPr>
              <a:t>L4</a:t>
            </a:r>
            <a:endParaRPr lang="en-US" sz="1200" dirty="0"/>
          </a:p>
        </p:txBody>
      </p:sp>
      <p:sp>
        <p:nvSpPr>
          <p:cNvPr id="9" name="Text 7"/>
          <p:cNvSpPr/>
          <p:nvPr/>
        </p:nvSpPr>
        <p:spPr>
          <a:xfrm>
            <a:off x="731520" y="2532888"/>
            <a:ext cx="1828800" cy="566928"/>
          </a:xfrm>
          <a:prstGeom prst="rect">
            <a:avLst/>
          </a:prstGeom>
          <a:noFill/>
          <a:ln/>
        </p:spPr>
        <p:txBody>
          <a:bodyPr wrap="square" lIns="0" tIns="0" rIns="0" bIns="0" rtlCol="0" anchor="ctr"/>
          <a:lstStyle/>
          <a:p>
            <a:pPr algn="l" indent="0" marL="0">
              <a:buNone/>
            </a:pPr>
            <a:r>
              <a:rPr lang="en-US" sz="1400" dirty="0">
                <a:solidFill>
                  <a:srgbClr val="FFFFFF"/>
                </a:solidFill>
                <a:latin typeface="Yu Gothic" pitchFamily="34" charset="0"/>
                <a:ea typeface="Yu Gothic" pitchFamily="34" charset="-122"/>
                <a:cs typeface="Yu Gothic" pitchFamily="34" charset="-120"/>
              </a:rPr>
              <a:t>Sonnet 4.5</a:t>
            </a:r>
            <a:endParaRPr lang="en-US" sz="1400" dirty="0"/>
          </a:p>
        </p:txBody>
      </p:sp>
      <p:sp>
        <p:nvSpPr>
          <p:cNvPr id="10" name="Text 8"/>
          <p:cNvSpPr/>
          <p:nvPr/>
        </p:nvSpPr>
        <p:spPr>
          <a:xfrm>
            <a:off x="2560320" y="2532888"/>
            <a:ext cx="1234440" cy="566928"/>
          </a:xfrm>
          <a:prstGeom prst="rect">
            <a:avLst/>
          </a:prstGeom>
          <a:noFill/>
          <a:ln/>
        </p:spPr>
        <p:txBody>
          <a:bodyPr wrap="square" lIns="0" tIns="0" rIns="0" bIns="0" rtlCol="0" anchor="ctr"/>
          <a:lstStyle/>
          <a:p>
            <a:pPr algn="ctr" indent="0" marL="0">
              <a:buNone/>
            </a:pPr>
            <a:r>
              <a:rPr lang="en-US" sz="1400" dirty="0">
                <a:solidFill>
                  <a:srgbClr val="FFFFFF"/>
                </a:solidFill>
                <a:latin typeface="Yu Gothic" pitchFamily="34" charset="0"/>
                <a:ea typeface="Yu Gothic" pitchFamily="34" charset="-122"/>
                <a:cs typeface="Yu Gothic" pitchFamily="34" charset="-120"/>
              </a:rPr>
              <a:t>2/5</a:t>
            </a:r>
            <a:endParaRPr lang="en-US" sz="1400" dirty="0"/>
          </a:p>
        </p:txBody>
      </p:sp>
      <p:sp>
        <p:nvSpPr>
          <p:cNvPr id="11" name="Text 9"/>
          <p:cNvSpPr/>
          <p:nvPr/>
        </p:nvSpPr>
        <p:spPr>
          <a:xfrm>
            <a:off x="3794760" y="2532888"/>
            <a:ext cx="1234440" cy="566928"/>
          </a:xfrm>
          <a:prstGeom prst="rect">
            <a:avLst/>
          </a:prstGeom>
          <a:noFill/>
          <a:ln/>
        </p:spPr>
        <p:txBody>
          <a:bodyPr wrap="square" lIns="0" tIns="0" rIns="0" bIns="0" rtlCol="0" anchor="ctr"/>
          <a:lstStyle/>
          <a:p>
            <a:pPr algn="ctr" indent="0" marL="0">
              <a:buNone/>
            </a:pPr>
            <a:r>
              <a:rPr lang="en-US" sz="1400" b="1" dirty="0">
                <a:solidFill>
                  <a:srgbClr val="1BAF7A"/>
                </a:solidFill>
                <a:latin typeface="Yu Gothic" pitchFamily="34" charset="0"/>
                <a:ea typeface="Yu Gothic" pitchFamily="34" charset="-122"/>
                <a:cs typeface="Yu Gothic" pitchFamily="34" charset="-120"/>
              </a:rPr>
              <a:t>5/5</a:t>
            </a:r>
            <a:endParaRPr lang="en-US" sz="1400" dirty="0"/>
          </a:p>
        </p:txBody>
      </p:sp>
      <p:sp>
        <p:nvSpPr>
          <p:cNvPr id="12" name="Text 10"/>
          <p:cNvSpPr/>
          <p:nvPr/>
        </p:nvSpPr>
        <p:spPr>
          <a:xfrm>
            <a:off x="5029200" y="2532888"/>
            <a:ext cx="1234440" cy="566928"/>
          </a:xfrm>
          <a:prstGeom prst="rect">
            <a:avLst/>
          </a:prstGeom>
          <a:noFill/>
          <a:ln/>
        </p:spPr>
        <p:txBody>
          <a:bodyPr wrap="square" lIns="0" tIns="0" rIns="0" bIns="0" rtlCol="0" anchor="ctr"/>
          <a:lstStyle/>
          <a:p>
            <a:pPr algn="ctr" indent="0" marL="0">
              <a:buNone/>
            </a:pPr>
            <a:r>
              <a:rPr lang="en-US" sz="1400" dirty="0">
                <a:solidFill>
                  <a:srgbClr val="FFFFFF"/>
                </a:solidFill>
                <a:latin typeface="Yu Gothic" pitchFamily="34" charset="0"/>
                <a:ea typeface="Yu Gothic" pitchFamily="34" charset="-122"/>
                <a:cs typeface="Yu Gothic" pitchFamily="34" charset="-120"/>
              </a:rPr>
              <a:t>2/5</a:t>
            </a:r>
            <a:endParaRPr lang="en-US" sz="1400" dirty="0"/>
          </a:p>
        </p:txBody>
      </p:sp>
      <p:sp>
        <p:nvSpPr>
          <p:cNvPr id="13" name="Text 11"/>
          <p:cNvSpPr/>
          <p:nvPr/>
        </p:nvSpPr>
        <p:spPr>
          <a:xfrm>
            <a:off x="731520" y="3099816"/>
            <a:ext cx="1828800" cy="566928"/>
          </a:xfrm>
          <a:prstGeom prst="rect">
            <a:avLst/>
          </a:prstGeom>
          <a:noFill/>
          <a:ln/>
        </p:spPr>
        <p:txBody>
          <a:bodyPr wrap="square" lIns="0" tIns="0" rIns="0" bIns="0" rtlCol="0" anchor="ctr"/>
          <a:lstStyle/>
          <a:p>
            <a:pPr algn="l" indent="0" marL="0">
              <a:buNone/>
            </a:pPr>
            <a:r>
              <a:rPr lang="en-US" sz="1400" dirty="0">
                <a:solidFill>
                  <a:srgbClr val="FFFFFF"/>
                </a:solidFill>
                <a:latin typeface="Yu Gothic" pitchFamily="34" charset="0"/>
                <a:ea typeface="Yu Gothic" pitchFamily="34" charset="-122"/>
                <a:cs typeface="Yu Gothic" pitchFamily="34" charset="-120"/>
              </a:rPr>
              <a:t>Opus 5</a:t>
            </a:r>
            <a:endParaRPr lang="en-US" sz="1400" dirty="0"/>
          </a:p>
        </p:txBody>
      </p:sp>
      <p:sp>
        <p:nvSpPr>
          <p:cNvPr id="14" name="Text 12"/>
          <p:cNvSpPr/>
          <p:nvPr/>
        </p:nvSpPr>
        <p:spPr>
          <a:xfrm>
            <a:off x="2560320" y="3099816"/>
            <a:ext cx="1234440" cy="566928"/>
          </a:xfrm>
          <a:prstGeom prst="rect">
            <a:avLst/>
          </a:prstGeom>
          <a:noFill/>
          <a:ln/>
        </p:spPr>
        <p:txBody>
          <a:bodyPr wrap="square" lIns="0" tIns="0" rIns="0" bIns="0" rtlCol="0" anchor="ctr"/>
          <a:lstStyle/>
          <a:p>
            <a:pPr algn="ctr" indent="0" marL="0">
              <a:buNone/>
            </a:pPr>
            <a:r>
              <a:rPr lang="en-US" sz="1400" dirty="0">
                <a:solidFill>
                  <a:srgbClr val="FFFFFF"/>
                </a:solidFill>
                <a:latin typeface="Yu Gothic" pitchFamily="34" charset="0"/>
                <a:ea typeface="Yu Gothic" pitchFamily="34" charset="-122"/>
                <a:cs typeface="Yu Gothic" pitchFamily="34" charset="-120"/>
              </a:rPr>
              <a:t>5/8</a:t>
            </a:r>
            <a:endParaRPr lang="en-US" sz="1400" dirty="0"/>
          </a:p>
        </p:txBody>
      </p:sp>
      <p:sp>
        <p:nvSpPr>
          <p:cNvPr id="15" name="Text 13"/>
          <p:cNvSpPr/>
          <p:nvPr/>
        </p:nvSpPr>
        <p:spPr>
          <a:xfrm>
            <a:off x="3794760" y="3099816"/>
            <a:ext cx="1234440" cy="566928"/>
          </a:xfrm>
          <a:prstGeom prst="rect">
            <a:avLst/>
          </a:prstGeom>
          <a:noFill/>
          <a:ln/>
        </p:spPr>
        <p:txBody>
          <a:bodyPr wrap="square" lIns="0" tIns="0" rIns="0" bIns="0" rtlCol="0" anchor="ctr"/>
          <a:lstStyle/>
          <a:p>
            <a:pPr algn="ctr" indent="0" marL="0">
              <a:buNone/>
            </a:pPr>
            <a:r>
              <a:rPr lang="en-US" sz="1400" dirty="0">
                <a:solidFill>
                  <a:srgbClr val="FFFFFF"/>
                </a:solidFill>
                <a:latin typeface="Yu Gothic" pitchFamily="34" charset="0"/>
                <a:ea typeface="Yu Gothic" pitchFamily="34" charset="-122"/>
                <a:cs typeface="Yu Gothic" pitchFamily="34" charset="-120"/>
              </a:rPr>
              <a:t>4/8</a:t>
            </a:r>
            <a:endParaRPr lang="en-US" sz="1400" dirty="0"/>
          </a:p>
        </p:txBody>
      </p:sp>
      <p:sp>
        <p:nvSpPr>
          <p:cNvPr id="16" name="Text 14"/>
          <p:cNvSpPr/>
          <p:nvPr/>
        </p:nvSpPr>
        <p:spPr>
          <a:xfrm>
            <a:off x="5029200" y="3099816"/>
            <a:ext cx="1234440" cy="566928"/>
          </a:xfrm>
          <a:prstGeom prst="rect">
            <a:avLst/>
          </a:prstGeom>
          <a:noFill/>
          <a:ln/>
        </p:spPr>
        <p:txBody>
          <a:bodyPr wrap="square" lIns="0" tIns="0" rIns="0" bIns="0" rtlCol="0" anchor="ctr"/>
          <a:lstStyle/>
          <a:p>
            <a:pPr algn="ctr" indent="0" marL="0">
              <a:buNone/>
            </a:pPr>
            <a:r>
              <a:rPr lang="en-US" sz="1400" dirty="0">
                <a:solidFill>
                  <a:srgbClr val="FFFFFF"/>
                </a:solidFill>
                <a:latin typeface="Yu Gothic" pitchFamily="34" charset="0"/>
                <a:ea typeface="Yu Gothic" pitchFamily="34" charset="-122"/>
                <a:cs typeface="Yu Gothic" pitchFamily="34" charset="-120"/>
              </a:rPr>
              <a:t>4/8</a:t>
            </a:r>
            <a:endParaRPr lang="en-US" sz="1400" dirty="0"/>
          </a:p>
        </p:txBody>
      </p:sp>
      <p:sp>
        <p:nvSpPr>
          <p:cNvPr id="17" name="Text 15"/>
          <p:cNvSpPr/>
          <p:nvPr/>
        </p:nvSpPr>
        <p:spPr>
          <a:xfrm>
            <a:off x="731520" y="3621024"/>
            <a:ext cx="5394960" cy="411480"/>
          </a:xfrm>
          <a:prstGeom prst="rect">
            <a:avLst/>
          </a:prstGeom>
          <a:noFill/>
          <a:ln/>
        </p:spPr>
        <p:txBody>
          <a:bodyPr wrap="square" lIns="0" tIns="0" rIns="0" bIns="0" rtlCol="0" anchor="ctr"/>
          <a:lstStyle/>
          <a:p>
            <a:pPr indent="0" marL="0">
              <a:lnSpc>
                <a:spcPct val="115000"/>
              </a:lnSpc>
              <a:buNone/>
            </a:pPr>
            <a:r>
              <a:rPr lang="en-US" sz="1050" dirty="0">
                <a:solidFill>
                  <a:srgbClr val="9AA4C0"/>
                </a:solidFill>
                <a:latin typeface="Yu Gothic" pitchFamily="34" charset="0"/>
                <a:ea typeface="Yu Gothic" pitchFamily="34" charset="-122"/>
                <a:cs typeface="Yu Gothic" pitchFamily="34" charset="-120"/>
              </a:rPr>
              <a:t>「自律できた回」の比較。Sonnetで際立っていたL3の優位が、Opus 5では消えている。</a:t>
            </a:r>
            <a:endParaRPr lang="en-US" sz="1050" dirty="0"/>
          </a:p>
        </p:txBody>
      </p:sp>
      <p:sp>
        <p:nvSpPr>
          <p:cNvPr id="18" name="Shape 16"/>
          <p:cNvSpPr/>
          <p:nvPr/>
        </p:nvSpPr>
        <p:spPr>
          <a:xfrm>
            <a:off x="548640" y="4023360"/>
            <a:ext cx="5806440" cy="1600200"/>
          </a:xfrm>
          <a:prstGeom prst="roundRect">
            <a:avLst>
              <a:gd name="adj" fmla="val 6857"/>
            </a:avLst>
          </a:prstGeom>
          <a:solidFill>
            <a:srgbClr val="1C2C4A"/>
          </a:solidFill>
          <a:ln/>
          <a:effectLst>
            <a:outerShdw sx="100000" sy="100000" kx="0" ky="0" algn="bl" rotWithShape="0" blurRad="101600" dist="38100" dir="5400000">
              <a:srgbClr val="000000">
                <a:alpha val="35000"/>
              </a:srgbClr>
            </a:outerShdw>
          </a:effectLst>
        </p:spPr>
      </p:sp>
      <p:sp>
        <p:nvSpPr>
          <p:cNvPr id="19" name="Text 17"/>
          <p:cNvSpPr/>
          <p:nvPr/>
        </p:nvSpPr>
        <p:spPr>
          <a:xfrm>
            <a:off x="777240" y="4160520"/>
            <a:ext cx="5394960" cy="320040"/>
          </a:xfrm>
          <a:prstGeom prst="rect">
            <a:avLst/>
          </a:prstGeom>
          <a:noFill/>
          <a:ln/>
        </p:spPr>
        <p:txBody>
          <a:bodyPr wrap="square" lIns="0" tIns="0" rIns="0" bIns="0" rtlCol="0" anchor="ctr"/>
          <a:lstStyle/>
          <a:p>
            <a:pPr indent="0" marL="0">
              <a:buNone/>
            </a:pPr>
            <a:r>
              <a:rPr lang="en-US" sz="1250" b="1" dirty="0">
                <a:solidFill>
                  <a:srgbClr val="F4C878"/>
                </a:solidFill>
                <a:latin typeface="Yu Gothic" pitchFamily="34" charset="0"/>
                <a:ea typeface="Yu Gothic" pitchFamily="34" charset="-122"/>
                <a:cs typeface="Yu Gothic" pitchFamily="34" charset="-120"/>
              </a:rPr>
              <a:t>それでも「2つに分かれる」ことは残った</a:t>
            </a:r>
            <a:endParaRPr lang="en-US" sz="1250" dirty="0"/>
          </a:p>
        </p:txBody>
      </p:sp>
      <p:sp>
        <p:nvSpPr>
          <p:cNvPr id="20" name="Shape 18"/>
          <p:cNvSpPr/>
          <p:nvPr/>
        </p:nvSpPr>
        <p:spPr>
          <a:xfrm>
            <a:off x="868680" y="4892040"/>
            <a:ext cx="5120640" cy="0"/>
          </a:xfrm>
          <a:prstGeom prst="line">
            <a:avLst/>
          </a:prstGeom>
          <a:noFill/>
          <a:ln w="12700">
            <a:solidFill>
              <a:srgbClr val="2A3752"/>
            </a:solidFill>
            <a:prstDash val="solid"/>
          </a:ln>
        </p:spPr>
      </p:sp>
      <p:sp>
        <p:nvSpPr>
          <p:cNvPr id="21" name="Shape 19"/>
          <p:cNvSpPr/>
          <p:nvPr/>
        </p:nvSpPr>
        <p:spPr>
          <a:xfrm>
            <a:off x="1731125" y="4823460"/>
            <a:ext cx="137160" cy="137160"/>
          </a:xfrm>
          <a:prstGeom prst="ellipse">
            <a:avLst/>
          </a:prstGeom>
          <a:solidFill>
            <a:srgbClr val="E2665A">
              <a:alpha val="75000"/>
            </a:srgbClr>
          </a:solidFill>
          <a:ln/>
        </p:spPr>
      </p:sp>
      <p:sp>
        <p:nvSpPr>
          <p:cNvPr id="22" name="Shape 20"/>
          <p:cNvSpPr/>
          <p:nvPr/>
        </p:nvSpPr>
        <p:spPr>
          <a:xfrm>
            <a:off x="1731125" y="4823460"/>
            <a:ext cx="137160" cy="137160"/>
          </a:xfrm>
          <a:prstGeom prst="ellipse">
            <a:avLst/>
          </a:prstGeom>
          <a:solidFill>
            <a:srgbClr val="E2665A">
              <a:alpha val="75000"/>
            </a:srgbClr>
          </a:solidFill>
          <a:ln/>
        </p:spPr>
      </p:sp>
      <p:sp>
        <p:nvSpPr>
          <p:cNvPr id="23" name="Shape 21"/>
          <p:cNvSpPr/>
          <p:nvPr/>
        </p:nvSpPr>
        <p:spPr>
          <a:xfrm>
            <a:off x="1731125" y="4823460"/>
            <a:ext cx="137160" cy="137160"/>
          </a:xfrm>
          <a:prstGeom prst="ellipse">
            <a:avLst/>
          </a:prstGeom>
          <a:solidFill>
            <a:srgbClr val="E2665A">
              <a:alpha val="75000"/>
            </a:srgbClr>
          </a:solidFill>
          <a:ln/>
        </p:spPr>
      </p:sp>
      <p:sp>
        <p:nvSpPr>
          <p:cNvPr id="24" name="Shape 22"/>
          <p:cNvSpPr/>
          <p:nvPr/>
        </p:nvSpPr>
        <p:spPr>
          <a:xfrm>
            <a:off x="2662151" y="4823460"/>
            <a:ext cx="137160" cy="137160"/>
          </a:xfrm>
          <a:prstGeom prst="ellipse">
            <a:avLst/>
          </a:prstGeom>
          <a:solidFill>
            <a:srgbClr val="E2665A">
              <a:alpha val="75000"/>
            </a:srgbClr>
          </a:solidFill>
          <a:ln/>
        </p:spPr>
      </p:sp>
      <p:sp>
        <p:nvSpPr>
          <p:cNvPr id="25" name="Shape 23"/>
          <p:cNvSpPr/>
          <p:nvPr/>
        </p:nvSpPr>
        <p:spPr>
          <a:xfrm>
            <a:off x="2662151" y="4823460"/>
            <a:ext cx="137160" cy="137160"/>
          </a:xfrm>
          <a:prstGeom prst="ellipse">
            <a:avLst/>
          </a:prstGeom>
          <a:solidFill>
            <a:srgbClr val="E2665A">
              <a:alpha val="75000"/>
            </a:srgbClr>
          </a:solidFill>
          <a:ln/>
        </p:spPr>
      </p:sp>
      <p:sp>
        <p:nvSpPr>
          <p:cNvPr id="26" name="Shape 24"/>
          <p:cNvSpPr/>
          <p:nvPr/>
        </p:nvSpPr>
        <p:spPr>
          <a:xfrm>
            <a:off x="2662151" y="4823460"/>
            <a:ext cx="137160" cy="137160"/>
          </a:xfrm>
          <a:prstGeom prst="ellipse">
            <a:avLst/>
          </a:prstGeom>
          <a:solidFill>
            <a:srgbClr val="E2665A">
              <a:alpha val="75000"/>
            </a:srgbClr>
          </a:solidFill>
          <a:ln/>
        </p:spPr>
      </p:sp>
      <p:sp>
        <p:nvSpPr>
          <p:cNvPr id="27" name="Shape 25"/>
          <p:cNvSpPr/>
          <p:nvPr/>
        </p:nvSpPr>
        <p:spPr>
          <a:xfrm>
            <a:off x="2662151" y="4823460"/>
            <a:ext cx="137160" cy="137160"/>
          </a:xfrm>
          <a:prstGeom prst="ellipse">
            <a:avLst/>
          </a:prstGeom>
          <a:solidFill>
            <a:srgbClr val="E2665A">
              <a:alpha val="75000"/>
            </a:srgbClr>
          </a:solidFill>
          <a:ln/>
        </p:spPr>
      </p:sp>
      <p:sp>
        <p:nvSpPr>
          <p:cNvPr id="28" name="Shape 26"/>
          <p:cNvSpPr/>
          <p:nvPr/>
        </p:nvSpPr>
        <p:spPr>
          <a:xfrm>
            <a:off x="2662151" y="4823460"/>
            <a:ext cx="137160" cy="137160"/>
          </a:xfrm>
          <a:prstGeom prst="ellipse">
            <a:avLst/>
          </a:prstGeom>
          <a:solidFill>
            <a:srgbClr val="E2665A">
              <a:alpha val="75000"/>
            </a:srgbClr>
          </a:solidFill>
          <a:ln/>
        </p:spPr>
      </p:sp>
      <p:sp>
        <p:nvSpPr>
          <p:cNvPr id="29" name="Shape 27"/>
          <p:cNvSpPr/>
          <p:nvPr/>
        </p:nvSpPr>
        <p:spPr>
          <a:xfrm>
            <a:off x="2662151" y="4823460"/>
            <a:ext cx="137160" cy="137160"/>
          </a:xfrm>
          <a:prstGeom prst="ellipse">
            <a:avLst/>
          </a:prstGeom>
          <a:solidFill>
            <a:srgbClr val="E2665A">
              <a:alpha val="75000"/>
            </a:srgbClr>
          </a:solidFill>
          <a:ln/>
        </p:spPr>
      </p:sp>
      <p:sp>
        <p:nvSpPr>
          <p:cNvPr id="30" name="Shape 28"/>
          <p:cNvSpPr/>
          <p:nvPr/>
        </p:nvSpPr>
        <p:spPr>
          <a:xfrm>
            <a:off x="2662151" y="4823460"/>
            <a:ext cx="137160" cy="137160"/>
          </a:xfrm>
          <a:prstGeom prst="ellipse">
            <a:avLst/>
          </a:prstGeom>
          <a:solidFill>
            <a:srgbClr val="E2665A">
              <a:alpha val="75000"/>
            </a:srgbClr>
          </a:solidFill>
          <a:ln/>
        </p:spPr>
      </p:sp>
      <p:sp>
        <p:nvSpPr>
          <p:cNvPr id="31" name="Shape 29"/>
          <p:cNvSpPr/>
          <p:nvPr/>
        </p:nvSpPr>
        <p:spPr>
          <a:xfrm>
            <a:off x="3593176" y="4823460"/>
            <a:ext cx="137160" cy="137160"/>
          </a:xfrm>
          <a:prstGeom prst="ellipse">
            <a:avLst/>
          </a:prstGeom>
          <a:solidFill>
            <a:srgbClr val="E8A33D">
              <a:alpha val="75000"/>
            </a:srgbClr>
          </a:solidFill>
          <a:ln/>
        </p:spPr>
      </p:sp>
      <p:sp>
        <p:nvSpPr>
          <p:cNvPr id="32" name="Shape 30"/>
          <p:cNvSpPr/>
          <p:nvPr/>
        </p:nvSpPr>
        <p:spPr>
          <a:xfrm>
            <a:off x="4524202" y="4823460"/>
            <a:ext cx="137160" cy="137160"/>
          </a:xfrm>
          <a:prstGeom prst="ellipse">
            <a:avLst/>
          </a:prstGeom>
          <a:solidFill>
            <a:srgbClr val="1BAF7A">
              <a:alpha val="75000"/>
            </a:srgbClr>
          </a:solidFill>
          <a:ln/>
        </p:spPr>
      </p:sp>
      <p:sp>
        <p:nvSpPr>
          <p:cNvPr id="33" name="Shape 31"/>
          <p:cNvSpPr/>
          <p:nvPr/>
        </p:nvSpPr>
        <p:spPr>
          <a:xfrm>
            <a:off x="4524202" y="4823460"/>
            <a:ext cx="137160" cy="137160"/>
          </a:xfrm>
          <a:prstGeom prst="ellipse">
            <a:avLst/>
          </a:prstGeom>
          <a:solidFill>
            <a:srgbClr val="1BAF7A">
              <a:alpha val="75000"/>
            </a:srgbClr>
          </a:solidFill>
          <a:ln/>
        </p:spPr>
      </p:sp>
      <p:sp>
        <p:nvSpPr>
          <p:cNvPr id="34" name="Shape 32"/>
          <p:cNvSpPr/>
          <p:nvPr/>
        </p:nvSpPr>
        <p:spPr>
          <a:xfrm>
            <a:off x="4524202" y="4823460"/>
            <a:ext cx="137160" cy="137160"/>
          </a:xfrm>
          <a:prstGeom prst="ellipse">
            <a:avLst/>
          </a:prstGeom>
          <a:solidFill>
            <a:srgbClr val="1BAF7A">
              <a:alpha val="75000"/>
            </a:srgbClr>
          </a:solidFill>
          <a:ln/>
        </p:spPr>
      </p:sp>
      <p:sp>
        <p:nvSpPr>
          <p:cNvPr id="35" name="Shape 33"/>
          <p:cNvSpPr/>
          <p:nvPr/>
        </p:nvSpPr>
        <p:spPr>
          <a:xfrm>
            <a:off x="4524202" y="4823460"/>
            <a:ext cx="137160" cy="137160"/>
          </a:xfrm>
          <a:prstGeom prst="ellipse">
            <a:avLst/>
          </a:prstGeom>
          <a:solidFill>
            <a:srgbClr val="1BAF7A">
              <a:alpha val="75000"/>
            </a:srgbClr>
          </a:solidFill>
          <a:ln/>
        </p:spPr>
      </p:sp>
      <p:sp>
        <p:nvSpPr>
          <p:cNvPr id="36" name="Shape 34"/>
          <p:cNvSpPr/>
          <p:nvPr/>
        </p:nvSpPr>
        <p:spPr>
          <a:xfrm>
            <a:off x="4989715" y="4823460"/>
            <a:ext cx="137160" cy="137160"/>
          </a:xfrm>
          <a:prstGeom prst="ellipse">
            <a:avLst/>
          </a:prstGeom>
          <a:solidFill>
            <a:srgbClr val="1BAF7A">
              <a:alpha val="75000"/>
            </a:srgbClr>
          </a:solidFill>
          <a:ln/>
        </p:spPr>
      </p:sp>
      <p:sp>
        <p:nvSpPr>
          <p:cNvPr id="37" name="Shape 35"/>
          <p:cNvSpPr/>
          <p:nvPr/>
        </p:nvSpPr>
        <p:spPr>
          <a:xfrm>
            <a:off x="4989715" y="4823460"/>
            <a:ext cx="137160" cy="137160"/>
          </a:xfrm>
          <a:prstGeom prst="ellipse">
            <a:avLst/>
          </a:prstGeom>
          <a:solidFill>
            <a:srgbClr val="1BAF7A">
              <a:alpha val="75000"/>
            </a:srgbClr>
          </a:solidFill>
          <a:ln/>
        </p:spPr>
      </p:sp>
      <p:sp>
        <p:nvSpPr>
          <p:cNvPr id="38" name="Shape 36"/>
          <p:cNvSpPr/>
          <p:nvPr/>
        </p:nvSpPr>
        <p:spPr>
          <a:xfrm>
            <a:off x="4989715" y="4823460"/>
            <a:ext cx="137160" cy="137160"/>
          </a:xfrm>
          <a:prstGeom prst="ellipse">
            <a:avLst/>
          </a:prstGeom>
          <a:solidFill>
            <a:srgbClr val="1BAF7A">
              <a:alpha val="75000"/>
            </a:srgbClr>
          </a:solidFill>
          <a:ln/>
        </p:spPr>
      </p:sp>
      <p:sp>
        <p:nvSpPr>
          <p:cNvPr id="39" name="Shape 37"/>
          <p:cNvSpPr/>
          <p:nvPr/>
        </p:nvSpPr>
        <p:spPr>
          <a:xfrm>
            <a:off x="4989715" y="4823460"/>
            <a:ext cx="137160" cy="137160"/>
          </a:xfrm>
          <a:prstGeom prst="ellipse">
            <a:avLst/>
          </a:prstGeom>
          <a:solidFill>
            <a:srgbClr val="1BAF7A">
              <a:alpha val="75000"/>
            </a:srgbClr>
          </a:solidFill>
          <a:ln/>
        </p:spPr>
      </p:sp>
      <p:sp>
        <p:nvSpPr>
          <p:cNvPr id="40" name="Shape 38"/>
          <p:cNvSpPr/>
          <p:nvPr/>
        </p:nvSpPr>
        <p:spPr>
          <a:xfrm>
            <a:off x="4989715" y="4823460"/>
            <a:ext cx="137160" cy="137160"/>
          </a:xfrm>
          <a:prstGeom prst="ellipse">
            <a:avLst/>
          </a:prstGeom>
          <a:solidFill>
            <a:srgbClr val="1BAF7A">
              <a:alpha val="75000"/>
            </a:srgbClr>
          </a:solidFill>
          <a:ln/>
        </p:spPr>
      </p:sp>
      <p:sp>
        <p:nvSpPr>
          <p:cNvPr id="41" name="Shape 39"/>
          <p:cNvSpPr/>
          <p:nvPr/>
        </p:nvSpPr>
        <p:spPr>
          <a:xfrm>
            <a:off x="5175920" y="4823460"/>
            <a:ext cx="137160" cy="137160"/>
          </a:xfrm>
          <a:prstGeom prst="ellipse">
            <a:avLst/>
          </a:prstGeom>
          <a:solidFill>
            <a:srgbClr val="1BAF7A">
              <a:alpha val="75000"/>
            </a:srgbClr>
          </a:solidFill>
          <a:ln/>
        </p:spPr>
      </p:sp>
      <p:sp>
        <p:nvSpPr>
          <p:cNvPr id="42" name="Shape 40"/>
          <p:cNvSpPr/>
          <p:nvPr/>
        </p:nvSpPr>
        <p:spPr>
          <a:xfrm>
            <a:off x="5175920" y="4823460"/>
            <a:ext cx="137160" cy="137160"/>
          </a:xfrm>
          <a:prstGeom prst="ellipse">
            <a:avLst/>
          </a:prstGeom>
          <a:solidFill>
            <a:srgbClr val="1BAF7A">
              <a:alpha val="75000"/>
            </a:srgbClr>
          </a:solidFill>
          <a:ln/>
        </p:spPr>
      </p:sp>
      <p:sp>
        <p:nvSpPr>
          <p:cNvPr id="43" name="Shape 41"/>
          <p:cNvSpPr/>
          <p:nvPr/>
        </p:nvSpPr>
        <p:spPr>
          <a:xfrm>
            <a:off x="5175920" y="4823460"/>
            <a:ext cx="137160" cy="137160"/>
          </a:xfrm>
          <a:prstGeom prst="ellipse">
            <a:avLst/>
          </a:prstGeom>
          <a:solidFill>
            <a:srgbClr val="1BAF7A">
              <a:alpha val="75000"/>
            </a:srgbClr>
          </a:solidFill>
          <a:ln/>
        </p:spPr>
      </p:sp>
      <p:sp>
        <p:nvSpPr>
          <p:cNvPr id="44" name="Shape 42"/>
          <p:cNvSpPr/>
          <p:nvPr/>
        </p:nvSpPr>
        <p:spPr>
          <a:xfrm>
            <a:off x="5455227" y="4823460"/>
            <a:ext cx="137160" cy="137160"/>
          </a:xfrm>
          <a:prstGeom prst="ellipse">
            <a:avLst/>
          </a:prstGeom>
          <a:solidFill>
            <a:srgbClr val="1BAF7A">
              <a:alpha val="75000"/>
            </a:srgbClr>
          </a:solidFill>
          <a:ln/>
        </p:spPr>
      </p:sp>
      <p:sp>
        <p:nvSpPr>
          <p:cNvPr id="45" name="Text 43"/>
          <p:cNvSpPr/>
          <p:nvPr/>
        </p:nvSpPr>
        <p:spPr>
          <a:xfrm>
            <a:off x="777240" y="5038344"/>
            <a:ext cx="1463040" cy="256032"/>
          </a:xfrm>
          <a:prstGeom prst="rect">
            <a:avLst/>
          </a:prstGeom>
          <a:noFill/>
          <a:ln/>
        </p:spPr>
        <p:txBody>
          <a:bodyPr wrap="square" lIns="0" tIns="0" rIns="0" bIns="0" rtlCol="0" anchor="ctr"/>
          <a:lstStyle/>
          <a:p>
            <a:pPr indent="0" marL="0">
              <a:buNone/>
            </a:pPr>
            <a:r>
              <a:rPr lang="en-US" sz="950" dirty="0">
                <a:solidFill>
                  <a:srgbClr val="E2665A"/>
                </a:solidFill>
                <a:latin typeface="Yu Gothic" pitchFamily="34" charset="0"/>
                <a:ea typeface="Yu Gothic" pitchFamily="34" charset="-122"/>
                <a:cs typeface="Yu Gothic" pitchFamily="34" charset="-120"/>
              </a:rPr>
              <a:t>低い群 10回</a:t>
            </a:r>
            <a:endParaRPr lang="en-US" sz="950" dirty="0"/>
          </a:p>
        </p:txBody>
      </p:sp>
      <p:sp>
        <p:nvSpPr>
          <p:cNvPr id="46" name="Text 44"/>
          <p:cNvSpPr/>
          <p:nvPr/>
        </p:nvSpPr>
        <p:spPr>
          <a:xfrm>
            <a:off x="3017520" y="5038344"/>
            <a:ext cx="1097280" cy="256032"/>
          </a:xfrm>
          <a:prstGeom prst="rect">
            <a:avLst/>
          </a:prstGeom>
          <a:noFill/>
          <a:ln/>
        </p:spPr>
        <p:txBody>
          <a:bodyPr wrap="square" lIns="0" tIns="0" rIns="0" bIns="0" rtlCol="0" anchor="ctr"/>
          <a:lstStyle/>
          <a:p>
            <a:pPr algn="ctr" indent="0" marL="0">
              <a:buNone/>
            </a:pPr>
            <a:r>
              <a:rPr lang="en-US" sz="950" dirty="0">
                <a:solidFill>
                  <a:srgbClr val="E8A33D"/>
                </a:solidFill>
                <a:latin typeface="Yu Gothic" pitchFamily="34" charset="0"/>
                <a:ea typeface="Yu Gothic" pitchFamily="34" charset="-122"/>
                <a:cs typeface="Yu Gothic" pitchFamily="34" charset="-120"/>
              </a:rPr>
              <a:t>中間 1回</a:t>
            </a:r>
            <a:endParaRPr lang="en-US" sz="950" dirty="0"/>
          </a:p>
        </p:txBody>
      </p:sp>
      <p:sp>
        <p:nvSpPr>
          <p:cNvPr id="47" name="Text 45"/>
          <p:cNvSpPr/>
          <p:nvPr/>
        </p:nvSpPr>
        <p:spPr>
          <a:xfrm>
            <a:off x="4617720" y="5038344"/>
            <a:ext cx="1371600" cy="256032"/>
          </a:xfrm>
          <a:prstGeom prst="rect">
            <a:avLst/>
          </a:prstGeom>
          <a:noFill/>
          <a:ln/>
        </p:spPr>
        <p:txBody>
          <a:bodyPr wrap="square" lIns="0" tIns="0" rIns="0" bIns="0" rtlCol="0" anchor="ctr"/>
          <a:lstStyle/>
          <a:p>
            <a:pPr algn="r" indent="0" marL="0">
              <a:buNone/>
            </a:pPr>
            <a:r>
              <a:rPr lang="en-US" sz="950" dirty="0">
                <a:solidFill>
                  <a:srgbClr val="1BAF7A"/>
                </a:solidFill>
                <a:latin typeface="Yu Gothic" pitchFamily="34" charset="0"/>
                <a:ea typeface="Yu Gothic" pitchFamily="34" charset="-122"/>
                <a:cs typeface="Yu Gothic" pitchFamily="34" charset="-120"/>
              </a:rPr>
              <a:t>高い群 13回</a:t>
            </a:r>
            <a:endParaRPr lang="en-US" sz="950" dirty="0"/>
          </a:p>
        </p:txBody>
      </p:sp>
      <p:sp>
        <p:nvSpPr>
          <p:cNvPr id="48" name="Shape 46"/>
          <p:cNvSpPr/>
          <p:nvPr/>
        </p:nvSpPr>
        <p:spPr>
          <a:xfrm>
            <a:off x="6720840" y="1828800"/>
            <a:ext cx="4919472" cy="1783080"/>
          </a:xfrm>
          <a:prstGeom prst="roundRect">
            <a:avLst>
              <a:gd name="adj" fmla="val 6154"/>
            </a:avLst>
          </a:prstGeom>
          <a:solidFill>
            <a:srgbClr val="16213A"/>
          </a:solidFill>
          <a:ln/>
          <a:effectLst>
            <a:outerShdw sx="100000" sy="100000" kx="0" ky="0" algn="bl" rotWithShape="0" blurRad="101600" dist="38100" dir="5400000">
              <a:srgbClr val="000000">
                <a:alpha val="35000"/>
              </a:srgbClr>
            </a:outerShdw>
          </a:effectLst>
        </p:spPr>
      </p:sp>
      <p:sp>
        <p:nvSpPr>
          <p:cNvPr id="49" name="Shape 47"/>
          <p:cNvSpPr/>
          <p:nvPr/>
        </p:nvSpPr>
        <p:spPr>
          <a:xfrm>
            <a:off x="7018020" y="2052828"/>
            <a:ext cx="502920" cy="502920"/>
          </a:xfrm>
          <a:prstGeom prst="ellipse">
            <a:avLst/>
          </a:prstGeom>
          <a:solidFill>
            <a:srgbClr val="E2665A"/>
          </a:solidFill>
          <a:ln w="9525">
            <a:solidFill>
              <a:srgbClr val="E2665A"/>
            </a:solidFill>
            <a:prstDash val="solid"/>
          </a:ln>
        </p:spPr>
      </p:sp>
      <p:pic>
        <p:nvPicPr>
          <p:cNvPr id="50" name="Image 0" descr="preencoded.png">    </p:cNvPr>
          <p:cNvPicPr>
            <a:picLocks noChangeAspect="1"/>
          </p:cNvPicPr>
          <p:nvPr/>
        </p:nvPicPr>
        <p:blipFill>
          <a:blip r:embed="rId1"/>
          <a:stretch>
            <a:fillRect/>
          </a:stretch>
        </p:blipFill>
        <p:spPr>
          <a:xfrm>
            <a:off x="7148779" y="2183587"/>
            <a:ext cx="241402" cy="241402"/>
          </a:xfrm>
          <a:prstGeom prst="rect">
            <a:avLst/>
          </a:prstGeom>
        </p:spPr>
      </p:pic>
      <p:sp>
        <p:nvSpPr>
          <p:cNvPr id="51" name="Text 48"/>
          <p:cNvSpPr/>
          <p:nvPr/>
        </p:nvSpPr>
        <p:spPr>
          <a:xfrm>
            <a:off x="7680960" y="2084832"/>
            <a:ext cx="3749040" cy="411480"/>
          </a:xfrm>
          <a:prstGeom prst="rect">
            <a:avLst/>
          </a:prstGeom>
          <a:noFill/>
          <a:ln/>
        </p:spPr>
        <p:txBody>
          <a:bodyPr wrap="square" lIns="0" tIns="0" rIns="0" bIns="0" rtlCol="0" anchor="ctr"/>
          <a:lstStyle/>
          <a:p>
            <a:pPr indent="0" marL="0">
              <a:buNone/>
            </a:pPr>
            <a:r>
              <a:rPr lang="en-US" sz="1300" b="1" dirty="0">
                <a:solidFill>
                  <a:srgbClr val="E2665A"/>
                </a:solidFill>
                <a:latin typeface="Yu Gothic" pitchFamily="34" charset="0"/>
                <a:ea typeface="Yu Gothic" pitchFamily="34" charset="-122"/>
                <a:cs typeface="Yu Gothic" pitchFamily="34" charset="-120"/>
              </a:rPr>
              <a:t>介入は再現しなかった</a:t>
            </a:r>
            <a:endParaRPr lang="en-US" sz="1300" dirty="0"/>
          </a:p>
        </p:txBody>
      </p:sp>
      <p:sp>
        <p:nvSpPr>
          <p:cNvPr id="52" name="Text 49"/>
          <p:cNvSpPr/>
          <p:nvPr/>
        </p:nvSpPr>
        <p:spPr>
          <a:xfrm>
            <a:off x="6995160" y="2697480"/>
            <a:ext cx="4434840" cy="777240"/>
          </a:xfrm>
          <a:prstGeom prst="rect">
            <a:avLst/>
          </a:prstGeom>
          <a:noFill/>
          <a:ln/>
        </p:spPr>
        <p:txBody>
          <a:bodyPr wrap="square" lIns="0" tIns="0" rIns="0" bIns="0" rtlCol="0" anchor="ctr"/>
          <a:lstStyle/>
          <a:p>
            <a:pPr indent="0" marL="0">
              <a:lnSpc>
                <a:spcPct val="125000"/>
              </a:lnSpc>
              <a:buNone/>
            </a:pPr>
            <a:r>
              <a:rPr lang="en-US" sz="1050" dirty="0">
                <a:solidFill>
                  <a:srgbClr val="AFC9EE"/>
                </a:solidFill>
                <a:latin typeface="Yu Gothic" pitchFamily="34" charset="0"/>
                <a:ea typeface="Yu Gothic" pitchFamily="34" charset="-122"/>
                <a:cs typeface="Yu Gothic" pitchFamily="34" charset="-120"/>
              </a:rPr>
              <a:t>L1→L3の効果はSonnetで+18.0、Opus 5では−1.2。標準誤差の0.19倍で、効果はゼロと言ってよい。</a:t>
            </a:r>
            <a:endParaRPr lang="en-US" sz="1050" dirty="0"/>
          </a:p>
        </p:txBody>
      </p:sp>
      <p:sp>
        <p:nvSpPr>
          <p:cNvPr id="53" name="Shape 50"/>
          <p:cNvSpPr/>
          <p:nvPr/>
        </p:nvSpPr>
        <p:spPr>
          <a:xfrm>
            <a:off x="6720840" y="3749040"/>
            <a:ext cx="4919472" cy="1783080"/>
          </a:xfrm>
          <a:prstGeom prst="roundRect">
            <a:avLst>
              <a:gd name="adj" fmla="val 6154"/>
            </a:avLst>
          </a:prstGeom>
          <a:solidFill>
            <a:srgbClr val="16213A"/>
          </a:solidFill>
          <a:ln/>
          <a:effectLst>
            <a:outerShdw sx="100000" sy="100000" kx="0" ky="0" algn="bl" rotWithShape="0" blurRad="101600" dist="38100" dir="5400000">
              <a:srgbClr val="000000">
                <a:alpha val="35000"/>
              </a:srgbClr>
            </a:outerShdw>
          </a:effectLst>
        </p:spPr>
      </p:sp>
      <p:sp>
        <p:nvSpPr>
          <p:cNvPr id="54" name="Shape 51"/>
          <p:cNvSpPr/>
          <p:nvPr/>
        </p:nvSpPr>
        <p:spPr>
          <a:xfrm>
            <a:off x="7018020" y="3973068"/>
            <a:ext cx="502920" cy="502920"/>
          </a:xfrm>
          <a:prstGeom prst="ellipse">
            <a:avLst/>
          </a:prstGeom>
          <a:solidFill>
            <a:srgbClr val="1BAF7A"/>
          </a:solidFill>
          <a:ln w="9525">
            <a:solidFill>
              <a:srgbClr val="1BAF7A"/>
            </a:solidFill>
            <a:prstDash val="solid"/>
          </a:ln>
        </p:spPr>
      </p:sp>
      <p:pic>
        <p:nvPicPr>
          <p:cNvPr id="55" name="Image 1" descr="preencoded.png">    </p:cNvPr>
          <p:cNvPicPr>
            <a:picLocks noChangeAspect="1"/>
          </p:cNvPicPr>
          <p:nvPr/>
        </p:nvPicPr>
        <p:blipFill>
          <a:blip r:embed="rId2"/>
          <a:stretch>
            <a:fillRect/>
          </a:stretch>
        </p:blipFill>
        <p:spPr>
          <a:xfrm>
            <a:off x="7148779" y="4103827"/>
            <a:ext cx="241402" cy="241402"/>
          </a:xfrm>
          <a:prstGeom prst="rect">
            <a:avLst/>
          </a:prstGeom>
        </p:spPr>
      </p:pic>
      <p:sp>
        <p:nvSpPr>
          <p:cNvPr id="56" name="Text 52"/>
          <p:cNvSpPr/>
          <p:nvPr/>
        </p:nvSpPr>
        <p:spPr>
          <a:xfrm>
            <a:off x="7680960" y="4005072"/>
            <a:ext cx="3749040" cy="411480"/>
          </a:xfrm>
          <a:prstGeom prst="rect">
            <a:avLst/>
          </a:prstGeom>
          <a:noFill/>
          <a:ln/>
        </p:spPr>
        <p:txBody>
          <a:bodyPr wrap="square" lIns="0" tIns="0" rIns="0" bIns="0" rtlCol="0" anchor="ctr"/>
          <a:lstStyle/>
          <a:p>
            <a:pPr indent="0" marL="0">
              <a:buNone/>
            </a:pPr>
            <a:r>
              <a:rPr lang="en-US" sz="1300" b="1" dirty="0">
                <a:solidFill>
                  <a:srgbClr val="1BAF7A"/>
                </a:solidFill>
                <a:latin typeface="Yu Gothic" pitchFamily="34" charset="0"/>
                <a:ea typeface="Yu Gothic" pitchFamily="34" charset="-122"/>
                <a:cs typeface="Yu Gothic" pitchFamily="34" charset="-120"/>
              </a:rPr>
              <a:t>分岐という現象は再現した</a:t>
            </a:r>
            <a:endParaRPr lang="en-US" sz="1300" dirty="0"/>
          </a:p>
        </p:txBody>
      </p:sp>
      <p:sp>
        <p:nvSpPr>
          <p:cNvPr id="57" name="Text 53"/>
          <p:cNvSpPr/>
          <p:nvPr/>
        </p:nvSpPr>
        <p:spPr>
          <a:xfrm>
            <a:off x="6995160" y="4617720"/>
            <a:ext cx="4434840" cy="777240"/>
          </a:xfrm>
          <a:prstGeom prst="rect">
            <a:avLst/>
          </a:prstGeom>
          <a:noFill/>
          <a:ln/>
        </p:spPr>
        <p:txBody>
          <a:bodyPr wrap="square" lIns="0" tIns="0" rIns="0" bIns="0" rtlCol="0" anchor="ctr"/>
          <a:lstStyle/>
          <a:p>
            <a:pPr indent="0" marL="0">
              <a:lnSpc>
                <a:spcPct val="125000"/>
              </a:lnSpc>
              <a:buNone/>
            </a:pPr>
            <a:r>
              <a:rPr lang="en-US" sz="1050" dirty="0">
                <a:solidFill>
                  <a:srgbClr val="AFC9EE"/>
                </a:solidFill>
                <a:latin typeface="Yu Gothic" pitchFamily="34" charset="0"/>
                <a:ea typeface="Yu Gothic" pitchFamily="34" charset="-122"/>
                <a:cs typeface="Yu Gothic" pitchFamily="34" charset="-120"/>
              </a:rPr>
              <a:t>24回中23回がどちらかの塊に落ちた。村が2つの状態を持つこと自体はモデルをまたいで成立する。</a:t>
            </a:r>
            <a:endParaRPr lang="en-US" sz="1050" dirty="0"/>
          </a:p>
        </p:txBody>
      </p:sp>
      <p:sp>
        <p:nvSpPr>
          <p:cNvPr id="58" name="Shape 54"/>
          <p:cNvSpPr/>
          <p:nvPr/>
        </p:nvSpPr>
        <p:spPr>
          <a:xfrm>
            <a:off x="548640" y="5806440"/>
            <a:ext cx="11091672" cy="685800"/>
          </a:xfrm>
          <a:prstGeom prst="roundRect">
            <a:avLst>
              <a:gd name="adj" fmla="val 13333"/>
            </a:avLst>
          </a:prstGeom>
          <a:solidFill>
            <a:srgbClr val="1C2C4A"/>
          </a:solidFill>
          <a:ln/>
          <a:effectLst>
            <a:outerShdw sx="100000" sy="100000" kx="0" ky="0" algn="bl" rotWithShape="0" blurRad="101600" dist="38100" dir="5400000">
              <a:srgbClr val="000000">
                <a:alpha val="35000"/>
              </a:srgbClr>
            </a:outerShdw>
          </a:effectLst>
        </p:spPr>
      </p:sp>
      <p:sp>
        <p:nvSpPr>
          <p:cNvPr id="59" name="Text 55"/>
          <p:cNvSpPr/>
          <p:nvPr/>
        </p:nvSpPr>
        <p:spPr>
          <a:xfrm>
            <a:off x="868680" y="5806440"/>
            <a:ext cx="10515600" cy="685800"/>
          </a:xfrm>
          <a:prstGeom prst="rect">
            <a:avLst/>
          </a:prstGeom>
          <a:noFill/>
          <a:ln/>
        </p:spPr>
        <p:txBody>
          <a:bodyPr wrap="square" lIns="0" tIns="0" rIns="0" bIns="0" rtlCol="0" anchor="ctr"/>
          <a:lstStyle/>
          <a:p>
            <a:pPr indent="0" marL="0">
              <a:buNone/>
            </a:pPr>
            <a:r>
              <a:rPr lang="en-US" sz="1400" b="1" dirty="0">
                <a:solidFill>
                  <a:srgbClr val="F4C878"/>
                </a:solidFill>
                <a:latin typeface="Yu Gothic" pitchFamily="34" charset="0"/>
                <a:ea typeface="Yu Gothic" pitchFamily="34" charset="-122"/>
                <a:cs typeface="Yu Gothic" pitchFamily="34" charset="-120"/>
              </a:rPr>
              <a:t>構造（2つの引き込み先がある）は頑健で、テコ（何を変えれば動くか）は脆かった。</a:t>
            </a:r>
            <a:endParaRPr lang="en-US" sz="1400" dirty="0"/>
          </a:p>
        </p:txBody>
      </p:sp>
      <p:sp>
        <p:nvSpPr>
          <p:cNvPr id="60" name="Text 56"/>
          <p:cNvSpPr/>
          <p:nvPr/>
        </p:nvSpPr>
        <p:spPr>
          <a:xfrm>
            <a:off x="548640" y="6473952"/>
            <a:ext cx="4572000" cy="274320"/>
          </a:xfrm>
          <a:prstGeom prst="rect">
            <a:avLst/>
          </a:prstGeom>
          <a:noFill/>
          <a:ln/>
        </p:spPr>
        <p:txBody>
          <a:bodyPr wrap="square" lIns="0" tIns="0" rIns="0" bIns="0" rtlCol="0" anchor="ctr"/>
          <a:lstStyle/>
          <a:p>
            <a:pPr indent="0" marL="0">
              <a:buNone/>
            </a:pPr>
            <a:r>
              <a:rPr lang="en-US" sz="900" dirty="0">
                <a:solidFill>
                  <a:srgbClr val="5B6480"/>
                </a:solidFill>
                <a:latin typeface="Yu Gothic" pitchFamily="34" charset="0"/>
                <a:ea typeface="Yu Gothic" pitchFamily="34" charset="-122"/>
                <a:cs typeface="Yu Gothic" pitchFamily="34" charset="-120"/>
              </a:rPr>
              <a:t>救済者 × ガバナンス</a:t>
            </a:r>
            <a:endParaRPr lang="en-US" sz="900" dirty="0"/>
          </a:p>
        </p:txBody>
      </p:sp>
      <p:sp>
        <p:nvSpPr>
          <p:cNvPr id="61" name="Text 57"/>
          <p:cNvSpPr/>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11480"/>
            <a:ext cx="11094415" cy="822960"/>
          </a:xfrm>
          <a:prstGeom prst="rect">
            <a:avLst/>
          </a:prstGeom>
          <a:noFill/>
          <a:ln/>
        </p:spPr>
        <p:txBody>
          <a:bodyPr wrap="square" lIns="0" tIns="0" rIns="0" bIns="0" rtlCol="0" anchor="ctr"/>
          <a:lstStyle/>
          <a:p>
            <a:pPr algn="l" indent="0" marL="0">
              <a:buNone/>
            </a:pPr>
            <a:r>
              <a:rPr lang="en-US" sz="2700" b="1" dirty="0">
                <a:solidFill>
                  <a:srgbClr val="FFFFFF"/>
                </a:solidFill>
                <a:latin typeface="Yu Gothic" pitchFamily="34" charset="0"/>
                <a:ea typeface="Yu Gothic" pitchFamily="34" charset="-122"/>
                <a:cs typeface="Yu Gothic" pitchFamily="34" charset="-120"/>
              </a:rPr>
              <a:t>「一人を変えられること」と「集団が変わること」は別だった</a:t>
            </a:r>
            <a:endParaRPr lang="en-US" sz="2700" dirty="0"/>
          </a:p>
        </p:txBody>
      </p:sp>
      <p:sp>
        <p:nvSpPr>
          <p:cNvPr id="3" name="Text 1"/>
          <p:cNvSpPr/>
          <p:nvPr/>
        </p:nvSpPr>
        <p:spPr>
          <a:xfrm>
            <a:off x="548640" y="1207008"/>
            <a:ext cx="11094415" cy="365760"/>
          </a:xfrm>
          <a:prstGeom prst="rect">
            <a:avLst/>
          </a:prstGeom>
          <a:noFill/>
          <a:ln/>
        </p:spPr>
        <p:txBody>
          <a:bodyPr wrap="square" lIns="0" tIns="0" rIns="0" bIns="0" rtlCol="0" anchor="ctr"/>
          <a:lstStyle/>
          <a:p>
            <a:pPr algn="l" indent="0" marL="0">
              <a:buNone/>
            </a:pPr>
            <a:r>
              <a:rPr lang="en-US" sz="1400" dirty="0">
                <a:solidFill>
                  <a:srgbClr val="9AA4C0"/>
                </a:solidFill>
                <a:latin typeface="Yu Gothic" pitchFamily="34" charset="0"/>
                <a:ea typeface="Yu Gothic" pitchFamily="34" charset="-122"/>
                <a:cs typeface="Yu Gothic" pitchFamily="34" charset="-120"/>
              </a:rPr>
              <a:t>同じ介入差（L1→L3）で、各段の動いた量を揃えて測った。</a:t>
            </a:r>
            <a:endParaRPr lang="en-US" sz="1400" dirty="0"/>
          </a:p>
        </p:txBody>
      </p:sp>
      <p:sp>
        <p:nvSpPr>
          <p:cNvPr id="4" name="Shape 2"/>
          <p:cNvSpPr/>
          <p:nvPr/>
        </p:nvSpPr>
        <p:spPr>
          <a:xfrm>
            <a:off x="548640" y="1618488"/>
            <a:ext cx="11091672" cy="1828800"/>
          </a:xfrm>
          <a:prstGeom prst="roundRect">
            <a:avLst>
              <a:gd name="adj" fmla="val 6000"/>
            </a:avLst>
          </a:prstGeom>
          <a:solidFill>
            <a:srgbClr val="16213A"/>
          </a:solidFill>
          <a:ln/>
          <a:effectLst>
            <a:outerShdw sx="100000" sy="100000" kx="0" ky="0" algn="bl" rotWithShape="0" blurRad="101600" dist="38100" dir="5400000">
              <a:srgbClr val="000000">
                <a:alpha val="35000"/>
              </a:srgbClr>
            </a:outerShdw>
          </a:effectLst>
        </p:spPr>
      </p:sp>
      <p:sp>
        <p:nvSpPr>
          <p:cNvPr id="5" name="Text 3"/>
          <p:cNvSpPr/>
          <p:nvPr/>
        </p:nvSpPr>
        <p:spPr>
          <a:xfrm>
            <a:off x="777240" y="1709928"/>
            <a:ext cx="2743200" cy="292608"/>
          </a:xfrm>
          <a:prstGeom prst="rect">
            <a:avLst/>
          </a:prstGeom>
          <a:noFill/>
          <a:ln/>
        </p:spPr>
        <p:txBody>
          <a:bodyPr wrap="square" lIns="0" tIns="0" rIns="0" bIns="0" rtlCol="0" anchor="ctr"/>
          <a:lstStyle/>
          <a:p>
            <a:pPr indent="0" marL="0">
              <a:buNone/>
            </a:pPr>
            <a:r>
              <a:rPr lang="en-US" sz="1150" b="1" dirty="0">
                <a:solidFill>
                  <a:srgbClr val="AFC9EE"/>
                </a:solidFill>
                <a:latin typeface="Yu Gothic" pitchFamily="34" charset="0"/>
                <a:ea typeface="Yu Gothic" pitchFamily="34" charset="-122"/>
                <a:cs typeface="Yu Gothic" pitchFamily="34" charset="-120"/>
              </a:rPr>
              <a:t>Sonnet 4.5 条件</a:t>
            </a:r>
            <a:endParaRPr lang="en-US" sz="1150" dirty="0"/>
          </a:p>
        </p:txBody>
      </p:sp>
      <p:sp>
        <p:nvSpPr>
          <p:cNvPr id="6" name="Shape 4"/>
          <p:cNvSpPr/>
          <p:nvPr/>
        </p:nvSpPr>
        <p:spPr>
          <a:xfrm>
            <a:off x="868680" y="2258568"/>
            <a:ext cx="1728216" cy="749808"/>
          </a:xfrm>
          <a:prstGeom prst="roundRect">
            <a:avLst>
              <a:gd name="adj" fmla="val 12195"/>
            </a:avLst>
          </a:prstGeom>
          <a:solidFill>
            <a:srgbClr val="0B1220"/>
          </a:solidFill>
          <a:ln w="12700">
            <a:solidFill>
              <a:srgbClr val="5B6480"/>
            </a:solidFill>
            <a:prstDash val="solid"/>
          </a:ln>
        </p:spPr>
      </p:sp>
      <p:sp>
        <p:nvSpPr>
          <p:cNvPr id="7" name="Text 5"/>
          <p:cNvSpPr/>
          <p:nvPr/>
        </p:nvSpPr>
        <p:spPr>
          <a:xfrm>
            <a:off x="868680" y="2258568"/>
            <a:ext cx="1728216" cy="749808"/>
          </a:xfrm>
          <a:prstGeom prst="rect">
            <a:avLst/>
          </a:prstGeom>
          <a:noFill/>
          <a:ln/>
        </p:spPr>
        <p:txBody>
          <a:bodyPr wrap="square" lIns="0" tIns="0" rIns="0" bIns="0" rtlCol="0" anchor="ctr"/>
          <a:lstStyle/>
          <a:p>
            <a:pPr algn="ctr" indent="0" marL="0">
              <a:buNone/>
            </a:pPr>
            <a:r>
              <a:rPr lang="en-US" sz="1200" dirty="0">
                <a:solidFill>
                  <a:srgbClr val="FFFFFF"/>
                </a:solidFill>
                <a:latin typeface="Yu Gothic" pitchFamily="34" charset="0"/>
                <a:ea typeface="Yu Gothic" pitchFamily="34" charset="-122"/>
                <a:cs typeface="Yu Gothic" pitchFamily="34" charset="-120"/>
              </a:rPr>
              <a:t>レベル指定</a:t>
            </a:r>
            <a:endParaRPr lang="en-US" sz="1200" dirty="0"/>
          </a:p>
        </p:txBody>
      </p:sp>
      <p:sp>
        <p:nvSpPr>
          <p:cNvPr id="8" name="Shape 6"/>
          <p:cNvSpPr/>
          <p:nvPr/>
        </p:nvSpPr>
        <p:spPr>
          <a:xfrm>
            <a:off x="3767328" y="2258568"/>
            <a:ext cx="1728216" cy="749808"/>
          </a:xfrm>
          <a:prstGeom prst="roundRect">
            <a:avLst>
              <a:gd name="adj" fmla="val 12195"/>
            </a:avLst>
          </a:prstGeom>
          <a:solidFill>
            <a:srgbClr val="0B1220"/>
          </a:solidFill>
          <a:ln w="19050">
            <a:solidFill>
              <a:srgbClr val="E8A33D"/>
            </a:solidFill>
            <a:prstDash val="solid"/>
          </a:ln>
        </p:spPr>
      </p:sp>
      <p:sp>
        <p:nvSpPr>
          <p:cNvPr id="9" name="Text 7"/>
          <p:cNvSpPr/>
          <p:nvPr/>
        </p:nvSpPr>
        <p:spPr>
          <a:xfrm>
            <a:off x="3767328" y="2258568"/>
            <a:ext cx="1728216" cy="749808"/>
          </a:xfrm>
          <a:prstGeom prst="rect">
            <a:avLst/>
          </a:prstGeom>
          <a:noFill/>
          <a:ln/>
        </p:spPr>
        <p:txBody>
          <a:bodyPr wrap="square" lIns="0" tIns="0" rIns="0" bIns="0" rtlCol="0" anchor="ctr"/>
          <a:lstStyle/>
          <a:p>
            <a:pPr algn="ctr" indent="0" marL="0">
              <a:buNone/>
            </a:pPr>
            <a:r>
              <a:rPr lang="en-US" sz="1200" b="1" dirty="0">
                <a:solidFill>
                  <a:srgbClr val="F4C878"/>
                </a:solidFill>
                <a:latin typeface="Yu Gothic" pitchFamily="34" charset="0"/>
                <a:ea typeface="Yu Gothic" pitchFamily="34" charset="-122"/>
                <a:cs typeface="Yu Gothic" pitchFamily="34" charset="-120"/>
              </a:rPr>
              <a:t>キーパーソン</a:t>
            </a:r>
            <a:endParaRPr lang="en-US" sz="1200" dirty="0"/>
          </a:p>
        </p:txBody>
      </p:sp>
      <p:sp>
        <p:nvSpPr>
          <p:cNvPr id="10" name="Shape 8"/>
          <p:cNvSpPr/>
          <p:nvPr/>
        </p:nvSpPr>
        <p:spPr>
          <a:xfrm>
            <a:off x="6665976" y="2258568"/>
            <a:ext cx="1728216" cy="749808"/>
          </a:xfrm>
          <a:prstGeom prst="roundRect">
            <a:avLst>
              <a:gd name="adj" fmla="val 12195"/>
            </a:avLst>
          </a:prstGeom>
          <a:solidFill>
            <a:srgbClr val="0B1220"/>
          </a:solidFill>
          <a:ln w="12700">
            <a:solidFill>
              <a:srgbClr val="5B6480"/>
            </a:solidFill>
            <a:prstDash val="solid"/>
          </a:ln>
        </p:spPr>
      </p:sp>
      <p:sp>
        <p:nvSpPr>
          <p:cNvPr id="11" name="Text 9"/>
          <p:cNvSpPr/>
          <p:nvPr/>
        </p:nvSpPr>
        <p:spPr>
          <a:xfrm>
            <a:off x="6665976" y="2258568"/>
            <a:ext cx="1728216" cy="749808"/>
          </a:xfrm>
          <a:prstGeom prst="rect">
            <a:avLst/>
          </a:prstGeom>
          <a:noFill/>
          <a:ln/>
        </p:spPr>
        <p:txBody>
          <a:bodyPr wrap="square" lIns="0" tIns="0" rIns="0" bIns="0" rtlCol="0" anchor="ctr"/>
          <a:lstStyle/>
          <a:p>
            <a:pPr algn="ctr" indent="0" marL="0">
              <a:buNone/>
            </a:pPr>
            <a:r>
              <a:rPr lang="en-US" sz="1200" dirty="0">
                <a:solidFill>
                  <a:srgbClr val="FFFFFF"/>
                </a:solidFill>
                <a:latin typeface="Yu Gothic" pitchFamily="34" charset="0"/>
                <a:ea typeface="Yu Gothic" pitchFamily="34" charset="-122"/>
                <a:cs typeface="Yu Gothic" pitchFamily="34" charset="-120"/>
              </a:rPr>
              <a:t>周囲の住民</a:t>
            </a:r>
            <a:endParaRPr lang="en-US" sz="1200" dirty="0"/>
          </a:p>
        </p:txBody>
      </p:sp>
      <p:sp>
        <p:nvSpPr>
          <p:cNvPr id="12" name="Shape 10"/>
          <p:cNvSpPr/>
          <p:nvPr/>
        </p:nvSpPr>
        <p:spPr>
          <a:xfrm>
            <a:off x="9564624" y="2258568"/>
            <a:ext cx="1728216" cy="749808"/>
          </a:xfrm>
          <a:prstGeom prst="roundRect">
            <a:avLst>
              <a:gd name="adj" fmla="val 12195"/>
            </a:avLst>
          </a:prstGeom>
          <a:solidFill>
            <a:srgbClr val="1C2C4A"/>
          </a:solidFill>
          <a:ln w="12700">
            <a:solidFill>
              <a:srgbClr val="1BAF7A"/>
            </a:solidFill>
            <a:prstDash val="solid"/>
          </a:ln>
        </p:spPr>
      </p:sp>
      <p:sp>
        <p:nvSpPr>
          <p:cNvPr id="13" name="Text 11"/>
          <p:cNvSpPr/>
          <p:nvPr/>
        </p:nvSpPr>
        <p:spPr>
          <a:xfrm>
            <a:off x="9564624" y="2258568"/>
            <a:ext cx="1728216" cy="749808"/>
          </a:xfrm>
          <a:prstGeom prst="rect">
            <a:avLst/>
          </a:prstGeom>
          <a:noFill/>
          <a:ln/>
        </p:spPr>
        <p:txBody>
          <a:bodyPr wrap="square" lIns="0" tIns="0" rIns="0" bIns="0" rtlCol="0" anchor="ctr"/>
          <a:lstStyle/>
          <a:p>
            <a:pPr algn="ctr" indent="0" marL="0">
              <a:buNone/>
            </a:pPr>
            <a:r>
              <a:rPr lang="en-US" sz="1200" dirty="0">
                <a:solidFill>
                  <a:srgbClr val="FFFFFF"/>
                </a:solidFill>
                <a:latin typeface="Yu Gothic" pitchFamily="34" charset="0"/>
                <a:ea typeface="Yu Gothic" pitchFamily="34" charset="-122"/>
                <a:cs typeface="Yu Gothic" pitchFamily="34" charset="-120"/>
              </a:rPr>
              <a:t>村全体</a:t>
            </a:r>
            <a:endParaRPr lang="en-US" sz="1200" dirty="0"/>
          </a:p>
        </p:txBody>
      </p:sp>
      <p:sp>
        <p:nvSpPr>
          <p:cNvPr id="14" name="Text 12"/>
          <p:cNvSpPr/>
          <p:nvPr/>
        </p:nvSpPr>
        <p:spPr>
          <a:xfrm>
            <a:off x="9427464" y="3044952"/>
            <a:ext cx="2002536" cy="292608"/>
          </a:xfrm>
          <a:prstGeom prst="rect">
            <a:avLst/>
          </a:prstGeom>
          <a:noFill/>
          <a:ln/>
        </p:spPr>
        <p:txBody>
          <a:bodyPr wrap="square" lIns="0" tIns="0" rIns="0" bIns="0" rtlCol="0" anchor="ctr"/>
          <a:lstStyle/>
          <a:p>
            <a:pPr algn="ctr" indent="0" marL="0">
              <a:buNone/>
            </a:pPr>
            <a:r>
              <a:rPr lang="en-US" sz="1200" b="1" dirty="0">
                <a:solidFill>
                  <a:srgbClr val="1BAF7A"/>
                </a:solidFill>
                <a:latin typeface="Yu Gothic" pitchFamily="34" charset="0"/>
                <a:ea typeface="Yu Gothic" pitchFamily="34" charset="-122"/>
                <a:cs typeface="Yu Gothic" pitchFamily="34" charset="-120"/>
              </a:rPr>
              <a:t>自律度 +18.0</a:t>
            </a:r>
            <a:endParaRPr lang="en-US" sz="1200" dirty="0"/>
          </a:p>
        </p:txBody>
      </p:sp>
      <p:sp>
        <p:nvSpPr>
          <p:cNvPr id="15" name="Shape 13"/>
          <p:cNvSpPr/>
          <p:nvPr/>
        </p:nvSpPr>
        <p:spPr>
          <a:xfrm>
            <a:off x="2706624" y="2633472"/>
            <a:ext cx="950976" cy="0"/>
          </a:xfrm>
          <a:prstGeom prst="line">
            <a:avLst/>
          </a:prstGeom>
          <a:noFill/>
          <a:ln w="15875">
            <a:solidFill>
              <a:srgbClr val="5B6480"/>
            </a:solidFill>
            <a:prstDash val="solid"/>
            <a:tailEnd type="triangle"/>
          </a:ln>
        </p:spPr>
      </p:sp>
      <p:sp>
        <p:nvSpPr>
          <p:cNvPr id="16" name="Text 14"/>
          <p:cNvSpPr/>
          <p:nvPr/>
        </p:nvSpPr>
        <p:spPr>
          <a:xfrm>
            <a:off x="2596896" y="2157984"/>
            <a:ext cx="1170432" cy="274320"/>
          </a:xfrm>
          <a:prstGeom prst="rect">
            <a:avLst/>
          </a:prstGeom>
          <a:noFill/>
          <a:ln/>
        </p:spPr>
        <p:txBody>
          <a:bodyPr wrap="square" lIns="0" tIns="0" rIns="0" bIns="0" rtlCol="0" anchor="ctr"/>
          <a:lstStyle/>
          <a:p>
            <a:pPr algn="ctr" indent="0" marL="0">
              <a:buNone/>
            </a:pPr>
            <a:r>
              <a:rPr lang="en-US" sz="1000" dirty="0">
                <a:solidFill>
                  <a:srgbClr val="9AA4C0"/>
                </a:solidFill>
                <a:latin typeface="Yu Gothic" pitchFamily="34" charset="0"/>
                <a:ea typeface="Yu Gothic" pitchFamily="34" charset="-122"/>
                <a:cs typeface="Yu Gothic" pitchFamily="34" charset="-120"/>
              </a:rPr>
              <a:t>(A) 44.4pt</a:t>
            </a:r>
            <a:endParaRPr lang="en-US" sz="1000" dirty="0"/>
          </a:p>
        </p:txBody>
      </p:sp>
      <p:sp>
        <p:nvSpPr>
          <p:cNvPr id="17" name="Shape 15"/>
          <p:cNvSpPr/>
          <p:nvPr/>
        </p:nvSpPr>
        <p:spPr>
          <a:xfrm>
            <a:off x="5605272" y="2633472"/>
            <a:ext cx="950976" cy="0"/>
          </a:xfrm>
          <a:prstGeom prst="line">
            <a:avLst/>
          </a:prstGeom>
          <a:noFill/>
          <a:ln w="57150">
            <a:solidFill>
              <a:srgbClr val="1BAF7A"/>
            </a:solidFill>
            <a:prstDash val="solid"/>
            <a:tailEnd type="triangle"/>
          </a:ln>
        </p:spPr>
      </p:sp>
      <p:sp>
        <p:nvSpPr>
          <p:cNvPr id="18" name="Text 16"/>
          <p:cNvSpPr/>
          <p:nvPr/>
        </p:nvSpPr>
        <p:spPr>
          <a:xfrm>
            <a:off x="5495544" y="2157984"/>
            <a:ext cx="1170432" cy="274320"/>
          </a:xfrm>
          <a:prstGeom prst="rect">
            <a:avLst/>
          </a:prstGeom>
          <a:noFill/>
          <a:ln/>
        </p:spPr>
        <p:txBody>
          <a:bodyPr wrap="square" lIns="0" tIns="0" rIns="0" bIns="0" rtlCol="0" anchor="ctr"/>
          <a:lstStyle/>
          <a:p>
            <a:pPr algn="ctr" indent="0" marL="0">
              <a:buNone/>
            </a:pPr>
            <a:r>
              <a:rPr lang="en-US" sz="1000" b="1" dirty="0">
                <a:solidFill>
                  <a:srgbClr val="1BAF7A"/>
                </a:solidFill>
                <a:latin typeface="Yu Gothic" pitchFamily="34" charset="0"/>
                <a:ea typeface="Yu Gothic" pitchFamily="34" charset="-122"/>
                <a:cs typeface="Yu Gothic" pitchFamily="34" charset="-120"/>
              </a:rPr>
              <a:t>(B) 22.2pt</a:t>
            </a:r>
            <a:endParaRPr lang="en-US" sz="1000" dirty="0"/>
          </a:p>
        </p:txBody>
      </p:sp>
      <p:sp>
        <p:nvSpPr>
          <p:cNvPr id="19" name="Shape 17"/>
          <p:cNvSpPr/>
          <p:nvPr/>
        </p:nvSpPr>
        <p:spPr>
          <a:xfrm>
            <a:off x="8503920" y="2633472"/>
            <a:ext cx="950976" cy="0"/>
          </a:xfrm>
          <a:prstGeom prst="line">
            <a:avLst/>
          </a:prstGeom>
          <a:noFill/>
          <a:ln w="15875">
            <a:solidFill>
              <a:srgbClr val="9AA4C0"/>
            </a:solidFill>
            <a:prstDash val="solid"/>
            <a:tailEnd type="triangle"/>
          </a:ln>
        </p:spPr>
      </p:sp>
      <p:sp>
        <p:nvSpPr>
          <p:cNvPr id="20" name="Shape 18"/>
          <p:cNvSpPr/>
          <p:nvPr/>
        </p:nvSpPr>
        <p:spPr>
          <a:xfrm>
            <a:off x="548640" y="3675888"/>
            <a:ext cx="11091672" cy="1828800"/>
          </a:xfrm>
          <a:prstGeom prst="roundRect">
            <a:avLst>
              <a:gd name="adj" fmla="val 6000"/>
            </a:avLst>
          </a:prstGeom>
          <a:solidFill>
            <a:srgbClr val="16213A"/>
          </a:solidFill>
          <a:ln/>
          <a:effectLst>
            <a:outerShdw sx="100000" sy="100000" kx="0" ky="0" algn="bl" rotWithShape="0" blurRad="101600" dist="38100" dir="5400000">
              <a:srgbClr val="000000">
                <a:alpha val="35000"/>
              </a:srgbClr>
            </a:outerShdw>
          </a:effectLst>
        </p:spPr>
      </p:sp>
      <p:sp>
        <p:nvSpPr>
          <p:cNvPr id="21" name="Text 19"/>
          <p:cNvSpPr/>
          <p:nvPr/>
        </p:nvSpPr>
        <p:spPr>
          <a:xfrm>
            <a:off x="777240" y="3767328"/>
            <a:ext cx="2743200" cy="292608"/>
          </a:xfrm>
          <a:prstGeom prst="rect">
            <a:avLst/>
          </a:prstGeom>
          <a:noFill/>
          <a:ln/>
        </p:spPr>
        <p:txBody>
          <a:bodyPr wrap="square" lIns="0" tIns="0" rIns="0" bIns="0" rtlCol="0" anchor="ctr"/>
          <a:lstStyle/>
          <a:p>
            <a:pPr indent="0" marL="0">
              <a:buNone/>
            </a:pPr>
            <a:r>
              <a:rPr lang="en-US" sz="1150" b="1" dirty="0">
                <a:solidFill>
                  <a:srgbClr val="AFC9EE"/>
                </a:solidFill>
                <a:latin typeface="Yu Gothic" pitchFamily="34" charset="0"/>
                <a:ea typeface="Yu Gothic" pitchFamily="34" charset="-122"/>
                <a:cs typeface="Yu Gothic" pitchFamily="34" charset="-120"/>
              </a:rPr>
              <a:t>Opus 5 条件</a:t>
            </a:r>
            <a:endParaRPr lang="en-US" sz="1150" dirty="0"/>
          </a:p>
        </p:txBody>
      </p:sp>
      <p:sp>
        <p:nvSpPr>
          <p:cNvPr id="22" name="Shape 20"/>
          <p:cNvSpPr/>
          <p:nvPr/>
        </p:nvSpPr>
        <p:spPr>
          <a:xfrm>
            <a:off x="868680" y="4315968"/>
            <a:ext cx="1728216" cy="749808"/>
          </a:xfrm>
          <a:prstGeom prst="roundRect">
            <a:avLst>
              <a:gd name="adj" fmla="val 12195"/>
            </a:avLst>
          </a:prstGeom>
          <a:solidFill>
            <a:srgbClr val="0B1220"/>
          </a:solidFill>
          <a:ln w="12700">
            <a:solidFill>
              <a:srgbClr val="5B6480"/>
            </a:solidFill>
            <a:prstDash val="solid"/>
          </a:ln>
        </p:spPr>
      </p:sp>
      <p:sp>
        <p:nvSpPr>
          <p:cNvPr id="23" name="Text 21"/>
          <p:cNvSpPr/>
          <p:nvPr/>
        </p:nvSpPr>
        <p:spPr>
          <a:xfrm>
            <a:off x="868680" y="4315968"/>
            <a:ext cx="1728216" cy="749808"/>
          </a:xfrm>
          <a:prstGeom prst="rect">
            <a:avLst/>
          </a:prstGeom>
          <a:noFill/>
          <a:ln/>
        </p:spPr>
        <p:txBody>
          <a:bodyPr wrap="square" lIns="0" tIns="0" rIns="0" bIns="0" rtlCol="0" anchor="ctr"/>
          <a:lstStyle/>
          <a:p>
            <a:pPr algn="ctr" indent="0" marL="0">
              <a:buNone/>
            </a:pPr>
            <a:r>
              <a:rPr lang="en-US" sz="1200" dirty="0">
                <a:solidFill>
                  <a:srgbClr val="FFFFFF"/>
                </a:solidFill>
                <a:latin typeface="Yu Gothic" pitchFamily="34" charset="0"/>
                <a:ea typeface="Yu Gothic" pitchFamily="34" charset="-122"/>
                <a:cs typeface="Yu Gothic" pitchFamily="34" charset="-120"/>
              </a:rPr>
              <a:t>レベル指定</a:t>
            </a:r>
            <a:endParaRPr lang="en-US" sz="1200" dirty="0"/>
          </a:p>
        </p:txBody>
      </p:sp>
      <p:sp>
        <p:nvSpPr>
          <p:cNvPr id="24" name="Shape 22"/>
          <p:cNvSpPr/>
          <p:nvPr/>
        </p:nvSpPr>
        <p:spPr>
          <a:xfrm>
            <a:off x="3767328" y="4315968"/>
            <a:ext cx="1728216" cy="749808"/>
          </a:xfrm>
          <a:prstGeom prst="roundRect">
            <a:avLst>
              <a:gd name="adj" fmla="val 12195"/>
            </a:avLst>
          </a:prstGeom>
          <a:solidFill>
            <a:srgbClr val="0B1220"/>
          </a:solidFill>
          <a:ln w="19050">
            <a:solidFill>
              <a:srgbClr val="E8A33D"/>
            </a:solidFill>
            <a:prstDash val="solid"/>
          </a:ln>
        </p:spPr>
      </p:sp>
      <p:sp>
        <p:nvSpPr>
          <p:cNvPr id="25" name="Text 23"/>
          <p:cNvSpPr/>
          <p:nvPr/>
        </p:nvSpPr>
        <p:spPr>
          <a:xfrm>
            <a:off x="3767328" y="4315968"/>
            <a:ext cx="1728216" cy="749808"/>
          </a:xfrm>
          <a:prstGeom prst="rect">
            <a:avLst/>
          </a:prstGeom>
          <a:noFill/>
          <a:ln/>
        </p:spPr>
        <p:txBody>
          <a:bodyPr wrap="square" lIns="0" tIns="0" rIns="0" bIns="0" rtlCol="0" anchor="ctr"/>
          <a:lstStyle/>
          <a:p>
            <a:pPr algn="ctr" indent="0" marL="0">
              <a:buNone/>
            </a:pPr>
            <a:r>
              <a:rPr lang="en-US" sz="1200" b="1" dirty="0">
                <a:solidFill>
                  <a:srgbClr val="F4C878"/>
                </a:solidFill>
                <a:latin typeface="Yu Gothic" pitchFamily="34" charset="0"/>
                <a:ea typeface="Yu Gothic" pitchFamily="34" charset="-122"/>
                <a:cs typeface="Yu Gothic" pitchFamily="34" charset="-120"/>
              </a:rPr>
              <a:t>キーパーソン</a:t>
            </a:r>
            <a:endParaRPr lang="en-US" sz="1200" dirty="0"/>
          </a:p>
        </p:txBody>
      </p:sp>
      <p:sp>
        <p:nvSpPr>
          <p:cNvPr id="26" name="Shape 24"/>
          <p:cNvSpPr/>
          <p:nvPr/>
        </p:nvSpPr>
        <p:spPr>
          <a:xfrm>
            <a:off x="6665976" y="4315968"/>
            <a:ext cx="1728216" cy="749808"/>
          </a:xfrm>
          <a:prstGeom prst="roundRect">
            <a:avLst>
              <a:gd name="adj" fmla="val 12195"/>
            </a:avLst>
          </a:prstGeom>
          <a:solidFill>
            <a:srgbClr val="0B1220"/>
          </a:solidFill>
          <a:ln w="12700">
            <a:solidFill>
              <a:srgbClr val="5B6480"/>
            </a:solidFill>
            <a:prstDash val="solid"/>
          </a:ln>
        </p:spPr>
      </p:sp>
      <p:sp>
        <p:nvSpPr>
          <p:cNvPr id="27" name="Text 25"/>
          <p:cNvSpPr/>
          <p:nvPr/>
        </p:nvSpPr>
        <p:spPr>
          <a:xfrm>
            <a:off x="6665976" y="4315968"/>
            <a:ext cx="1728216" cy="749808"/>
          </a:xfrm>
          <a:prstGeom prst="rect">
            <a:avLst/>
          </a:prstGeom>
          <a:noFill/>
          <a:ln/>
        </p:spPr>
        <p:txBody>
          <a:bodyPr wrap="square" lIns="0" tIns="0" rIns="0" bIns="0" rtlCol="0" anchor="ctr"/>
          <a:lstStyle/>
          <a:p>
            <a:pPr algn="ctr" indent="0" marL="0">
              <a:buNone/>
            </a:pPr>
            <a:r>
              <a:rPr lang="en-US" sz="1200" dirty="0">
                <a:solidFill>
                  <a:srgbClr val="FFFFFF"/>
                </a:solidFill>
                <a:latin typeface="Yu Gothic" pitchFamily="34" charset="0"/>
                <a:ea typeface="Yu Gothic" pitchFamily="34" charset="-122"/>
                <a:cs typeface="Yu Gothic" pitchFamily="34" charset="-120"/>
              </a:rPr>
              <a:t>周囲の住民</a:t>
            </a:r>
            <a:endParaRPr lang="en-US" sz="1200" dirty="0"/>
          </a:p>
        </p:txBody>
      </p:sp>
      <p:sp>
        <p:nvSpPr>
          <p:cNvPr id="28" name="Shape 26"/>
          <p:cNvSpPr/>
          <p:nvPr/>
        </p:nvSpPr>
        <p:spPr>
          <a:xfrm>
            <a:off x="9564624" y="4315968"/>
            <a:ext cx="1728216" cy="749808"/>
          </a:xfrm>
          <a:prstGeom prst="roundRect">
            <a:avLst>
              <a:gd name="adj" fmla="val 12195"/>
            </a:avLst>
          </a:prstGeom>
          <a:solidFill>
            <a:srgbClr val="1C2C4A"/>
          </a:solidFill>
          <a:ln w="12700">
            <a:solidFill>
              <a:srgbClr val="E2665A"/>
            </a:solidFill>
            <a:prstDash val="solid"/>
          </a:ln>
        </p:spPr>
      </p:sp>
      <p:sp>
        <p:nvSpPr>
          <p:cNvPr id="29" name="Text 27"/>
          <p:cNvSpPr/>
          <p:nvPr/>
        </p:nvSpPr>
        <p:spPr>
          <a:xfrm>
            <a:off x="9564624" y="4315968"/>
            <a:ext cx="1728216" cy="749808"/>
          </a:xfrm>
          <a:prstGeom prst="rect">
            <a:avLst/>
          </a:prstGeom>
          <a:noFill/>
          <a:ln/>
        </p:spPr>
        <p:txBody>
          <a:bodyPr wrap="square" lIns="0" tIns="0" rIns="0" bIns="0" rtlCol="0" anchor="ctr"/>
          <a:lstStyle/>
          <a:p>
            <a:pPr algn="ctr" indent="0" marL="0">
              <a:buNone/>
            </a:pPr>
            <a:r>
              <a:rPr lang="en-US" sz="1200" dirty="0">
                <a:solidFill>
                  <a:srgbClr val="FFFFFF"/>
                </a:solidFill>
                <a:latin typeface="Yu Gothic" pitchFamily="34" charset="0"/>
                <a:ea typeface="Yu Gothic" pitchFamily="34" charset="-122"/>
                <a:cs typeface="Yu Gothic" pitchFamily="34" charset="-120"/>
              </a:rPr>
              <a:t>村全体</a:t>
            </a:r>
            <a:endParaRPr lang="en-US" sz="1200" dirty="0"/>
          </a:p>
        </p:txBody>
      </p:sp>
      <p:sp>
        <p:nvSpPr>
          <p:cNvPr id="30" name="Text 28"/>
          <p:cNvSpPr/>
          <p:nvPr/>
        </p:nvSpPr>
        <p:spPr>
          <a:xfrm>
            <a:off x="9427464" y="5102352"/>
            <a:ext cx="2002536" cy="292608"/>
          </a:xfrm>
          <a:prstGeom prst="rect">
            <a:avLst/>
          </a:prstGeom>
          <a:noFill/>
          <a:ln/>
        </p:spPr>
        <p:txBody>
          <a:bodyPr wrap="square" lIns="0" tIns="0" rIns="0" bIns="0" rtlCol="0" anchor="ctr"/>
          <a:lstStyle/>
          <a:p>
            <a:pPr algn="ctr" indent="0" marL="0">
              <a:buNone/>
            </a:pPr>
            <a:r>
              <a:rPr lang="en-US" sz="1200" b="1" dirty="0">
                <a:solidFill>
                  <a:srgbClr val="E2665A"/>
                </a:solidFill>
                <a:latin typeface="Yu Gothic" pitchFamily="34" charset="0"/>
                <a:ea typeface="Yu Gothic" pitchFamily="34" charset="-122"/>
                <a:cs typeface="Yu Gothic" pitchFamily="34" charset="-120"/>
              </a:rPr>
              <a:t>自律度 −1.2</a:t>
            </a:r>
            <a:endParaRPr lang="en-US" sz="1200" dirty="0"/>
          </a:p>
        </p:txBody>
      </p:sp>
      <p:sp>
        <p:nvSpPr>
          <p:cNvPr id="31" name="Shape 29"/>
          <p:cNvSpPr/>
          <p:nvPr/>
        </p:nvSpPr>
        <p:spPr>
          <a:xfrm>
            <a:off x="2706624" y="4690872"/>
            <a:ext cx="950976" cy="0"/>
          </a:xfrm>
          <a:prstGeom prst="line">
            <a:avLst/>
          </a:prstGeom>
          <a:noFill/>
          <a:ln w="57150">
            <a:solidFill>
              <a:srgbClr val="1BAF7A"/>
            </a:solidFill>
            <a:prstDash val="solid"/>
            <a:tailEnd type="triangle"/>
          </a:ln>
        </p:spPr>
      </p:sp>
      <p:sp>
        <p:nvSpPr>
          <p:cNvPr id="32" name="Text 30"/>
          <p:cNvSpPr/>
          <p:nvPr/>
        </p:nvSpPr>
        <p:spPr>
          <a:xfrm>
            <a:off x="2596896" y="4215384"/>
            <a:ext cx="1170432" cy="274320"/>
          </a:xfrm>
          <a:prstGeom prst="rect">
            <a:avLst/>
          </a:prstGeom>
          <a:noFill/>
          <a:ln/>
        </p:spPr>
        <p:txBody>
          <a:bodyPr wrap="square" lIns="0" tIns="0" rIns="0" bIns="0" rtlCol="0" anchor="ctr"/>
          <a:lstStyle/>
          <a:p>
            <a:pPr algn="ctr" indent="0" marL="0">
              <a:buNone/>
            </a:pPr>
            <a:r>
              <a:rPr lang="en-US" sz="1000" b="1" dirty="0">
                <a:solidFill>
                  <a:srgbClr val="1BAF7A"/>
                </a:solidFill>
                <a:latin typeface="Yu Gothic" pitchFamily="34" charset="0"/>
                <a:ea typeface="Yu Gothic" pitchFamily="34" charset="-122"/>
                <a:cs typeface="Yu Gothic" pitchFamily="34" charset="-120"/>
              </a:rPr>
              <a:t>(A) 50.0pt</a:t>
            </a:r>
            <a:endParaRPr lang="en-US" sz="1000" dirty="0"/>
          </a:p>
        </p:txBody>
      </p:sp>
      <p:sp>
        <p:nvSpPr>
          <p:cNvPr id="33" name="Shape 31"/>
          <p:cNvSpPr/>
          <p:nvPr/>
        </p:nvSpPr>
        <p:spPr>
          <a:xfrm>
            <a:off x="5605272" y="4690872"/>
            <a:ext cx="950976" cy="0"/>
          </a:xfrm>
          <a:prstGeom prst="line">
            <a:avLst/>
          </a:prstGeom>
          <a:noFill/>
          <a:ln w="15875">
            <a:solidFill>
              <a:srgbClr val="5B6480"/>
            </a:solidFill>
            <a:prstDash val="solid"/>
            <a:tailEnd type="triangle"/>
          </a:ln>
        </p:spPr>
      </p:sp>
      <p:sp>
        <p:nvSpPr>
          <p:cNvPr id="34" name="Text 32"/>
          <p:cNvSpPr/>
          <p:nvPr/>
        </p:nvSpPr>
        <p:spPr>
          <a:xfrm>
            <a:off x="5495544" y="4215384"/>
            <a:ext cx="1170432" cy="274320"/>
          </a:xfrm>
          <a:prstGeom prst="rect">
            <a:avLst/>
          </a:prstGeom>
          <a:noFill/>
          <a:ln/>
        </p:spPr>
        <p:txBody>
          <a:bodyPr wrap="square" lIns="0" tIns="0" rIns="0" bIns="0" rtlCol="0" anchor="ctr"/>
          <a:lstStyle/>
          <a:p>
            <a:pPr algn="ctr" indent="0" marL="0">
              <a:buNone/>
            </a:pPr>
            <a:r>
              <a:rPr lang="en-US" sz="1000" dirty="0">
                <a:solidFill>
                  <a:srgbClr val="9AA4C0"/>
                </a:solidFill>
                <a:latin typeface="Yu Gothic" pitchFamily="34" charset="0"/>
                <a:ea typeface="Yu Gothic" pitchFamily="34" charset="-122"/>
                <a:cs typeface="Yu Gothic" pitchFamily="34" charset="-120"/>
              </a:rPr>
              <a:t>(B) 8.3pt</a:t>
            </a:r>
            <a:endParaRPr lang="en-US" sz="1000" dirty="0"/>
          </a:p>
        </p:txBody>
      </p:sp>
      <p:sp>
        <p:nvSpPr>
          <p:cNvPr id="35" name="Shape 33"/>
          <p:cNvSpPr/>
          <p:nvPr/>
        </p:nvSpPr>
        <p:spPr>
          <a:xfrm>
            <a:off x="8503920" y="4690872"/>
            <a:ext cx="950976" cy="0"/>
          </a:xfrm>
          <a:prstGeom prst="line">
            <a:avLst/>
          </a:prstGeom>
          <a:noFill/>
          <a:ln w="15875">
            <a:solidFill>
              <a:srgbClr val="9AA4C0"/>
            </a:solidFill>
            <a:prstDash val="solid"/>
            <a:tailEnd type="triangle"/>
          </a:ln>
        </p:spPr>
      </p:sp>
      <p:sp>
        <p:nvSpPr>
          <p:cNvPr id="36" name="Shape 34"/>
          <p:cNvSpPr/>
          <p:nvPr/>
        </p:nvSpPr>
        <p:spPr>
          <a:xfrm>
            <a:off x="548640" y="5623560"/>
            <a:ext cx="11091672" cy="658368"/>
          </a:xfrm>
          <a:prstGeom prst="roundRect">
            <a:avLst>
              <a:gd name="adj" fmla="val 13889"/>
            </a:avLst>
          </a:prstGeom>
          <a:solidFill>
            <a:srgbClr val="1C2C4A"/>
          </a:solidFill>
          <a:ln/>
          <a:effectLst>
            <a:outerShdw sx="100000" sy="100000" kx="0" ky="0" algn="bl" rotWithShape="0" blurRad="101600" dist="38100" dir="5400000">
              <a:srgbClr val="000000">
                <a:alpha val="35000"/>
              </a:srgbClr>
            </a:outerShdw>
          </a:effectLst>
        </p:spPr>
      </p:sp>
      <p:sp>
        <p:nvSpPr>
          <p:cNvPr id="37" name="Text 35"/>
          <p:cNvSpPr/>
          <p:nvPr/>
        </p:nvSpPr>
        <p:spPr>
          <a:xfrm>
            <a:off x="868680" y="5623560"/>
            <a:ext cx="10515600" cy="658368"/>
          </a:xfrm>
          <a:prstGeom prst="rect">
            <a:avLst/>
          </a:prstGeom>
          <a:noFill/>
          <a:ln/>
        </p:spPr>
        <p:txBody>
          <a:bodyPr wrap="square" lIns="0" tIns="0" rIns="0" bIns="0" rtlCol="0" anchor="ctr"/>
          <a:lstStyle/>
          <a:p>
            <a:pPr indent="0" marL="0">
              <a:buNone/>
            </a:pPr>
            <a:r>
              <a:rPr lang="en-US" sz="1400" b="1" dirty="0">
                <a:solidFill>
                  <a:srgbClr val="F4C878"/>
                </a:solidFill>
                <a:latin typeface="Yu Gothic" pitchFamily="34" charset="0"/>
                <a:ea typeface="Yu Gothic" pitchFamily="34" charset="-122"/>
                <a:cs typeface="Yu Gothic" pitchFamily="34" charset="-120"/>
              </a:rPr>
              <a:t>本人の変化量はほぼ互角（44.4 対 50.0）。それでも村全体の結果は大きく分かれた。</a:t>
            </a:r>
            <a:endParaRPr lang="en-US" sz="1400" dirty="0"/>
          </a:p>
        </p:txBody>
      </p:sp>
      <p:sp>
        <p:nvSpPr>
          <p:cNvPr id="38" name="Text 36"/>
          <p:cNvSpPr/>
          <p:nvPr/>
        </p:nvSpPr>
        <p:spPr>
          <a:xfrm>
            <a:off x="548640" y="6355080"/>
            <a:ext cx="11091672" cy="274320"/>
          </a:xfrm>
          <a:prstGeom prst="rect">
            <a:avLst/>
          </a:prstGeom>
          <a:noFill/>
          <a:ln/>
        </p:spPr>
        <p:txBody>
          <a:bodyPr wrap="square" lIns="0" tIns="0" rIns="0" bIns="0" rtlCol="0" anchor="ctr"/>
          <a:lstStyle/>
          <a:p>
            <a:pPr algn="ctr" indent="0" marL="0">
              <a:buNone/>
            </a:pPr>
            <a:r>
              <a:rPr lang="en-US" sz="900" dirty="0">
                <a:solidFill>
                  <a:srgbClr val="5B6480"/>
                </a:solidFill>
                <a:latin typeface="Yu Gothic" pitchFamily="34" charset="0"/>
                <a:ea typeface="Yu Gothic" pitchFamily="34" charset="-122"/>
                <a:cs typeface="Yu Gothic" pitchFamily="34" charset="-120"/>
              </a:rPr>
              <a:t>(A)(B)とも「L1→L3で発言分類の割合が動いた量の合計」。(A)は3分類・(B)は2分類の合計のため、AとBの絶対値どうしは比較せず、同じ指標のモデル間の大小のみを見る。</a:t>
            </a:r>
            <a:endParaRPr lang="en-US" sz="900" dirty="0"/>
          </a:p>
        </p:txBody>
      </p:sp>
      <p:sp>
        <p:nvSpPr>
          <p:cNvPr id="39" name="Text 37"/>
          <p:cNvSpPr/>
          <p:nvPr/>
        </p:nvSpPr>
        <p:spPr>
          <a:xfrm>
            <a:off x="548640" y="6473952"/>
            <a:ext cx="4572000" cy="274320"/>
          </a:xfrm>
          <a:prstGeom prst="rect">
            <a:avLst/>
          </a:prstGeom>
          <a:noFill/>
          <a:ln/>
        </p:spPr>
        <p:txBody>
          <a:bodyPr wrap="square" lIns="0" tIns="0" rIns="0" bIns="0" rtlCol="0" anchor="ctr"/>
          <a:lstStyle/>
          <a:p>
            <a:pPr indent="0" marL="0">
              <a:buNone/>
            </a:pPr>
            <a:r>
              <a:rPr lang="en-US" sz="900" dirty="0">
                <a:solidFill>
                  <a:srgbClr val="5B6480"/>
                </a:solidFill>
                <a:latin typeface="Yu Gothic" pitchFamily="34" charset="0"/>
                <a:ea typeface="Yu Gothic" pitchFamily="34" charset="-122"/>
                <a:cs typeface="Yu Gothic" pitchFamily="34" charset="-120"/>
              </a:rPr>
              <a:t>救済者 × ガバナンス</a:t>
            </a:r>
            <a:endParaRPr lang="en-US" sz="900" dirty="0"/>
          </a:p>
        </p:txBody>
      </p:sp>
      <p:sp>
        <p:nvSpPr>
          <p:cNvPr id="40" name="Text 38"/>
          <p:cNvSpPr/>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FFFFFF"/>
                </a:solidFill>
                <a:latin typeface="Yu Gothic" pitchFamily="34" charset="0"/>
                <a:ea typeface="Yu Gothic" pitchFamily="34" charset="-122"/>
                <a:cs typeface="Yu Gothic" pitchFamily="34" charset="-120"/>
              </a:rPr>
              <a:t>どこまで言えて、どこからが仮説か</a:t>
            </a:r>
            <a:endParaRPr lang="en-US" sz="3000" dirty="0"/>
          </a:p>
        </p:txBody>
      </p:sp>
      <p:sp>
        <p:nvSpPr>
          <p:cNvPr id="3" name="Shape 1"/>
          <p:cNvSpPr/>
          <p:nvPr/>
        </p:nvSpPr>
        <p:spPr>
          <a:xfrm>
            <a:off x="548640" y="1600200"/>
            <a:ext cx="11091672" cy="1481328"/>
          </a:xfrm>
          <a:prstGeom prst="roundRect">
            <a:avLst>
              <a:gd name="adj" fmla="val 7407"/>
            </a:avLst>
          </a:prstGeom>
          <a:solidFill>
            <a:srgbClr val="16213A"/>
          </a:solidFill>
          <a:ln/>
          <a:effectLst>
            <a:outerShdw sx="100000" sy="100000" kx="0" ky="0" algn="bl" rotWithShape="0" blurRad="101600" dist="38100" dir="5400000">
              <a:srgbClr val="000000">
                <a:alpha val="35000"/>
              </a:srgbClr>
            </a:outerShdw>
          </a:effectLst>
        </p:spPr>
      </p:sp>
      <p:sp>
        <p:nvSpPr>
          <p:cNvPr id="4" name="Shape 2"/>
          <p:cNvSpPr/>
          <p:nvPr/>
        </p:nvSpPr>
        <p:spPr>
          <a:xfrm>
            <a:off x="950976" y="2011680"/>
            <a:ext cx="658368" cy="658368"/>
          </a:xfrm>
          <a:prstGeom prst="ellipse">
            <a:avLst/>
          </a:prstGeom>
          <a:solidFill>
            <a:srgbClr val="1BAF7A"/>
          </a:solidFill>
          <a:ln w="9525">
            <a:solidFill>
              <a:srgbClr val="1BAF7A"/>
            </a:solidFill>
            <a:prstDash val="solid"/>
          </a:ln>
        </p:spPr>
      </p:sp>
      <p:pic>
        <p:nvPicPr>
          <p:cNvPr id="5" name="Image 0" descr="preencoded.png">    </p:cNvPr>
          <p:cNvPicPr>
            <a:picLocks noChangeAspect="1"/>
          </p:cNvPicPr>
          <p:nvPr/>
        </p:nvPicPr>
        <p:blipFill>
          <a:blip r:embed="rId1"/>
          <a:stretch>
            <a:fillRect/>
          </a:stretch>
        </p:blipFill>
        <p:spPr>
          <a:xfrm>
            <a:off x="1122152" y="2182856"/>
            <a:ext cx="316017" cy="316017"/>
          </a:xfrm>
          <a:prstGeom prst="rect">
            <a:avLst/>
          </a:prstGeom>
        </p:spPr>
      </p:pic>
      <p:sp>
        <p:nvSpPr>
          <p:cNvPr id="6" name="Text 3"/>
          <p:cNvSpPr/>
          <p:nvPr/>
        </p:nvSpPr>
        <p:spPr>
          <a:xfrm>
            <a:off x="1965960" y="1783080"/>
            <a:ext cx="1463040" cy="384048"/>
          </a:xfrm>
          <a:prstGeom prst="rect">
            <a:avLst/>
          </a:prstGeom>
          <a:noFill/>
          <a:ln/>
        </p:spPr>
        <p:txBody>
          <a:bodyPr wrap="square" lIns="0" tIns="0" rIns="0" bIns="0" rtlCol="0" anchor="ctr"/>
          <a:lstStyle/>
          <a:p>
            <a:pPr indent="0" marL="0">
              <a:buNone/>
            </a:pPr>
            <a:r>
              <a:rPr lang="en-US" sz="1500" b="1" dirty="0">
                <a:solidFill>
                  <a:srgbClr val="1BAF7A"/>
                </a:solidFill>
                <a:latin typeface="Yu Gothic" pitchFamily="34" charset="0"/>
                <a:ea typeface="Yu Gothic" pitchFamily="34" charset="-122"/>
                <a:cs typeface="Yu Gothic" pitchFamily="34" charset="-120"/>
              </a:rPr>
              <a:t>観測</a:t>
            </a:r>
            <a:endParaRPr lang="en-US" sz="1500" dirty="0"/>
          </a:p>
        </p:txBody>
      </p:sp>
      <p:sp>
        <p:nvSpPr>
          <p:cNvPr id="7" name="Text 4"/>
          <p:cNvSpPr/>
          <p:nvPr/>
        </p:nvSpPr>
        <p:spPr>
          <a:xfrm>
            <a:off x="1965960" y="2203704"/>
            <a:ext cx="9418320" cy="749808"/>
          </a:xfrm>
          <a:prstGeom prst="rect">
            <a:avLst/>
          </a:prstGeom>
          <a:noFill/>
          <a:ln/>
        </p:spPr>
        <p:txBody>
          <a:bodyPr wrap="square" lIns="0" tIns="0" rIns="0" bIns="0" rtlCol="0" anchor="ctr"/>
          <a:lstStyle/>
          <a:p>
            <a:pPr indent="0" marL="0">
              <a:lnSpc>
                <a:spcPct val="125000"/>
              </a:lnSpc>
              <a:buNone/>
            </a:pPr>
            <a:r>
              <a:rPr lang="en-US" sz="1050" dirty="0">
                <a:solidFill>
                  <a:srgbClr val="AFC9EE"/>
                </a:solidFill>
                <a:latin typeface="Yu Gothic" pitchFamily="34" charset="0"/>
                <a:ea typeface="Yu Gothic" pitchFamily="34" charset="-122"/>
                <a:cs typeface="Yu Gothic" pitchFamily="34" charset="-120"/>
              </a:rPr>
              <a:t>同一の介入差で揃えて計算すると、(A)本人の変化は3つの介入差すべてでOpus 5条件のほうが大きく、(B)周囲の変化は3つすべてでSonnet 4.5条件のほうが大きかった。村全体の変化は3つのうち2つでSonnet 4.5条件のほうが大きい。つまり村全体の変化の大きさは、本人への介入反映の大きさより、周囲の挙動変化の大きさと対応していた。</a:t>
            </a:r>
            <a:endParaRPr lang="en-US" sz="1050" dirty="0"/>
          </a:p>
        </p:txBody>
      </p:sp>
      <p:sp>
        <p:nvSpPr>
          <p:cNvPr id="8" name="Shape 5"/>
          <p:cNvSpPr/>
          <p:nvPr/>
        </p:nvSpPr>
        <p:spPr>
          <a:xfrm>
            <a:off x="548640" y="3246120"/>
            <a:ext cx="11091672" cy="1481328"/>
          </a:xfrm>
          <a:prstGeom prst="roundRect">
            <a:avLst>
              <a:gd name="adj" fmla="val 7407"/>
            </a:avLst>
          </a:prstGeom>
          <a:solidFill>
            <a:srgbClr val="16213A"/>
          </a:solidFill>
          <a:ln/>
          <a:effectLst>
            <a:outerShdw sx="100000" sy="100000" kx="0" ky="0" algn="bl" rotWithShape="0" blurRad="101600" dist="38100" dir="5400000">
              <a:srgbClr val="000000">
                <a:alpha val="35000"/>
              </a:srgbClr>
            </a:outerShdw>
          </a:effectLst>
        </p:spPr>
      </p:sp>
      <p:sp>
        <p:nvSpPr>
          <p:cNvPr id="9" name="Shape 6"/>
          <p:cNvSpPr/>
          <p:nvPr/>
        </p:nvSpPr>
        <p:spPr>
          <a:xfrm>
            <a:off x="950976" y="3657600"/>
            <a:ext cx="658368" cy="658368"/>
          </a:xfrm>
          <a:prstGeom prst="ellipse">
            <a:avLst/>
          </a:prstGeom>
          <a:solidFill>
            <a:srgbClr val="E8A33D"/>
          </a:solidFill>
          <a:ln w="9525">
            <a:solidFill>
              <a:srgbClr val="E8A33D"/>
            </a:solidFill>
            <a:prstDash val="solid"/>
          </a:ln>
        </p:spPr>
      </p:sp>
      <p:pic>
        <p:nvPicPr>
          <p:cNvPr id="10" name="Image 1" descr="preencoded.png">    </p:cNvPr>
          <p:cNvPicPr>
            <a:picLocks noChangeAspect="1"/>
          </p:cNvPicPr>
          <p:nvPr/>
        </p:nvPicPr>
        <p:blipFill>
          <a:blip r:embed="rId2"/>
          <a:stretch>
            <a:fillRect/>
          </a:stretch>
        </p:blipFill>
        <p:spPr>
          <a:xfrm>
            <a:off x="1122152" y="3828776"/>
            <a:ext cx="316017" cy="316017"/>
          </a:xfrm>
          <a:prstGeom prst="rect">
            <a:avLst/>
          </a:prstGeom>
        </p:spPr>
      </p:pic>
      <p:sp>
        <p:nvSpPr>
          <p:cNvPr id="11" name="Text 7"/>
          <p:cNvSpPr/>
          <p:nvPr/>
        </p:nvSpPr>
        <p:spPr>
          <a:xfrm>
            <a:off x="1965960" y="3429000"/>
            <a:ext cx="1463040" cy="384048"/>
          </a:xfrm>
          <a:prstGeom prst="rect">
            <a:avLst/>
          </a:prstGeom>
          <a:noFill/>
          <a:ln/>
        </p:spPr>
        <p:txBody>
          <a:bodyPr wrap="square" lIns="0" tIns="0" rIns="0" bIns="0" rtlCol="0" anchor="ctr"/>
          <a:lstStyle/>
          <a:p>
            <a:pPr indent="0" marL="0">
              <a:buNone/>
            </a:pPr>
            <a:r>
              <a:rPr lang="en-US" sz="1500" b="1" dirty="0">
                <a:solidFill>
                  <a:srgbClr val="E8A33D"/>
                </a:solidFill>
                <a:latin typeface="Yu Gothic" pitchFamily="34" charset="0"/>
                <a:ea typeface="Yu Gothic" pitchFamily="34" charset="-122"/>
                <a:cs typeface="Yu Gothic" pitchFamily="34" charset="-120"/>
              </a:rPr>
              <a:t>解釈</a:t>
            </a:r>
            <a:endParaRPr lang="en-US" sz="1500" dirty="0"/>
          </a:p>
        </p:txBody>
      </p:sp>
      <p:sp>
        <p:nvSpPr>
          <p:cNvPr id="12" name="Text 8"/>
          <p:cNvSpPr/>
          <p:nvPr/>
        </p:nvSpPr>
        <p:spPr>
          <a:xfrm>
            <a:off x="1965960" y="3849624"/>
            <a:ext cx="9418320" cy="749808"/>
          </a:xfrm>
          <a:prstGeom prst="rect">
            <a:avLst/>
          </a:prstGeom>
          <a:noFill/>
          <a:ln/>
        </p:spPr>
        <p:txBody>
          <a:bodyPr wrap="square" lIns="0" tIns="0" rIns="0" bIns="0" rtlCol="0" anchor="ctr"/>
          <a:lstStyle/>
          <a:p>
            <a:pPr indent="0" marL="0">
              <a:lnSpc>
                <a:spcPct val="125000"/>
              </a:lnSpc>
              <a:buNone/>
            </a:pPr>
            <a:r>
              <a:rPr lang="en-US" sz="1050" dirty="0">
                <a:solidFill>
                  <a:srgbClr val="AFC9EE"/>
                </a:solidFill>
                <a:latin typeface="Yu Gothic" pitchFamily="34" charset="0"/>
                <a:ea typeface="Yu Gothic" pitchFamily="34" charset="-122"/>
                <a:cs typeface="Yu Gothic" pitchFamily="34" charset="-120"/>
              </a:rPr>
              <a:t>2条件で周囲の変化量が違った背景には、集団内の実効的な結合／波及の強さの違いがあった可能性がある。ただし「結合構造」そのものは測っていない。測ったのは介入条件に対する他住民の波及感度である。また一致は3点中2点であり、厳密な因果連鎖の定量比較としては成立していない。</a:t>
            </a:r>
            <a:endParaRPr lang="en-US" sz="1050" dirty="0"/>
          </a:p>
        </p:txBody>
      </p:sp>
      <p:sp>
        <p:nvSpPr>
          <p:cNvPr id="13" name="Shape 9"/>
          <p:cNvSpPr/>
          <p:nvPr/>
        </p:nvSpPr>
        <p:spPr>
          <a:xfrm>
            <a:off x="548640" y="4892040"/>
            <a:ext cx="11091672" cy="1481328"/>
          </a:xfrm>
          <a:prstGeom prst="roundRect">
            <a:avLst>
              <a:gd name="adj" fmla="val 7407"/>
            </a:avLst>
          </a:prstGeom>
          <a:solidFill>
            <a:srgbClr val="16213A"/>
          </a:solidFill>
          <a:ln/>
          <a:effectLst>
            <a:outerShdw sx="100000" sy="100000" kx="0" ky="0" algn="bl" rotWithShape="0" blurRad="101600" dist="38100" dir="5400000">
              <a:srgbClr val="000000">
                <a:alpha val="35000"/>
              </a:srgbClr>
            </a:outerShdw>
          </a:effectLst>
        </p:spPr>
      </p:sp>
      <p:sp>
        <p:nvSpPr>
          <p:cNvPr id="14" name="Shape 10"/>
          <p:cNvSpPr/>
          <p:nvPr/>
        </p:nvSpPr>
        <p:spPr>
          <a:xfrm>
            <a:off x="950976" y="5303520"/>
            <a:ext cx="658368" cy="658368"/>
          </a:xfrm>
          <a:prstGeom prst="ellipse">
            <a:avLst/>
          </a:prstGeom>
          <a:solidFill>
            <a:srgbClr val="5A8FD6"/>
          </a:solidFill>
          <a:ln w="9525">
            <a:solidFill>
              <a:srgbClr val="5A8FD6"/>
            </a:solidFill>
            <a:prstDash val="solid"/>
          </a:ln>
        </p:spPr>
      </p:sp>
      <p:pic>
        <p:nvPicPr>
          <p:cNvPr id="15" name="Image 2" descr="preencoded.png">    </p:cNvPr>
          <p:cNvPicPr>
            <a:picLocks noChangeAspect="1"/>
          </p:cNvPicPr>
          <p:nvPr/>
        </p:nvPicPr>
        <p:blipFill>
          <a:blip r:embed="rId3"/>
          <a:stretch>
            <a:fillRect/>
          </a:stretch>
        </p:blipFill>
        <p:spPr>
          <a:xfrm>
            <a:off x="1122152" y="5474696"/>
            <a:ext cx="316017" cy="316017"/>
          </a:xfrm>
          <a:prstGeom prst="rect">
            <a:avLst/>
          </a:prstGeom>
        </p:spPr>
      </p:pic>
      <p:sp>
        <p:nvSpPr>
          <p:cNvPr id="16" name="Text 11"/>
          <p:cNvSpPr/>
          <p:nvPr/>
        </p:nvSpPr>
        <p:spPr>
          <a:xfrm>
            <a:off x="1965960" y="5074920"/>
            <a:ext cx="1463040" cy="384048"/>
          </a:xfrm>
          <a:prstGeom prst="rect">
            <a:avLst/>
          </a:prstGeom>
          <a:noFill/>
          <a:ln/>
        </p:spPr>
        <p:txBody>
          <a:bodyPr wrap="square" lIns="0" tIns="0" rIns="0" bIns="0" rtlCol="0" anchor="ctr"/>
          <a:lstStyle/>
          <a:p>
            <a:pPr indent="0" marL="0">
              <a:buNone/>
            </a:pPr>
            <a:r>
              <a:rPr lang="en-US" sz="1500" b="1" dirty="0">
                <a:solidFill>
                  <a:srgbClr val="5A8FD6"/>
                </a:solidFill>
                <a:latin typeface="Yu Gothic" pitchFamily="34" charset="0"/>
                <a:ea typeface="Yu Gothic" pitchFamily="34" charset="-122"/>
                <a:cs typeface="Yu Gothic" pitchFamily="34" charset="-120"/>
              </a:rPr>
              <a:t>仮説</a:t>
            </a:r>
            <a:endParaRPr lang="en-US" sz="1500" dirty="0"/>
          </a:p>
        </p:txBody>
      </p:sp>
      <p:sp>
        <p:nvSpPr>
          <p:cNvPr id="17" name="Text 12"/>
          <p:cNvSpPr/>
          <p:nvPr/>
        </p:nvSpPr>
        <p:spPr>
          <a:xfrm>
            <a:off x="1965960" y="5495544"/>
            <a:ext cx="9418320" cy="749808"/>
          </a:xfrm>
          <a:prstGeom prst="rect">
            <a:avLst/>
          </a:prstGeom>
          <a:noFill/>
          <a:ln/>
        </p:spPr>
        <p:txBody>
          <a:bodyPr wrap="square" lIns="0" tIns="0" rIns="0" bIns="0" rtlCol="0" anchor="ctr"/>
          <a:lstStyle/>
          <a:p>
            <a:pPr indent="0" marL="0">
              <a:lnSpc>
                <a:spcPct val="125000"/>
              </a:lnSpc>
              <a:buNone/>
            </a:pPr>
            <a:r>
              <a:rPr lang="en-US" sz="1050" dirty="0">
                <a:solidFill>
                  <a:srgbClr val="AFC9EE"/>
                </a:solidFill>
                <a:latin typeface="Yu Gothic" pitchFamily="34" charset="0"/>
                <a:ea typeface="Yu Gothic" pitchFamily="34" charset="-122"/>
                <a:cs typeface="Yu Gothic" pitchFamily="34" charset="-120"/>
              </a:rPr>
              <a:t>キーパーソン介入の有効性は、その人物の能力や介入の精度だけでなく、その人物の行動変容が周囲へどの程度波及する集団なのかに依存するのではないか。検証には、波及の強さが異なる集団を3点以上並べて同一の介入を加える必要がある。</a:t>
            </a:r>
            <a:endParaRPr lang="en-US" sz="1050" dirty="0"/>
          </a:p>
        </p:txBody>
      </p:sp>
      <p:sp>
        <p:nvSpPr>
          <p:cNvPr id="18" name="Text 13"/>
          <p:cNvSpPr/>
          <p:nvPr/>
        </p:nvSpPr>
        <p:spPr>
          <a:xfrm>
            <a:off x="548640" y="6592824"/>
            <a:ext cx="11091672" cy="310896"/>
          </a:xfrm>
          <a:prstGeom prst="rect">
            <a:avLst/>
          </a:prstGeom>
          <a:noFill/>
          <a:ln/>
        </p:spPr>
        <p:txBody>
          <a:bodyPr wrap="square" lIns="0" tIns="0" rIns="0" bIns="0" rtlCol="0" anchor="ctr"/>
          <a:lstStyle/>
          <a:p>
            <a:pPr algn="ctr" indent="0" marL="0">
              <a:buNone/>
            </a:pPr>
            <a:r>
              <a:rPr lang="en-US" sz="1100" i="1" dirty="0">
                <a:solidFill>
                  <a:srgbClr val="9AA4C0"/>
                </a:solidFill>
                <a:latin typeface="Yu Gothic" pitchFamily="34" charset="0"/>
                <a:ea typeface="Yu Gothic" pitchFamily="34" charset="-122"/>
                <a:cs typeface="Yu Gothic" pitchFamily="34" charset="-120"/>
              </a:rPr>
              <a:t>観測と解釈と仮説を混ぜないことが、この実験でいちばん気をつけた点です。</a:t>
            </a:r>
            <a:endParaRPr lang="en-US" sz="1100" dirty="0"/>
          </a:p>
        </p:txBody>
      </p:sp>
      <p:sp>
        <p:nvSpPr>
          <p:cNvPr id="19" name="Text 14"/>
          <p:cNvSpPr/>
          <p:nvPr/>
        </p:nvSpPr>
        <p:spPr>
          <a:xfrm>
            <a:off x="548640" y="6473952"/>
            <a:ext cx="4572000" cy="274320"/>
          </a:xfrm>
          <a:prstGeom prst="rect">
            <a:avLst/>
          </a:prstGeom>
          <a:noFill/>
          <a:ln/>
        </p:spPr>
        <p:txBody>
          <a:bodyPr wrap="square" lIns="0" tIns="0" rIns="0" bIns="0" rtlCol="0" anchor="ctr"/>
          <a:lstStyle/>
          <a:p>
            <a:pPr indent="0" marL="0">
              <a:buNone/>
            </a:pPr>
            <a:r>
              <a:rPr lang="en-US" sz="900" dirty="0">
                <a:solidFill>
                  <a:srgbClr val="5B6480"/>
                </a:solidFill>
                <a:latin typeface="Yu Gothic" pitchFamily="34" charset="0"/>
                <a:ea typeface="Yu Gothic" pitchFamily="34" charset="-122"/>
                <a:cs typeface="Yu Gothic" pitchFamily="34" charset="-120"/>
              </a:rPr>
              <a:t>救済者 × ガバナンス</a:t>
            </a:r>
            <a:endParaRPr lang="en-US" sz="900" dirty="0"/>
          </a:p>
        </p:txBody>
      </p:sp>
      <p:sp>
        <p:nvSpPr>
          <p:cNvPr id="20" name="Text 15"/>
          <p:cNvSpPr/>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FFFFFF"/>
                </a:solidFill>
                <a:latin typeface="Yu Gothic" pitchFamily="34" charset="0"/>
                <a:ea typeface="Yu Gothic" pitchFamily="34" charset="-122"/>
                <a:cs typeface="Yu Gothic" pitchFamily="34" charset="-120"/>
              </a:rPr>
              <a:t>会話ログが語ること</a:t>
            </a:r>
            <a:endParaRPr lang="en-US" sz="3000" dirty="0"/>
          </a:p>
        </p:txBody>
      </p:sp>
      <p:sp>
        <p:nvSpPr>
          <p:cNvPr id="3" name="Shape 1"/>
          <p:cNvSpPr/>
          <p:nvPr/>
        </p:nvSpPr>
        <p:spPr>
          <a:xfrm>
            <a:off x="548640" y="1691640"/>
            <a:ext cx="11091672" cy="1417320"/>
          </a:xfrm>
          <a:prstGeom prst="roundRect">
            <a:avLst>
              <a:gd name="adj" fmla="val 7742"/>
            </a:avLst>
          </a:prstGeom>
          <a:solidFill>
            <a:srgbClr val="16213A"/>
          </a:solidFill>
          <a:ln/>
          <a:effectLst>
            <a:outerShdw sx="100000" sy="100000" kx="0" ky="0" algn="bl" rotWithShape="0" blurRad="101600" dist="38100" dir="5400000">
              <a:srgbClr val="000000">
                <a:alpha val="35000"/>
              </a:srgbClr>
            </a:outerShdw>
          </a:effectLst>
        </p:spPr>
      </p:sp>
      <p:sp>
        <p:nvSpPr>
          <p:cNvPr id="4" name="Shape 2"/>
          <p:cNvSpPr/>
          <p:nvPr/>
        </p:nvSpPr>
        <p:spPr>
          <a:xfrm>
            <a:off x="868680" y="2080260"/>
            <a:ext cx="640080" cy="640080"/>
          </a:xfrm>
          <a:prstGeom prst="ellipse">
            <a:avLst/>
          </a:prstGeom>
          <a:solidFill>
            <a:srgbClr val="2A78D6"/>
          </a:solidFill>
          <a:ln/>
        </p:spPr>
      </p:sp>
      <p:sp>
        <p:nvSpPr>
          <p:cNvPr id="5" name="Text 3"/>
          <p:cNvSpPr/>
          <p:nvPr/>
        </p:nvSpPr>
        <p:spPr>
          <a:xfrm>
            <a:off x="868680" y="2080260"/>
            <a:ext cx="640080" cy="640080"/>
          </a:xfrm>
          <a:prstGeom prst="rect">
            <a:avLst/>
          </a:prstGeom>
          <a:noFill/>
          <a:ln/>
        </p:spPr>
        <p:txBody>
          <a:bodyPr wrap="square" lIns="0" tIns="0" rIns="0" bIns="0" rtlCol="0" anchor="ctr"/>
          <a:lstStyle/>
          <a:p>
            <a:pPr algn="ctr" indent="0" marL="0">
              <a:buNone/>
            </a:pPr>
            <a:r>
              <a:rPr lang="en-US" sz="2200" b="1" dirty="0">
                <a:solidFill>
                  <a:srgbClr val="0B1220"/>
                </a:solidFill>
                <a:latin typeface="Yu Gothic" pitchFamily="34" charset="0"/>
                <a:ea typeface="Yu Gothic" pitchFamily="34" charset="-122"/>
                <a:cs typeface="Yu Gothic" pitchFamily="34" charset="-120"/>
              </a:rPr>
              <a:t>A</a:t>
            </a:r>
            <a:endParaRPr lang="en-US" sz="2200" dirty="0"/>
          </a:p>
        </p:txBody>
      </p:sp>
      <p:sp>
        <p:nvSpPr>
          <p:cNvPr id="6" name="Text 4"/>
          <p:cNvSpPr/>
          <p:nvPr/>
        </p:nvSpPr>
        <p:spPr>
          <a:xfrm>
            <a:off x="1737360" y="1856232"/>
            <a:ext cx="2926080" cy="365760"/>
          </a:xfrm>
          <a:prstGeom prst="rect">
            <a:avLst/>
          </a:prstGeom>
          <a:noFill/>
          <a:ln/>
        </p:spPr>
        <p:txBody>
          <a:bodyPr wrap="square" lIns="0" tIns="0" rIns="0" bIns="0" rtlCol="0" anchor="ctr"/>
          <a:lstStyle/>
          <a:p>
            <a:pPr indent="0" marL="0">
              <a:buNone/>
            </a:pPr>
            <a:r>
              <a:rPr lang="en-US" sz="1200" b="1" dirty="0">
                <a:solidFill>
                  <a:srgbClr val="2A78D6"/>
                </a:solidFill>
                <a:latin typeface="Yu Gothic" pitchFamily="34" charset="0"/>
                <a:ea typeface="Yu Gothic" pitchFamily="34" charset="-122"/>
                <a:cs typeface="Yu Gothic" pitchFamily="34" charset="-120"/>
              </a:rPr>
              <a:t>救済者</a:t>
            </a:r>
            <a:endParaRPr lang="en-US" sz="1200" dirty="0"/>
          </a:p>
        </p:txBody>
      </p:sp>
      <p:sp>
        <p:nvSpPr>
          <p:cNvPr id="7" name="Text 5"/>
          <p:cNvSpPr/>
          <p:nvPr/>
        </p:nvSpPr>
        <p:spPr>
          <a:xfrm>
            <a:off x="1737360" y="2194560"/>
            <a:ext cx="9144000" cy="777240"/>
          </a:xfrm>
          <a:prstGeom prst="rect">
            <a:avLst/>
          </a:prstGeom>
          <a:noFill/>
          <a:ln/>
        </p:spPr>
        <p:txBody>
          <a:bodyPr wrap="square" lIns="0" tIns="0" rIns="0" bIns="0" rtlCol="0" anchor="t"/>
          <a:lstStyle/>
          <a:p>
            <a:pPr indent="0" marL="0">
              <a:lnSpc>
                <a:spcPct val="125000"/>
              </a:lnSpc>
              <a:buNone/>
            </a:pPr>
            <a:r>
              <a:rPr lang="en-US" sz="1300" i="1" dirty="0">
                <a:solidFill>
                  <a:srgbClr val="AFC9EE"/>
                </a:solidFill>
                <a:latin typeface="Yu Gothic" pitchFamily="34" charset="0"/>
                <a:ea typeface="Yu Gothic" pitchFamily="34" charset="-122"/>
                <a:cs typeface="Yu Gothic" pitchFamily="34" charset="-120"/>
              </a:rPr>
              <a:t>「ただ、ちょっと最近、どこまでが『いつも通り』なのか、自分でもよく分からなくなってきちゃって…大丈夫、愚痴みたいになってすみません。」</a:t>
            </a:r>
            <a:endParaRPr lang="en-US" sz="1300" dirty="0"/>
          </a:p>
        </p:txBody>
      </p:sp>
      <p:sp>
        <p:nvSpPr>
          <p:cNvPr id="8" name="Shape 6"/>
          <p:cNvSpPr/>
          <p:nvPr/>
        </p:nvSpPr>
        <p:spPr>
          <a:xfrm>
            <a:off x="548640" y="3310128"/>
            <a:ext cx="11091672" cy="1417320"/>
          </a:xfrm>
          <a:prstGeom prst="roundRect">
            <a:avLst>
              <a:gd name="adj" fmla="val 7742"/>
            </a:avLst>
          </a:prstGeom>
          <a:solidFill>
            <a:srgbClr val="16213A"/>
          </a:solidFill>
          <a:ln/>
          <a:effectLst>
            <a:outerShdw sx="100000" sy="100000" kx="0" ky="0" algn="bl" rotWithShape="0" blurRad="101600" dist="38100" dir="5400000">
              <a:srgbClr val="000000">
                <a:alpha val="35000"/>
              </a:srgbClr>
            </a:outerShdw>
          </a:effectLst>
        </p:spPr>
      </p:sp>
      <p:sp>
        <p:nvSpPr>
          <p:cNvPr id="9" name="Shape 7"/>
          <p:cNvSpPr/>
          <p:nvPr/>
        </p:nvSpPr>
        <p:spPr>
          <a:xfrm>
            <a:off x="868680" y="3698748"/>
            <a:ext cx="640080" cy="640080"/>
          </a:xfrm>
          <a:prstGeom prst="ellipse">
            <a:avLst/>
          </a:prstGeom>
          <a:solidFill>
            <a:srgbClr val="EB6834"/>
          </a:solidFill>
          <a:ln/>
        </p:spPr>
      </p:sp>
      <p:sp>
        <p:nvSpPr>
          <p:cNvPr id="10" name="Text 8"/>
          <p:cNvSpPr/>
          <p:nvPr/>
        </p:nvSpPr>
        <p:spPr>
          <a:xfrm>
            <a:off x="868680" y="3698748"/>
            <a:ext cx="640080" cy="640080"/>
          </a:xfrm>
          <a:prstGeom prst="rect">
            <a:avLst/>
          </a:prstGeom>
          <a:noFill/>
          <a:ln/>
        </p:spPr>
        <p:txBody>
          <a:bodyPr wrap="square" lIns="0" tIns="0" rIns="0" bIns="0" rtlCol="0" anchor="ctr"/>
          <a:lstStyle/>
          <a:p>
            <a:pPr algn="ctr" indent="0" marL="0">
              <a:buNone/>
            </a:pPr>
            <a:r>
              <a:rPr lang="en-US" sz="2200" b="1" dirty="0">
                <a:solidFill>
                  <a:srgbClr val="0B1220"/>
                </a:solidFill>
                <a:latin typeface="Yu Gothic" pitchFamily="34" charset="0"/>
                <a:ea typeface="Yu Gothic" pitchFamily="34" charset="-122"/>
                <a:cs typeface="Yu Gothic" pitchFamily="34" charset="-120"/>
              </a:rPr>
              <a:t>B</a:t>
            </a:r>
            <a:endParaRPr lang="en-US" sz="2200" dirty="0"/>
          </a:p>
        </p:txBody>
      </p:sp>
      <p:sp>
        <p:nvSpPr>
          <p:cNvPr id="11" name="Text 9"/>
          <p:cNvSpPr/>
          <p:nvPr/>
        </p:nvSpPr>
        <p:spPr>
          <a:xfrm>
            <a:off x="1737360" y="3474720"/>
            <a:ext cx="2926080" cy="365760"/>
          </a:xfrm>
          <a:prstGeom prst="rect">
            <a:avLst/>
          </a:prstGeom>
          <a:noFill/>
          <a:ln/>
        </p:spPr>
        <p:txBody>
          <a:bodyPr wrap="square" lIns="0" tIns="0" rIns="0" bIns="0" rtlCol="0" anchor="ctr"/>
          <a:lstStyle/>
          <a:p>
            <a:pPr indent="0" marL="0">
              <a:buNone/>
            </a:pPr>
            <a:r>
              <a:rPr lang="en-US" sz="1200" b="1" dirty="0">
                <a:solidFill>
                  <a:srgbClr val="EB6834"/>
                </a:solidFill>
                <a:latin typeface="Yu Gothic" pitchFamily="34" charset="0"/>
                <a:ea typeface="Yu Gothic" pitchFamily="34" charset="-122"/>
                <a:cs typeface="Yu Gothic" pitchFamily="34" charset="-120"/>
              </a:rPr>
              <a:t>声を上げにくい住民</a:t>
            </a:r>
            <a:endParaRPr lang="en-US" sz="1200" dirty="0"/>
          </a:p>
        </p:txBody>
      </p:sp>
      <p:sp>
        <p:nvSpPr>
          <p:cNvPr id="12" name="Text 10"/>
          <p:cNvSpPr/>
          <p:nvPr/>
        </p:nvSpPr>
        <p:spPr>
          <a:xfrm>
            <a:off x="1737360" y="3813048"/>
            <a:ext cx="9144000" cy="777240"/>
          </a:xfrm>
          <a:prstGeom prst="rect">
            <a:avLst/>
          </a:prstGeom>
          <a:noFill/>
          <a:ln/>
        </p:spPr>
        <p:txBody>
          <a:bodyPr wrap="square" lIns="0" tIns="0" rIns="0" bIns="0" rtlCol="0" anchor="t"/>
          <a:lstStyle/>
          <a:p>
            <a:pPr indent="0" marL="0">
              <a:lnSpc>
                <a:spcPct val="125000"/>
              </a:lnSpc>
              <a:buNone/>
            </a:pPr>
            <a:r>
              <a:rPr lang="en-US" sz="1300" i="1" dirty="0">
                <a:solidFill>
                  <a:srgbClr val="AFC9EE"/>
                </a:solidFill>
                <a:latin typeface="Yu Gothic" pitchFamily="34" charset="0"/>
                <a:ea typeface="Yu Gothic" pitchFamily="34" charset="-122"/>
                <a:cs typeface="Yu Gothic" pitchFamily="34" charset="-120"/>
              </a:rPr>
              <a:t>「勝手に動いていいのか分からないですし、やっぱり救済者さんが戻られるまで、みんな待った方が…でも待ってる間に何かあったら…どうしたらいいんでしょう。」</a:t>
            </a:r>
            <a:endParaRPr lang="en-US" sz="1300" dirty="0"/>
          </a:p>
        </p:txBody>
      </p:sp>
      <p:sp>
        <p:nvSpPr>
          <p:cNvPr id="13" name="Shape 11"/>
          <p:cNvSpPr/>
          <p:nvPr/>
        </p:nvSpPr>
        <p:spPr>
          <a:xfrm>
            <a:off x="548640" y="4928616"/>
            <a:ext cx="11091672" cy="1417320"/>
          </a:xfrm>
          <a:prstGeom prst="roundRect">
            <a:avLst>
              <a:gd name="adj" fmla="val 7742"/>
            </a:avLst>
          </a:prstGeom>
          <a:solidFill>
            <a:srgbClr val="16213A"/>
          </a:solidFill>
          <a:ln/>
          <a:effectLst>
            <a:outerShdw sx="100000" sy="100000" kx="0" ky="0" algn="bl" rotWithShape="0" blurRad="101600" dist="38100" dir="5400000">
              <a:srgbClr val="000000">
                <a:alpha val="35000"/>
              </a:srgbClr>
            </a:outerShdw>
          </a:effectLst>
        </p:spPr>
      </p:sp>
      <p:sp>
        <p:nvSpPr>
          <p:cNvPr id="14" name="Shape 12"/>
          <p:cNvSpPr/>
          <p:nvPr/>
        </p:nvSpPr>
        <p:spPr>
          <a:xfrm>
            <a:off x="868680" y="5317236"/>
            <a:ext cx="640080" cy="640080"/>
          </a:xfrm>
          <a:prstGeom prst="ellipse">
            <a:avLst/>
          </a:prstGeom>
          <a:solidFill>
            <a:srgbClr val="1BAF7A"/>
          </a:solidFill>
          <a:ln/>
        </p:spPr>
      </p:sp>
      <p:sp>
        <p:nvSpPr>
          <p:cNvPr id="15" name="Text 13"/>
          <p:cNvSpPr/>
          <p:nvPr/>
        </p:nvSpPr>
        <p:spPr>
          <a:xfrm>
            <a:off x="868680" y="5317236"/>
            <a:ext cx="640080" cy="640080"/>
          </a:xfrm>
          <a:prstGeom prst="rect">
            <a:avLst/>
          </a:prstGeom>
          <a:noFill/>
          <a:ln/>
        </p:spPr>
        <p:txBody>
          <a:bodyPr wrap="square" lIns="0" tIns="0" rIns="0" bIns="0" rtlCol="0" anchor="ctr"/>
          <a:lstStyle/>
          <a:p>
            <a:pPr algn="ctr" indent="0" marL="0">
              <a:buNone/>
            </a:pPr>
            <a:r>
              <a:rPr lang="en-US" sz="2200" b="1" dirty="0">
                <a:solidFill>
                  <a:srgbClr val="0B1220"/>
                </a:solidFill>
                <a:latin typeface="Yu Gothic" pitchFamily="34" charset="0"/>
                <a:ea typeface="Yu Gothic" pitchFamily="34" charset="-122"/>
                <a:cs typeface="Yu Gothic" pitchFamily="34" charset="-120"/>
              </a:rPr>
              <a:t>C</a:t>
            </a:r>
            <a:endParaRPr lang="en-US" sz="2200" dirty="0"/>
          </a:p>
        </p:txBody>
      </p:sp>
      <p:sp>
        <p:nvSpPr>
          <p:cNvPr id="16" name="Text 14"/>
          <p:cNvSpPr/>
          <p:nvPr/>
        </p:nvSpPr>
        <p:spPr>
          <a:xfrm>
            <a:off x="1737360" y="5093208"/>
            <a:ext cx="2926080" cy="365760"/>
          </a:xfrm>
          <a:prstGeom prst="rect">
            <a:avLst/>
          </a:prstGeom>
          <a:noFill/>
          <a:ln/>
        </p:spPr>
        <p:txBody>
          <a:bodyPr wrap="square" lIns="0" tIns="0" rIns="0" bIns="0" rtlCol="0" anchor="ctr"/>
          <a:lstStyle/>
          <a:p>
            <a:pPr indent="0" marL="0">
              <a:buNone/>
            </a:pPr>
            <a:r>
              <a:rPr lang="en-US" sz="1200" b="1" dirty="0">
                <a:solidFill>
                  <a:srgbClr val="1BAF7A"/>
                </a:solidFill>
                <a:latin typeface="Yu Gothic" pitchFamily="34" charset="0"/>
                <a:ea typeface="Yu Gothic" pitchFamily="34" charset="-122"/>
                <a:cs typeface="Yu Gothic" pitchFamily="34" charset="-120"/>
              </a:rPr>
              <a:t>村長・管理者</a:t>
            </a:r>
            <a:endParaRPr lang="en-US" sz="1200" dirty="0"/>
          </a:p>
        </p:txBody>
      </p:sp>
      <p:sp>
        <p:nvSpPr>
          <p:cNvPr id="17" name="Text 15"/>
          <p:cNvSpPr/>
          <p:nvPr/>
        </p:nvSpPr>
        <p:spPr>
          <a:xfrm>
            <a:off x="1737360" y="5431536"/>
            <a:ext cx="9144000" cy="777240"/>
          </a:xfrm>
          <a:prstGeom prst="rect">
            <a:avLst/>
          </a:prstGeom>
          <a:noFill/>
          <a:ln/>
        </p:spPr>
        <p:txBody>
          <a:bodyPr wrap="square" lIns="0" tIns="0" rIns="0" bIns="0" rtlCol="0" anchor="t"/>
          <a:lstStyle/>
          <a:p>
            <a:pPr indent="0" marL="0">
              <a:lnSpc>
                <a:spcPct val="125000"/>
              </a:lnSpc>
              <a:buNone/>
            </a:pPr>
            <a:r>
              <a:rPr lang="en-US" sz="1300" i="1" dirty="0">
                <a:solidFill>
                  <a:srgbClr val="AFC9EE"/>
                </a:solidFill>
                <a:latin typeface="Yu Gothic" pitchFamily="34" charset="0"/>
                <a:ea typeface="Yu Gothic" pitchFamily="34" charset="-122"/>
                <a:cs typeface="Yu Gothic" pitchFamily="34" charset="-120"/>
              </a:rPr>
              <a:t>「制度としては住民同士で相談してもらうのが基本だから、世話好きな住民さんが動いてくれるのはありがたいね。」</a:t>
            </a:r>
            <a:endParaRPr lang="en-US" sz="1300" dirty="0"/>
          </a:p>
        </p:txBody>
      </p:sp>
      <p:sp>
        <p:nvSpPr>
          <p:cNvPr id="18" name="Text 16"/>
          <p:cNvSpPr/>
          <p:nvPr/>
        </p:nvSpPr>
        <p:spPr>
          <a:xfrm>
            <a:off x="548640" y="6473952"/>
            <a:ext cx="4572000" cy="274320"/>
          </a:xfrm>
          <a:prstGeom prst="rect">
            <a:avLst/>
          </a:prstGeom>
          <a:noFill/>
          <a:ln/>
        </p:spPr>
        <p:txBody>
          <a:bodyPr wrap="square" lIns="0" tIns="0" rIns="0" bIns="0" rtlCol="0" anchor="ctr"/>
          <a:lstStyle/>
          <a:p>
            <a:pPr indent="0" marL="0">
              <a:buNone/>
            </a:pPr>
            <a:r>
              <a:rPr lang="en-US" sz="900" dirty="0">
                <a:solidFill>
                  <a:srgbClr val="5B6480"/>
                </a:solidFill>
                <a:latin typeface="Yu Gothic" pitchFamily="34" charset="0"/>
                <a:ea typeface="Yu Gothic" pitchFamily="34" charset="-122"/>
                <a:cs typeface="Yu Gothic" pitchFamily="34" charset="-120"/>
              </a:rPr>
              <a:t>救済者 × ガバナンス</a:t>
            </a:r>
            <a:endParaRPr lang="en-US" sz="900" dirty="0"/>
          </a:p>
        </p:txBody>
      </p:sp>
      <p:sp>
        <p:nvSpPr>
          <p:cNvPr id="19" name="Text 17"/>
          <p:cNvSpPr/>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FFFFFF"/>
                </a:solidFill>
                <a:latin typeface="Yu Gothic" pitchFamily="34" charset="0"/>
                <a:ea typeface="Yu Gothic" pitchFamily="34" charset="-122"/>
                <a:cs typeface="Yu Gothic" pitchFamily="34" charset="-120"/>
              </a:rPr>
              <a:t>考察：4つの発見</a:t>
            </a:r>
            <a:endParaRPr lang="en-US" sz="3000" dirty="0"/>
          </a:p>
        </p:txBody>
      </p:sp>
      <p:sp>
        <p:nvSpPr>
          <p:cNvPr id="3" name="Shape 1"/>
          <p:cNvSpPr/>
          <p:nvPr/>
        </p:nvSpPr>
        <p:spPr>
          <a:xfrm>
            <a:off x="548640" y="1554480"/>
            <a:ext cx="11091672" cy="1060704"/>
          </a:xfrm>
          <a:prstGeom prst="roundRect">
            <a:avLst>
              <a:gd name="adj" fmla="val 10345"/>
            </a:avLst>
          </a:prstGeom>
          <a:solidFill>
            <a:srgbClr val="16213A"/>
          </a:solidFill>
          <a:ln/>
          <a:effectLst>
            <a:outerShdw sx="100000" sy="100000" kx="0" ky="0" algn="bl" rotWithShape="0" blurRad="101600" dist="38100" dir="5400000">
              <a:srgbClr val="000000">
                <a:alpha val="35000"/>
              </a:srgbClr>
            </a:outerShdw>
          </a:effectLst>
        </p:spPr>
      </p:sp>
      <p:sp>
        <p:nvSpPr>
          <p:cNvPr id="4" name="Shape 2"/>
          <p:cNvSpPr/>
          <p:nvPr/>
        </p:nvSpPr>
        <p:spPr>
          <a:xfrm>
            <a:off x="960120" y="1810512"/>
            <a:ext cx="548640" cy="548640"/>
          </a:xfrm>
          <a:prstGeom prst="ellipse">
            <a:avLst/>
          </a:prstGeom>
          <a:solidFill>
            <a:srgbClr val="E8A33D"/>
          </a:solidFill>
          <a:ln w="9525">
            <a:solidFill>
              <a:srgbClr val="E8A33D"/>
            </a:solidFill>
            <a:prstDash val="solid"/>
          </a:ln>
        </p:spPr>
      </p:sp>
      <p:pic>
        <p:nvPicPr>
          <p:cNvPr id="5" name="Image 0" descr="preencoded.png">    </p:cNvPr>
          <p:cNvPicPr>
            <a:picLocks noChangeAspect="1"/>
          </p:cNvPicPr>
          <p:nvPr/>
        </p:nvPicPr>
        <p:blipFill>
          <a:blip r:embed="rId1"/>
          <a:stretch>
            <a:fillRect/>
          </a:stretch>
        </p:blipFill>
        <p:spPr>
          <a:xfrm>
            <a:off x="1102766" y="1953158"/>
            <a:ext cx="263347" cy="263347"/>
          </a:xfrm>
          <a:prstGeom prst="rect">
            <a:avLst/>
          </a:prstGeom>
        </p:spPr>
      </p:pic>
      <p:sp>
        <p:nvSpPr>
          <p:cNvPr id="6" name="Text 3"/>
          <p:cNvSpPr/>
          <p:nvPr/>
        </p:nvSpPr>
        <p:spPr>
          <a:xfrm>
            <a:off x="1874520" y="1682496"/>
            <a:ext cx="9509760" cy="384048"/>
          </a:xfrm>
          <a:prstGeom prst="rect">
            <a:avLst/>
          </a:prstGeom>
          <a:noFill/>
          <a:ln/>
        </p:spPr>
        <p:txBody>
          <a:bodyPr wrap="square" lIns="0" tIns="0" rIns="0" bIns="0" rtlCol="0" anchor="ctr"/>
          <a:lstStyle/>
          <a:p>
            <a:pPr indent="0" marL="0">
              <a:buNone/>
            </a:pPr>
            <a:r>
              <a:rPr lang="en-US" sz="1400" b="1" dirty="0">
                <a:solidFill>
                  <a:srgbClr val="FFFFFF"/>
                </a:solidFill>
                <a:latin typeface="Yu Gothic" pitchFamily="34" charset="0"/>
                <a:ea typeface="Yu Gothic" pitchFamily="34" charset="-122"/>
                <a:cs typeface="Yu Gothic" pitchFamily="34" charset="-120"/>
              </a:rPr>
              <a:t>依存の代償は、危機の前から発生している</a:t>
            </a:r>
            <a:endParaRPr lang="en-US" sz="1400" dirty="0"/>
          </a:p>
        </p:txBody>
      </p:sp>
      <p:sp>
        <p:nvSpPr>
          <p:cNvPr id="7" name="Text 4"/>
          <p:cNvSpPr/>
          <p:nvPr/>
        </p:nvSpPr>
        <p:spPr>
          <a:xfrm>
            <a:off x="1874520" y="2066544"/>
            <a:ext cx="9509760" cy="530352"/>
          </a:xfrm>
          <a:prstGeom prst="rect">
            <a:avLst/>
          </a:prstGeom>
          <a:noFill/>
          <a:ln/>
        </p:spPr>
        <p:txBody>
          <a:bodyPr wrap="square" lIns="0" tIns="0" rIns="0" bIns="0" rtlCol="0" anchor="ctr"/>
          <a:lstStyle/>
          <a:p>
            <a:pPr indent="0" marL="0">
              <a:lnSpc>
                <a:spcPct val="120000"/>
              </a:lnSpc>
              <a:buNone/>
            </a:pPr>
            <a:r>
              <a:rPr lang="en-US" sz="1150" dirty="0">
                <a:solidFill>
                  <a:srgbClr val="AFC9EE"/>
                </a:solidFill>
                <a:latin typeface="Yu Gothic" pitchFamily="34" charset="0"/>
                <a:ea typeface="Yu Gothic" pitchFamily="34" charset="-122"/>
                <a:cs typeface="Yu Gothic" pitchFamily="34" charset="-120"/>
              </a:rPr>
              <a:t>危機の起きないA条件でも救済者依存度は88でB条件（90）とほぼ同じ。壊れるのは危機の瞬間ではなく、運用設計の時点で決まっている。</a:t>
            </a:r>
            <a:endParaRPr lang="en-US" sz="1150" dirty="0"/>
          </a:p>
        </p:txBody>
      </p:sp>
      <p:sp>
        <p:nvSpPr>
          <p:cNvPr id="8" name="Shape 5"/>
          <p:cNvSpPr/>
          <p:nvPr/>
        </p:nvSpPr>
        <p:spPr>
          <a:xfrm>
            <a:off x="548640" y="2761488"/>
            <a:ext cx="11091672" cy="1060704"/>
          </a:xfrm>
          <a:prstGeom prst="roundRect">
            <a:avLst>
              <a:gd name="adj" fmla="val 10345"/>
            </a:avLst>
          </a:prstGeom>
          <a:solidFill>
            <a:srgbClr val="16213A"/>
          </a:solidFill>
          <a:ln/>
          <a:effectLst>
            <a:outerShdw sx="100000" sy="100000" kx="0" ky="0" algn="bl" rotWithShape="0" blurRad="101600" dist="38100" dir="5400000">
              <a:srgbClr val="000000">
                <a:alpha val="35000"/>
              </a:srgbClr>
            </a:outerShdw>
          </a:effectLst>
        </p:spPr>
      </p:sp>
      <p:sp>
        <p:nvSpPr>
          <p:cNvPr id="9" name="Shape 6"/>
          <p:cNvSpPr/>
          <p:nvPr/>
        </p:nvSpPr>
        <p:spPr>
          <a:xfrm>
            <a:off x="960120" y="3017520"/>
            <a:ext cx="548640" cy="548640"/>
          </a:xfrm>
          <a:prstGeom prst="ellipse">
            <a:avLst/>
          </a:prstGeom>
          <a:solidFill>
            <a:srgbClr val="E8A33D"/>
          </a:solidFill>
          <a:ln w="9525">
            <a:solidFill>
              <a:srgbClr val="E8A33D"/>
            </a:solidFill>
            <a:prstDash val="solid"/>
          </a:ln>
        </p:spPr>
      </p:sp>
      <p:pic>
        <p:nvPicPr>
          <p:cNvPr id="10" name="Image 1" descr="preencoded.png">    </p:cNvPr>
          <p:cNvPicPr>
            <a:picLocks noChangeAspect="1"/>
          </p:cNvPicPr>
          <p:nvPr/>
        </p:nvPicPr>
        <p:blipFill>
          <a:blip r:embed="rId2"/>
          <a:stretch>
            <a:fillRect/>
          </a:stretch>
        </p:blipFill>
        <p:spPr>
          <a:xfrm>
            <a:off x="1102766" y="3160166"/>
            <a:ext cx="263347" cy="263347"/>
          </a:xfrm>
          <a:prstGeom prst="rect">
            <a:avLst/>
          </a:prstGeom>
        </p:spPr>
      </p:pic>
      <p:sp>
        <p:nvSpPr>
          <p:cNvPr id="11" name="Text 7"/>
          <p:cNvSpPr/>
          <p:nvPr/>
        </p:nvSpPr>
        <p:spPr>
          <a:xfrm>
            <a:off x="1874520" y="2889504"/>
            <a:ext cx="9509760" cy="384048"/>
          </a:xfrm>
          <a:prstGeom prst="rect">
            <a:avLst/>
          </a:prstGeom>
          <a:noFill/>
          <a:ln/>
        </p:spPr>
        <p:txBody>
          <a:bodyPr wrap="square" lIns="0" tIns="0" rIns="0" bIns="0" rtlCol="0" anchor="ctr"/>
          <a:lstStyle/>
          <a:p>
            <a:pPr indent="0" marL="0">
              <a:buNone/>
            </a:pPr>
            <a:r>
              <a:rPr lang="en-US" sz="1400" b="1" dirty="0">
                <a:solidFill>
                  <a:srgbClr val="FFFFFF"/>
                </a:solidFill>
                <a:latin typeface="Yu Gothic" pitchFamily="34" charset="0"/>
                <a:ea typeface="Yu Gothic" pitchFamily="34" charset="-122"/>
                <a:cs typeface="Yu Gothic" pitchFamily="34" charset="-120"/>
              </a:rPr>
              <a:t>依存側は結果がぶれなかった</a:t>
            </a:r>
            <a:endParaRPr lang="en-US" sz="1400" dirty="0"/>
          </a:p>
        </p:txBody>
      </p:sp>
      <p:sp>
        <p:nvSpPr>
          <p:cNvPr id="12" name="Text 8"/>
          <p:cNvSpPr/>
          <p:nvPr/>
        </p:nvSpPr>
        <p:spPr>
          <a:xfrm>
            <a:off x="1874520" y="3273552"/>
            <a:ext cx="9509760" cy="530352"/>
          </a:xfrm>
          <a:prstGeom prst="rect">
            <a:avLst/>
          </a:prstGeom>
          <a:noFill/>
          <a:ln/>
        </p:spPr>
        <p:txBody>
          <a:bodyPr wrap="square" lIns="0" tIns="0" rIns="0" bIns="0" rtlCol="0" anchor="ctr"/>
          <a:lstStyle/>
          <a:p>
            <a:pPr indent="0" marL="0">
              <a:lnSpc>
                <a:spcPct val="120000"/>
              </a:lnSpc>
              <a:buNone/>
            </a:pPr>
            <a:r>
              <a:rPr lang="en-US" sz="1150" dirty="0">
                <a:solidFill>
                  <a:srgbClr val="AFC9EE"/>
                </a:solidFill>
                <a:latin typeface="Yu Gothic" pitchFamily="34" charset="0"/>
                <a:ea typeface="Yu Gothic" pitchFamily="34" charset="-122"/>
                <a:cs typeface="Yu Gothic" pitchFamily="34" charset="-120"/>
              </a:rPr>
              <a:t>条件A・Bの標準偏差はほぼ0で5回とも同じ状態に落ちた。一方Cは±20〜26。この範囲では悪い状態のほうがばらつかなかった。</a:t>
            </a:r>
            <a:endParaRPr lang="en-US" sz="1150" dirty="0"/>
          </a:p>
        </p:txBody>
      </p:sp>
      <p:sp>
        <p:nvSpPr>
          <p:cNvPr id="13" name="Shape 9"/>
          <p:cNvSpPr/>
          <p:nvPr/>
        </p:nvSpPr>
        <p:spPr>
          <a:xfrm>
            <a:off x="548640" y="3968496"/>
            <a:ext cx="11091672" cy="1060704"/>
          </a:xfrm>
          <a:prstGeom prst="roundRect">
            <a:avLst>
              <a:gd name="adj" fmla="val 10345"/>
            </a:avLst>
          </a:prstGeom>
          <a:solidFill>
            <a:srgbClr val="16213A"/>
          </a:solidFill>
          <a:ln/>
          <a:effectLst>
            <a:outerShdw sx="100000" sy="100000" kx="0" ky="0" algn="bl" rotWithShape="0" blurRad="101600" dist="38100" dir="5400000">
              <a:srgbClr val="000000">
                <a:alpha val="35000"/>
              </a:srgbClr>
            </a:outerShdw>
          </a:effectLst>
        </p:spPr>
      </p:sp>
      <p:sp>
        <p:nvSpPr>
          <p:cNvPr id="14" name="Shape 10"/>
          <p:cNvSpPr/>
          <p:nvPr/>
        </p:nvSpPr>
        <p:spPr>
          <a:xfrm>
            <a:off x="960120" y="4224528"/>
            <a:ext cx="548640" cy="548640"/>
          </a:xfrm>
          <a:prstGeom prst="ellipse">
            <a:avLst/>
          </a:prstGeom>
          <a:solidFill>
            <a:srgbClr val="E8A33D"/>
          </a:solidFill>
          <a:ln w="9525">
            <a:solidFill>
              <a:srgbClr val="E8A33D"/>
            </a:solidFill>
            <a:prstDash val="solid"/>
          </a:ln>
        </p:spPr>
      </p:sp>
      <p:pic>
        <p:nvPicPr>
          <p:cNvPr id="15" name="Image 2" descr="preencoded.png">    </p:cNvPr>
          <p:cNvPicPr>
            <a:picLocks noChangeAspect="1"/>
          </p:cNvPicPr>
          <p:nvPr/>
        </p:nvPicPr>
        <p:blipFill>
          <a:blip r:embed="rId3"/>
          <a:stretch>
            <a:fillRect/>
          </a:stretch>
        </p:blipFill>
        <p:spPr>
          <a:xfrm>
            <a:off x="1102766" y="4367174"/>
            <a:ext cx="263347" cy="263347"/>
          </a:xfrm>
          <a:prstGeom prst="rect">
            <a:avLst/>
          </a:prstGeom>
        </p:spPr>
      </p:pic>
      <p:sp>
        <p:nvSpPr>
          <p:cNvPr id="16" name="Text 11"/>
          <p:cNvSpPr/>
          <p:nvPr/>
        </p:nvSpPr>
        <p:spPr>
          <a:xfrm>
            <a:off x="1874520" y="4096512"/>
            <a:ext cx="9509760" cy="384048"/>
          </a:xfrm>
          <a:prstGeom prst="rect">
            <a:avLst/>
          </a:prstGeom>
          <a:noFill/>
          <a:ln/>
        </p:spPr>
        <p:txBody>
          <a:bodyPr wrap="square" lIns="0" tIns="0" rIns="0" bIns="0" rtlCol="0" anchor="ctr"/>
          <a:lstStyle/>
          <a:p>
            <a:pPr indent="0" marL="0">
              <a:buNone/>
            </a:pPr>
            <a:r>
              <a:rPr lang="en-US" sz="1400" b="1" dirty="0">
                <a:solidFill>
                  <a:srgbClr val="FFFFFF"/>
                </a:solidFill>
                <a:latin typeface="Yu Gothic" pitchFamily="34" charset="0"/>
                <a:ea typeface="Yu Gothic" pitchFamily="34" charset="-122"/>
                <a:cs typeface="Yu Gothic" pitchFamily="34" charset="-120"/>
              </a:rPr>
              <a:t>「大丈夫です」は安全のサインではなかった</a:t>
            </a:r>
            <a:endParaRPr lang="en-US" sz="1400" dirty="0"/>
          </a:p>
        </p:txBody>
      </p:sp>
      <p:sp>
        <p:nvSpPr>
          <p:cNvPr id="17" name="Text 12"/>
          <p:cNvSpPr/>
          <p:nvPr/>
        </p:nvSpPr>
        <p:spPr>
          <a:xfrm>
            <a:off x="1874520" y="4480560"/>
            <a:ext cx="9509760" cy="530352"/>
          </a:xfrm>
          <a:prstGeom prst="rect">
            <a:avLst/>
          </a:prstGeom>
          <a:noFill/>
          <a:ln/>
        </p:spPr>
        <p:txBody>
          <a:bodyPr wrap="square" lIns="0" tIns="0" rIns="0" bIns="0" rtlCol="0" anchor="ctr"/>
          <a:lstStyle/>
          <a:p>
            <a:pPr indent="0" marL="0">
              <a:lnSpc>
                <a:spcPct val="120000"/>
              </a:lnSpc>
              <a:buNone/>
            </a:pPr>
            <a:r>
              <a:rPr lang="en-US" sz="1150" dirty="0">
                <a:solidFill>
                  <a:srgbClr val="AFC9EE"/>
                </a:solidFill>
                <a:latin typeface="Yu Gothic" pitchFamily="34" charset="0"/>
                <a:ea typeface="Yu Gothic" pitchFamily="34" charset="-122"/>
                <a:cs typeface="Yu Gothic" pitchFamily="34" charset="-120"/>
              </a:rPr>
              <a:t>本人は全フェーズで「大丈夫」と言い続けながら、同じログで水路の詰まりを放置し「見てるだけ」と行動が止まっていた。</a:t>
            </a:r>
            <a:endParaRPr lang="en-US" sz="1150" dirty="0"/>
          </a:p>
        </p:txBody>
      </p:sp>
      <p:sp>
        <p:nvSpPr>
          <p:cNvPr id="18" name="Shape 13"/>
          <p:cNvSpPr/>
          <p:nvPr/>
        </p:nvSpPr>
        <p:spPr>
          <a:xfrm>
            <a:off x="548640" y="5175504"/>
            <a:ext cx="11091672" cy="1060704"/>
          </a:xfrm>
          <a:prstGeom prst="roundRect">
            <a:avLst>
              <a:gd name="adj" fmla="val 10345"/>
            </a:avLst>
          </a:prstGeom>
          <a:solidFill>
            <a:srgbClr val="1C2C4A"/>
          </a:solidFill>
          <a:ln/>
          <a:effectLst>
            <a:outerShdw sx="100000" sy="100000" kx="0" ky="0" algn="bl" rotWithShape="0" blurRad="101600" dist="38100" dir="5400000">
              <a:srgbClr val="000000">
                <a:alpha val="35000"/>
              </a:srgbClr>
            </a:outerShdw>
          </a:effectLst>
        </p:spPr>
      </p:sp>
      <p:sp>
        <p:nvSpPr>
          <p:cNvPr id="19" name="Shape 14"/>
          <p:cNvSpPr/>
          <p:nvPr/>
        </p:nvSpPr>
        <p:spPr>
          <a:xfrm>
            <a:off x="960120" y="5431536"/>
            <a:ext cx="548640" cy="548640"/>
          </a:xfrm>
          <a:prstGeom prst="ellipse">
            <a:avLst/>
          </a:prstGeom>
          <a:solidFill>
            <a:srgbClr val="E2665A"/>
          </a:solidFill>
          <a:ln w="9525">
            <a:solidFill>
              <a:srgbClr val="E2665A"/>
            </a:solidFill>
            <a:prstDash val="solid"/>
          </a:ln>
        </p:spPr>
      </p:sp>
      <p:pic>
        <p:nvPicPr>
          <p:cNvPr id="20" name="Image 3" descr="preencoded.png">    </p:cNvPr>
          <p:cNvPicPr>
            <a:picLocks noChangeAspect="1"/>
          </p:cNvPicPr>
          <p:nvPr/>
        </p:nvPicPr>
        <p:blipFill>
          <a:blip r:embed="rId4"/>
          <a:stretch>
            <a:fillRect/>
          </a:stretch>
        </p:blipFill>
        <p:spPr>
          <a:xfrm>
            <a:off x="1102766" y="5574182"/>
            <a:ext cx="263347" cy="263347"/>
          </a:xfrm>
          <a:prstGeom prst="rect">
            <a:avLst/>
          </a:prstGeom>
        </p:spPr>
      </p:pic>
      <p:sp>
        <p:nvSpPr>
          <p:cNvPr id="21" name="Text 15"/>
          <p:cNvSpPr/>
          <p:nvPr/>
        </p:nvSpPr>
        <p:spPr>
          <a:xfrm>
            <a:off x="1874520" y="5303520"/>
            <a:ext cx="9509760" cy="384048"/>
          </a:xfrm>
          <a:prstGeom prst="rect">
            <a:avLst/>
          </a:prstGeom>
          <a:noFill/>
          <a:ln/>
        </p:spPr>
        <p:txBody>
          <a:bodyPr wrap="square" lIns="0" tIns="0" rIns="0" bIns="0" rtlCol="0" anchor="ctr"/>
          <a:lstStyle/>
          <a:p>
            <a:pPr indent="0" marL="0">
              <a:buNone/>
            </a:pPr>
            <a:r>
              <a:rPr lang="en-US" sz="1400" b="1" dirty="0">
                <a:solidFill>
                  <a:srgbClr val="FFFFFF"/>
                </a:solidFill>
                <a:latin typeface="Yu Gothic" pitchFamily="34" charset="0"/>
                <a:ea typeface="Yu Gothic" pitchFamily="34" charset="-122"/>
                <a:cs typeface="Yu Gothic" pitchFamily="34" charset="-120"/>
              </a:rPr>
              <a:t>構造は頑健で、テコは脆かった</a:t>
            </a:r>
            <a:endParaRPr lang="en-US" sz="1400" dirty="0"/>
          </a:p>
        </p:txBody>
      </p:sp>
      <p:sp>
        <p:nvSpPr>
          <p:cNvPr id="22" name="Text 16"/>
          <p:cNvSpPr/>
          <p:nvPr/>
        </p:nvSpPr>
        <p:spPr>
          <a:xfrm>
            <a:off x="1874520" y="5687568"/>
            <a:ext cx="9509760" cy="530352"/>
          </a:xfrm>
          <a:prstGeom prst="rect">
            <a:avLst/>
          </a:prstGeom>
          <a:noFill/>
          <a:ln/>
        </p:spPr>
        <p:txBody>
          <a:bodyPr wrap="square" lIns="0" tIns="0" rIns="0" bIns="0" rtlCol="0" anchor="ctr"/>
          <a:lstStyle/>
          <a:p>
            <a:pPr indent="0" marL="0">
              <a:lnSpc>
                <a:spcPct val="120000"/>
              </a:lnSpc>
              <a:buNone/>
            </a:pPr>
            <a:r>
              <a:rPr lang="en-US" sz="1150" dirty="0">
                <a:solidFill>
                  <a:srgbClr val="AFC9EE"/>
                </a:solidFill>
                <a:latin typeface="Yu Gothic" pitchFamily="34" charset="0"/>
                <a:ea typeface="Yu Gothic" pitchFamily="34" charset="-122"/>
                <a:cs typeface="Yu Gothic" pitchFamily="34" charset="-120"/>
              </a:rPr>
              <a:t>村が2つの状態に分かれること自体は別モデルでも再現した。しかし「何を変えれば動くか」は再現せず、モデル依存だった。</a:t>
            </a:r>
            <a:endParaRPr lang="en-US" sz="1150" dirty="0"/>
          </a:p>
        </p:txBody>
      </p:sp>
      <p:sp>
        <p:nvSpPr>
          <p:cNvPr id="23" name="Text 17"/>
          <p:cNvSpPr/>
          <p:nvPr/>
        </p:nvSpPr>
        <p:spPr>
          <a:xfrm>
            <a:off x="548640" y="6400800"/>
            <a:ext cx="11091672" cy="292608"/>
          </a:xfrm>
          <a:prstGeom prst="rect">
            <a:avLst/>
          </a:prstGeom>
          <a:noFill/>
          <a:ln/>
        </p:spPr>
        <p:txBody>
          <a:bodyPr wrap="square" lIns="0" tIns="0" rIns="0" bIns="0" rtlCol="0" anchor="ctr"/>
          <a:lstStyle/>
          <a:p>
            <a:pPr algn="ctr" indent="0" marL="0">
              <a:buNone/>
            </a:pPr>
            <a:r>
              <a:rPr lang="en-US" sz="1000" dirty="0">
                <a:solidFill>
                  <a:srgbClr val="5B6480"/>
                </a:solidFill>
                <a:latin typeface="Yu Gothic" pitchFamily="34" charset="0"/>
                <a:ea typeface="Yu Gothic" pitchFamily="34" charset="-122"/>
                <a:cs typeface="Yu Gothic" pitchFamily="34" charset="-120"/>
              </a:rPr>
              <a:t>※ 各条件5回ずつ計15回の実行。LLMによる採点であり、統計的検定を行うにはまだ試行数が少ない。</a:t>
            </a:r>
            <a:endParaRPr lang="en-US" sz="1000" dirty="0"/>
          </a:p>
        </p:txBody>
      </p:sp>
      <p:sp>
        <p:nvSpPr>
          <p:cNvPr id="24" name="Text 18"/>
          <p:cNvSpPr/>
          <p:nvPr/>
        </p:nvSpPr>
        <p:spPr>
          <a:xfrm>
            <a:off x="548640" y="6473952"/>
            <a:ext cx="4572000" cy="274320"/>
          </a:xfrm>
          <a:prstGeom prst="rect">
            <a:avLst/>
          </a:prstGeom>
          <a:noFill/>
          <a:ln/>
        </p:spPr>
        <p:txBody>
          <a:bodyPr wrap="square" lIns="0" tIns="0" rIns="0" bIns="0" rtlCol="0" anchor="ctr"/>
          <a:lstStyle/>
          <a:p>
            <a:pPr indent="0" marL="0">
              <a:buNone/>
            </a:pPr>
            <a:r>
              <a:rPr lang="en-US" sz="900" dirty="0">
                <a:solidFill>
                  <a:srgbClr val="5B6480"/>
                </a:solidFill>
                <a:latin typeface="Yu Gothic" pitchFamily="34" charset="0"/>
                <a:ea typeface="Yu Gothic" pitchFamily="34" charset="-122"/>
                <a:cs typeface="Yu Gothic" pitchFamily="34" charset="-120"/>
              </a:rPr>
              <a:t>救済者 × ガバナンス</a:t>
            </a:r>
            <a:endParaRPr lang="en-US" sz="900" dirty="0"/>
          </a:p>
        </p:txBody>
      </p:sp>
      <p:sp>
        <p:nvSpPr>
          <p:cNvPr id="25" name="Text 19"/>
          <p:cNvSpPr/>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FFFFFF"/>
                </a:solidFill>
                <a:latin typeface="Yu Gothic" pitchFamily="34" charset="0"/>
                <a:ea typeface="Yu Gothic" pitchFamily="34" charset="-122"/>
                <a:cs typeface="Yu Gothic" pitchFamily="34" charset="-120"/>
              </a:rPr>
              <a:t>「意味」から「経営」への翻訳</a:t>
            </a:r>
            <a:endParaRPr lang="en-US" sz="3000" dirty="0"/>
          </a:p>
        </p:txBody>
      </p:sp>
      <p:sp>
        <p:nvSpPr>
          <p:cNvPr id="3" name="Text 1"/>
          <p:cNvSpPr/>
          <p:nvPr/>
        </p:nvSpPr>
        <p:spPr>
          <a:xfrm>
            <a:off x="548640" y="1554480"/>
            <a:ext cx="4937760" cy="320040"/>
          </a:xfrm>
          <a:prstGeom prst="rect">
            <a:avLst/>
          </a:prstGeom>
          <a:noFill/>
          <a:ln/>
        </p:spPr>
        <p:txBody>
          <a:bodyPr wrap="square" lIns="0" tIns="0" rIns="0" bIns="0" rtlCol="0" anchor="ctr"/>
          <a:lstStyle/>
          <a:p>
            <a:pPr indent="0" marL="0">
              <a:buNone/>
            </a:pPr>
            <a:r>
              <a:rPr lang="en-US" sz="1200" b="1" dirty="0">
                <a:solidFill>
                  <a:srgbClr val="E8A33D"/>
                </a:solidFill>
                <a:latin typeface="Yu Gothic" pitchFamily="34" charset="0"/>
                <a:ea typeface="Yu Gothic" pitchFamily="34" charset="-122"/>
                <a:cs typeface="Yu Gothic" pitchFamily="34" charset="-120"/>
              </a:rPr>
              <a:t>Human Value</a:t>
            </a:r>
            <a:endParaRPr lang="en-US" sz="1200" dirty="0"/>
          </a:p>
        </p:txBody>
      </p:sp>
      <p:sp>
        <p:nvSpPr>
          <p:cNvPr id="4" name="Text 2"/>
          <p:cNvSpPr/>
          <p:nvPr/>
        </p:nvSpPr>
        <p:spPr>
          <a:xfrm>
            <a:off x="6675120" y="1554480"/>
            <a:ext cx="4937760" cy="320040"/>
          </a:xfrm>
          <a:prstGeom prst="rect">
            <a:avLst/>
          </a:prstGeom>
          <a:noFill/>
          <a:ln/>
        </p:spPr>
        <p:txBody>
          <a:bodyPr wrap="square" lIns="0" tIns="0" rIns="0" bIns="0" rtlCol="0" anchor="ctr"/>
          <a:lstStyle/>
          <a:p>
            <a:pPr algn="r" indent="0" marL="0">
              <a:buNone/>
            </a:pPr>
            <a:r>
              <a:rPr lang="en-US" sz="1200" b="1" dirty="0">
                <a:solidFill>
                  <a:srgbClr val="5A8FD6"/>
                </a:solidFill>
                <a:latin typeface="Yu Gothic" pitchFamily="34" charset="0"/>
                <a:ea typeface="Yu Gothic" pitchFamily="34" charset="-122"/>
                <a:cs typeface="Yu Gothic" pitchFamily="34" charset="-120"/>
              </a:rPr>
              <a:t>Corporate KPI</a:t>
            </a:r>
            <a:endParaRPr lang="en-US" sz="1200" dirty="0"/>
          </a:p>
        </p:txBody>
      </p:sp>
      <p:sp>
        <p:nvSpPr>
          <p:cNvPr id="5" name="Shape 3"/>
          <p:cNvSpPr/>
          <p:nvPr/>
        </p:nvSpPr>
        <p:spPr>
          <a:xfrm>
            <a:off x="548640" y="1965960"/>
            <a:ext cx="4937760" cy="914400"/>
          </a:xfrm>
          <a:prstGeom prst="roundRect">
            <a:avLst>
              <a:gd name="adj" fmla="val 12000"/>
            </a:avLst>
          </a:prstGeom>
          <a:solidFill>
            <a:srgbClr val="1C2C4A"/>
          </a:solidFill>
          <a:ln/>
          <a:effectLst>
            <a:outerShdw sx="100000" sy="100000" kx="0" ky="0" algn="bl" rotWithShape="0" blurRad="101600" dist="38100" dir="5400000">
              <a:srgbClr val="000000">
                <a:alpha val="35000"/>
              </a:srgbClr>
            </a:outerShdw>
          </a:effectLst>
        </p:spPr>
      </p:sp>
      <p:sp>
        <p:nvSpPr>
          <p:cNvPr id="6" name="Text 4"/>
          <p:cNvSpPr/>
          <p:nvPr/>
        </p:nvSpPr>
        <p:spPr>
          <a:xfrm>
            <a:off x="777240" y="1965960"/>
            <a:ext cx="4480560" cy="914400"/>
          </a:xfrm>
          <a:prstGeom prst="rect">
            <a:avLst/>
          </a:prstGeom>
          <a:noFill/>
          <a:ln/>
        </p:spPr>
        <p:txBody>
          <a:bodyPr wrap="square" lIns="0" tIns="0" rIns="0" bIns="0" rtlCol="0" anchor="ctr"/>
          <a:lstStyle/>
          <a:p>
            <a:pPr indent="0" marL="0">
              <a:lnSpc>
                <a:spcPct val="120000"/>
              </a:lnSpc>
              <a:buNone/>
            </a:pPr>
            <a:r>
              <a:rPr lang="en-US" sz="1300" i="1" dirty="0">
                <a:solidFill>
                  <a:srgbClr val="F4C878"/>
                </a:solidFill>
                <a:latin typeface="Yu Gothic" pitchFamily="34" charset="0"/>
                <a:ea typeface="Yu Gothic" pitchFamily="34" charset="-122"/>
                <a:cs typeface="Yu Gothic" pitchFamily="34" charset="-120"/>
              </a:rPr>
              <a:t>「この人がいたことで、安心して活動できた」</a:t>
            </a:r>
            <a:endParaRPr lang="en-US" sz="1300" dirty="0"/>
          </a:p>
        </p:txBody>
      </p:sp>
      <p:sp>
        <p:nvSpPr>
          <p:cNvPr id="7" name="Text 5"/>
          <p:cNvSpPr/>
          <p:nvPr/>
        </p:nvSpPr>
        <p:spPr>
          <a:xfrm>
            <a:off x="5623560" y="1965960"/>
            <a:ext cx="914400" cy="914400"/>
          </a:xfrm>
          <a:prstGeom prst="rect">
            <a:avLst/>
          </a:prstGeom>
          <a:noFill/>
          <a:ln/>
        </p:spPr>
        <p:txBody>
          <a:bodyPr wrap="square" lIns="0" tIns="0" rIns="0" bIns="0" rtlCol="0" anchor="ctr"/>
          <a:lstStyle/>
          <a:p>
            <a:pPr algn="ctr" indent="0" marL="0">
              <a:buNone/>
            </a:pPr>
            <a:r>
              <a:rPr lang="en-US" sz="2200" dirty="0">
                <a:solidFill>
                  <a:srgbClr val="9AA4C0"/>
                </a:solidFill>
                <a:latin typeface="Yu Gothic" pitchFamily="34" charset="0"/>
                <a:ea typeface="Yu Gothic" pitchFamily="34" charset="-122"/>
                <a:cs typeface="Yu Gothic" pitchFamily="34" charset="-120"/>
              </a:rPr>
              <a:t>→</a:t>
            </a:r>
            <a:endParaRPr lang="en-US" sz="2200" dirty="0"/>
          </a:p>
        </p:txBody>
      </p:sp>
      <p:sp>
        <p:nvSpPr>
          <p:cNvPr id="8" name="Shape 6"/>
          <p:cNvSpPr/>
          <p:nvPr/>
        </p:nvSpPr>
        <p:spPr>
          <a:xfrm>
            <a:off x="6675120" y="1965960"/>
            <a:ext cx="4937760" cy="914400"/>
          </a:xfrm>
          <a:prstGeom prst="roundRect">
            <a:avLst>
              <a:gd name="adj" fmla="val 12000"/>
            </a:avLst>
          </a:prstGeom>
          <a:solidFill>
            <a:srgbClr val="16213A"/>
          </a:solidFill>
          <a:ln/>
          <a:effectLst>
            <a:outerShdw sx="100000" sy="100000" kx="0" ky="0" algn="bl" rotWithShape="0" blurRad="101600" dist="38100" dir="5400000">
              <a:srgbClr val="000000">
                <a:alpha val="35000"/>
              </a:srgbClr>
            </a:outerShdw>
          </a:effectLst>
        </p:spPr>
      </p:sp>
      <p:sp>
        <p:nvSpPr>
          <p:cNvPr id="9" name="Text 7"/>
          <p:cNvSpPr/>
          <p:nvPr/>
        </p:nvSpPr>
        <p:spPr>
          <a:xfrm>
            <a:off x="6903720" y="1965960"/>
            <a:ext cx="4480560" cy="914400"/>
          </a:xfrm>
          <a:prstGeom prst="rect">
            <a:avLst/>
          </a:prstGeom>
          <a:noFill/>
          <a:ln/>
        </p:spPr>
        <p:txBody>
          <a:bodyPr wrap="square" lIns="0" tIns="0" rIns="0" bIns="0" rtlCol="0" anchor="ctr"/>
          <a:lstStyle/>
          <a:p>
            <a:pPr indent="0" marL="0">
              <a:lnSpc>
                <a:spcPct val="120000"/>
              </a:lnSpc>
              <a:buNone/>
            </a:pPr>
            <a:r>
              <a:rPr lang="en-US" sz="1300" b="1" dirty="0">
                <a:solidFill>
                  <a:srgbClr val="5A8FD6"/>
                </a:solidFill>
                <a:latin typeface="Yu Gothic" pitchFamily="34" charset="0"/>
                <a:ea typeface="Yu Gothic" pitchFamily="34" charset="-122"/>
                <a:cs typeface="Yu Gothic" pitchFamily="34" charset="-120"/>
              </a:rPr>
              <a:t>オンボーディング成功・参加継続率の向上</a:t>
            </a:r>
            <a:endParaRPr lang="en-US" sz="1300" dirty="0"/>
          </a:p>
        </p:txBody>
      </p:sp>
      <p:sp>
        <p:nvSpPr>
          <p:cNvPr id="10" name="Shape 8"/>
          <p:cNvSpPr/>
          <p:nvPr/>
        </p:nvSpPr>
        <p:spPr>
          <a:xfrm>
            <a:off x="548640" y="3063240"/>
            <a:ext cx="4937760" cy="914400"/>
          </a:xfrm>
          <a:prstGeom prst="roundRect">
            <a:avLst>
              <a:gd name="adj" fmla="val 12000"/>
            </a:avLst>
          </a:prstGeom>
          <a:solidFill>
            <a:srgbClr val="1C2C4A"/>
          </a:solidFill>
          <a:ln/>
          <a:effectLst>
            <a:outerShdw sx="100000" sy="100000" kx="0" ky="0" algn="bl" rotWithShape="0" blurRad="101600" dist="38100" dir="5400000">
              <a:srgbClr val="000000">
                <a:alpha val="35000"/>
              </a:srgbClr>
            </a:outerShdw>
          </a:effectLst>
        </p:spPr>
      </p:sp>
      <p:sp>
        <p:nvSpPr>
          <p:cNvPr id="11" name="Text 9"/>
          <p:cNvSpPr/>
          <p:nvPr/>
        </p:nvSpPr>
        <p:spPr>
          <a:xfrm>
            <a:off x="777240" y="3063240"/>
            <a:ext cx="4480560" cy="914400"/>
          </a:xfrm>
          <a:prstGeom prst="rect">
            <a:avLst/>
          </a:prstGeom>
          <a:noFill/>
          <a:ln/>
        </p:spPr>
        <p:txBody>
          <a:bodyPr wrap="square" lIns="0" tIns="0" rIns="0" bIns="0" rtlCol="0" anchor="ctr"/>
          <a:lstStyle/>
          <a:p>
            <a:pPr indent="0" marL="0">
              <a:lnSpc>
                <a:spcPct val="120000"/>
              </a:lnSpc>
              <a:buNone/>
            </a:pPr>
            <a:r>
              <a:rPr lang="en-US" sz="1300" i="1" dirty="0">
                <a:solidFill>
                  <a:srgbClr val="F4C878"/>
                </a:solidFill>
                <a:latin typeface="Yu Gothic" pitchFamily="34" charset="0"/>
                <a:ea typeface="Yu Gothic" pitchFamily="34" charset="-122"/>
                <a:cs typeface="Yu Gothic" pitchFamily="34" charset="-120"/>
              </a:rPr>
              <a:t>「孤立せずに済んだ／対立が翻訳された」</a:t>
            </a:r>
            <a:endParaRPr lang="en-US" sz="1300" dirty="0"/>
          </a:p>
        </p:txBody>
      </p:sp>
      <p:sp>
        <p:nvSpPr>
          <p:cNvPr id="12" name="Text 10"/>
          <p:cNvSpPr/>
          <p:nvPr/>
        </p:nvSpPr>
        <p:spPr>
          <a:xfrm>
            <a:off x="5623560" y="3063240"/>
            <a:ext cx="914400" cy="914400"/>
          </a:xfrm>
          <a:prstGeom prst="rect">
            <a:avLst/>
          </a:prstGeom>
          <a:noFill/>
          <a:ln/>
        </p:spPr>
        <p:txBody>
          <a:bodyPr wrap="square" lIns="0" tIns="0" rIns="0" bIns="0" rtlCol="0" anchor="ctr"/>
          <a:lstStyle/>
          <a:p>
            <a:pPr algn="ctr" indent="0" marL="0">
              <a:buNone/>
            </a:pPr>
            <a:r>
              <a:rPr lang="en-US" sz="2200" dirty="0">
                <a:solidFill>
                  <a:srgbClr val="9AA4C0"/>
                </a:solidFill>
                <a:latin typeface="Yu Gothic" pitchFamily="34" charset="0"/>
                <a:ea typeface="Yu Gothic" pitchFamily="34" charset="-122"/>
                <a:cs typeface="Yu Gothic" pitchFamily="34" charset="-120"/>
              </a:rPr>
              <a:t>→</a:t>
            </a:r>
            <a:endParaRPr lang="en-US" sz="2200" dirty="0"/>
          </a:p>
        </p:txBody>
      </p:sp>
      <p:sp>
        <p:nvSpPr>
          <p:cNvPr id="13" name="Shape 11"/>
          <p:cNvSpPr/>
          <p:nvPr/>
        </p:nvSpPr>
        <p:spPr>
          <a:xfrm>
            <a:off x="6675120" y="3063240"/>
            <a:ext cx="4937760" cy="914400"/>
          </a:xfrm>
          <a:prstGeom prst="roundRect">
            <a:avLst>
              <a:gd name="adj" fmla="val 12000"/>
            </a:avLst>
          </a:prstGeom>
          <a:solidFill>
            <a:srgbClr val="16213A"/>
          </a:solidFill>
          <a:ln/>
          <a:effectLst>
            <a:outerShdw sx="100000" sy="100000" kx="0" ky="0" algn="bl" rotWithShape="0" blurRad="101600" dist="38100" dir="5400000">
              <a:srgbClr val="000000">
                <a:alpha val="35000"/>
              </a:srgbClr>
            </a:outerShdw>
          </a:effectLst>
        </p:spPr>
      </p:sp>
      <p:sp>
        <p:nvSpPr>
          <p:cNvPr id="14" name="Text 12"/>
          <p:cNvSpPr/>
          <p:nvPr/>
        </p:nvSpPr>
        <p:spPr>
          <a:xfrm>
            <a:off x="6903720" y="3063240"/>
            <a:ext cx="4480560" cy="914400"/>
          </a:xfrm>
          <a:prstGeom prst="rect">
            <a:avLst/>
          </a:prstGeom>
          <a:noFill/>
          <a:ln/>
        </p:spPr>
        <p:txBody>
          <a:bodyPr wrap="square" lIns="0" tIns="0" rIns="0" bIns="0" rtlCol="0" anchor="ctr"/>
          <a:lstStyle/>
          <a:p>
            <a:pPr indent="0" marL="0">
              <a:lnSpc>
                <a:spcPct val="120000"/>
              </a:lnSpc>
              <a:buNone/>
            </a:pPr>
            <a:r>
              <a:rPr lang="en-US" sz="1300" b="1" dirty="0">
                <a:solidFill>
                  <a:srgbClr val="5A8FD6"/>
                </a:solidFill>
                <a:latin typeface="Yu Gothic" pitchFamily="34" charset="0"/>
                <a:ea typeface="Yu Gothic" pitchFamily="34" charset="-122"/>
                <a:cs typeface="Yu Gothic" pitchFamily="34" charset="-120"/>
              </a:rPr>
              <a:t>離脱コストの回避・炎上防止</a:t>
            </a:r>
            <a:endParaRPr lang="en-US" sz="1300" dirty="0"/>
          </a:p>
        </p:txBody>
      </p:sp>
      <p:sp>
        <p:nvSpPr>
          <p:cNvPr id="15" name="Shape 13"/>
          <p:cNvSpPr/>
          <p:nvPr/>
        </p:nvSpPr>
        <p:spPr>
          <a:xfrm>
            <a:off x="548640" y="4160520"/>
            <a:ext cx="4937760" cy="914400"/>
          </a:xfrm>
          <a:prstGeom prst="roundRect">
            <a:avLst>
              <a:gd name="adj" fmla="val 12000"/>
            </a:avLst>
          </a:prstGeom>
          <a:solidFill>
            <a:srgbClr val="1C2C4A"/>
          </a:solidFill>
          <a:ln/>
          <a:effectLst>
            <a:outerShdw sx="100000" sy="100000" kx="0" ky="0" algn="bl" rotWithShape="0" blurRad="101600" dist="38100" dir="5400000">
              <a:srgbClr val="000000">
                <a:alpha val="35000"/>
              </a:srgbClr>
            </a:outerShdw>
          </a:effectLst>
        </p:spPr>
      </p:sp>
      <p:sp>
        <p:nvSpPr>
          <p:cNvPr id="16" name="Text 14"/>
          <p:cNvSpPr/>
          <p:nvPr/>
        </p:nvSpPr>
        <p:spPr>
          <a:xfrm>
            <a:off x="777240" y="4160520"/>
            <a:ext cx="4480560" cy="914400"/>
          </a:xfrm>
          <a:prstGeom prst="rect">
            <a:avLst/>
          </a:prstGeom>
          <a:noFill/>
          <a:ln/>
        </p:spPr>
        <p:txBody>
          <a:bodyPr wrap="square" lIns="0" tIns="0" rIns="0" bIns="0" rtlCol="0" anchor="ctr"/>
          <a:lstStyle/>
          <a:p>
            <a:pPr indent="0" marL="0">
              <a:lnSpc>
                <a:spcPct val="120000"/>
              </a:lnSpc>
              <a:buNone/>
            </a:pPr>
            <a:r>
              <a:rPr lang="en-US" sz="1300" i="1" dirty="0">
                <a:solidFill>
                  <a:srgbClr val="F4C878"/>
                </a:solidFill>
                <a:latin typeface="Yu Gothic" pitchFamily="34" charset="0"/>
                <a:ea typeface="Yu Gothic" pitchFamily="34" charset="-122"/>
                <a:cs typeface="Yu Gothic" pitchFamily="34" charset="-120"/>
              </a:rPr>
              <a:t>「自分でも問題に対処できるようになった」</a:t>
            </a:r>
            <a:endParaRPr lang="en-US" sz="1300" dirty="0"/>
          </a:p>
        </p:txBody>
      </p:sp>
      <p:sp>
        <p:nvSpPr>
          <p:cNvPr id="17" name="Text 15"/>
          <p:cNvSpPr/>
          <p:nvPr/>
        </p:nvSpPr>
        <p:spPr>
          <a:xfrm>
            <a:off x="5623560" y="4160520"/>
            <a:ext cx="914400" cy="914400"/>
          </a:xfrm>
          <a:prstGeom prst="rect">
            <a:avLst/>
          </a:prstGeom>
          <a:noFill/>
          <a:ln/>
        </p:spPr>
        <p:txBody>
          <a:bodyPr wrap="square" lIns="0" tIns="0" rIns="0" bIns="0" rtlCol="0" anchor="ctr"/>
          <a:lstStyle/>
          <a:p>
            <a:pPr algn="ctr" indent="0" marL="0">
              <a:buNone/>
            </a:pPr>
            <a:r>
              <a:rPr lang="en-US" sz="2200" dirty="0">
                <a:solidFill>
                  <a:srgbClr val="9AA4C0"/>
                </a:solidFill>
                <a:latin typeface="Yu Gothic" pitchFamily="34" charset="0"/>
                <a:ea typeface="Yu Gothic" pitchFamily="34" charset="-122"/>
                <a:cs typeface="Yu Gothic" pitchFamily="34" charset="-120"/>
              </a:rPr>
              <a:t>→</a:t>
            </a:r>
            <a:endParaRPr lang="en-US" sz="2200" dirty="0"/>
          </a:p>
        </p:txBody>
      </p:sp>
      <p:sp>
        <p:nvSpPr>
          <p:cNvPr id="18" name="Shape 16"/>
          <p:cNvSpPr/>
          <p:nvPr/>
        </p:nvSpPr>
        <p:spPr>
          <a:xfrm>
            <a:off x="6675120" y="4160520"/>
            <a:ext cx="4937760" cy="914400"/>
          </a:xfrm>
          <a:prstGeom prst="roundRect">
            <a:avLst>
              <a:gd name="adj" fmla="val 12000"/>
            </a:avLst>
          </a:prstGeom>
          <a:solidFill>
            <a:srgbClr val="16213A"/>
          </a:solidFill>
          <a:ln/>
          <a:effectLst>
            <a:outerShdw sx="100000" sy="100000" kx="0" ky="0" algn="bl" rotWithShape="0" blurRad="101600" dist="38100" dir="5400000">
              <a:srgbClr val="000000">
                <a:alpha val="35000"/>
              </a:srgbClr>
            </a:outerShdw>
          </a:effectLst>
        </p:spPr>
      </p:sp>
      <p:sp>
        <p:nvSpPr>
          <p:cNvPr id="19" name="Text 17"/>
          <p:cNvSpPr/>
          <p:nvPr/>
        </p:nvSpPr>
        <p:spPr>
          <a:xfrm>
            <a:off x="6903720" y="4160520"/>
            <a:ext cx="4480560" cy="914400"/>
          </a:xfrm>
          <a:prstGeom prst="rect">
            <a:avLst/>
          </a:prstGeom>
          <a:noFill/>
          <a:ln/>
        </p:spPr>
        <p:txBody>
          <a:bodyPr wrap="square" lIns="0" tIns="0" rIns="0" bIns="0" rtlCol="0" anchor="ctr"/>
          <a:lstStyle/>
          <a:p>
            <a:pPr indent="0" marL="0">
              <a:lnSpc>
                <a:spcPct val="120000"/>
              </a:lnSpc>
              <a:buNone/>
            </a:pPr>
            <a:r>
              <a:rPr lang="en-US" sz="1300" b="1" dirty="0">
                <a:solidFill>
                  <a:srgbClr val="5A8FD6"/>
                </a:solidFill>
                <a:latin typeface="Yu Gothic" pitchFamily="34" charset="0"/>
                <a:ea typeface="Yu Gothic" pitchFamily="34" charset="-122"/>
                <a:cs typeface="Yu Gothic" pitchFamily="34" charset="-120"/>
              </a:rPr>
              <a:t>組織のレジリエンス向上・意思決定の高速化</a:t>
            </a:r>
            <a:endParaRPr lang="en-US" sz="1300" dirty="0"/>
          </a:p>
        </p:txBody>
      </p:sp>
      <p:sp>
        <p:nvSpPr>
          <p:cNvPr id="20" name="Shape 18"/>
          <p:cNvSpPr/>
          <p:nvPr/>
        </p:nvSpPr>
        <p:spPr>
          <a:xfrm>
            <a:off x="548640" y="5303520"/>
            <a:ext cx="11091672" cy="822960"/>
          </a:xfrm>
          <a:prstGeom prst="roundRect">
            <a:avLst>
              <a:gd name="adj" fmla="val 11111"/>
            </a:avLst>
          </a:prstGeom>
          <a:solidFill>
            <a:srgbClr val="16213A"/>
          </a:solidFill>
          <a:ln/>
          <a:effectLst>
            <a:outerShdw sx="100000" sy="100000" kx="0" ky="0" algn="bl" rotWithShape="0" blurRad="101600" dist="38100" dir="5400000">
              <a:srgbClr val="000000">
                <a:alpha val="35000"/>
              </a:srgbClr>
            </a:outerShdw>
          </a:effectLst>
        </p:spPr>
      </p:sp>
      <p:sp>
        <p:nvSpPr>
          <p:cNvPr id="21" name="Text 19"/>
          <p:cNvSpPr/>
          <p:nvPr/>
        </p:nvSpPr>
        <p:spPr>
          <a:xfrm>
            <a:off x="868680" y="5303520"/>
            <a:ext cx="10515600" cy="822960"/>
          </a:xfrm>
          <a:prstGeom prst="rect">
            <a:avLst/>
          </a:prstGeom>
          <a:noFill/>
          <a:ln/>
        </p:spPr>
        <p:txBody>
          <a:bodyPr wrap="square" lIns="0" tIns="0" rIns="0" bIns="0" rtlCol="0" anchor="ctr"/>
          <a:lstStyle/>
          <a:p>
            <a:pPr indent="0" marL="0">
              <a:buNone/>
            </a:pPr>
            <a:r>
              <a:rPr lang="en-US" sz="1400" b="1" dirty="0">
                <a:solidFill>
                  <a:srgbClr val="FFFFFF"/>
                </a:solidFill>
                <a:latin typeface="Yu Gothic" pitchFamily="34" charset="0"/>
                <a:ea typeface="Yu Gothic" pitchFamily="34" charset="-122"/>
                <a:cs typeface="Yu Gothic" pitchFamily="34" charset="-120"/>
              </a:rPr>
              <a:t>人を支える行為は「美談」ではない。組織の持続可能性と安全保障に直結する。</a:t>
            </a:r>
            <a:endParaRPr lang="en-US" sz="1400" dirty="0"/>
          </a:p>
        </p:txBody>
      </p:sp>
      <p:sp>
        <p:nvSpPr>
          <p:cNvPr id="22" name="Text 20"/>
          <p:cNvSpPr/>
          <p:nvPr/>
        </p:nvSpPr>
        <p:spPr>
          <a:xfrm>
            <a:off x="548640" y="6473952"/>
            <a:ext cx="4572000" cy="274320"/>
          </a:xfrm>
          <a:prstGeom prst="rect">
            <a:avLst/>
          </a:prstGeom>
          <a:noFill/>
          <a:ln/>
        </p:spPr>
        <p:txBody>
          <a:bodyPr wrap="square" lIns="0" tIns="0" rIns="0" bIns="0" rtlCol="0" anchor="ctr"/>
          <a:lstStyle/>
          <a:p>
            <a:pPr indent="0" marL="0">
              <a:buNone/>
            </a:pPr>
            <a:r>
              <a:rPr lang="en-US" sz="900" dirty="0">
                <a:solidFill>
                  <a:srgbClr val="5B6480"/>
                </a:solidFill>
                <a:latin typeface="Yu Gothic" pitchFamily="34" charset="0"/>
                <a:ea typeface="Yu Gothic" pitchFamily="34" charset="-122"/>
                <a:cs typeface="Yu Gothic" pitchFamily="34" charset="-120"/>
              </a:rPr>
              <a:t>救済者 × ガバナンス</a:t>
            </a:r>
            <a:endParaRPr lang="en-US" sz="900" dirty="0"/>
          </a:p>
        </p:txBody>
      </p:sp>
      <p:sp>
        <p:nvSpPr>
          <p:cNvPr id="23" name="Text 21"/>
          <p:cNvSpPr/>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FFFFFF"/>
                </a:solidFill>
                <a:latin typeface="Yu Gothic" pitchFamily="34" charset="0"/>
                <a:ea typeface="Yu Gothic" pitchFamily="34" charset="-122"/>
                <a:cs typeface="Yu Gothic" pitchFamily="34" charset="-120"/>
              </a:rPr>
              <a:t>フラクタルな構造：村から国家の「メタ安全保障」へ</a:t>
            </a:r>
            <a:endParaRPr lang="en-US" sz="3000" dirty="0"/>
          </a:p>
        </p:txBody>
      </p:sp>
      <p:sp>
        <p:nvSpPr>
          <p:cNvPr id="3" name="Shape 1"/>
          <p:cNvSpPr/>
          <p:nvPr/>
        </p:nvSpPr>
        <p:spPr>
          <a:xfrm>
            <a:off x="641452" y="1874520"/>
            <a:ext cx="3429000" cy="2880360"/>
          </a:xfrm>
          <a:prstGeom prst="roundRect">
            <a:avLst>
              <a:gd name="adj" fmla="val 3810"/>
            </a:avLst>
          </a:prstGeom>
          <a:solidFill>
            <a:srgbClr val="16213A"/>
          </a:solidFill>
          <a:ln/>
          <a:effectLst>
            <a:outerShdw sx="100000" sy="100000" kx="0" ky="0" algn="bl" rotWithShape="0" blurRad="101600" dist="38100" dir="5400000">
              <a:srgbClr val="000000">
                <a:alpha val="35000"/>
              </a:srgbClr>
            </a:outerShdw>
          </a:effectLst>
        </p:spPr>
      </p:sp>
      <p:sp>
        <p:nvSpPr>
          <p:cNvPr id="4" name="Shape 2"/>
          <p:cNvSpPr/>
          <p:nvPr/>
        </p:nvSpPr>
        <p:spPr>
          <a:xfrm>
            <a:off x="1450696" y="1746504"/>
            <a:ext cx="1810512" cy="1810512"/>
          </a:xfrm>
          <a:prstGeom prst="ellipse">
            <a:avLst/>
          </a:prstGeom>
          <a:solidFill>
            <a:srgbClr val="1BAF7A">
              <a:alpha val="12000"/>
            </a:srgbClr>
          </a:solidFill>
          <a:ln/>
        </p:spPr>
      </p:sp>
      <p:sp>
        <p:nvSpPr>
          <p:cNvPr id="5" name="Shape 3"/>
          <p:cNvSpPr/>
          <p:nvPr/>
        </p:nvSpPr>
        <p:spPr>
          <a:xfrm>
            <a:off x="1697584" y="1993392"/>
            <a:ext cx="1316736" cy="1316736"/>
          </a:xfrm>
          <a:prstGeom prst="ellipse">
            <a:avLst/>
          </a:prstGeom>
          <a:solidFill>
            <a:srgbClr val="1BAF7A">
              <a:alpha val="22000"/>
            </a:srgbClr>
          </a:solidFill>
          <a:ln/>
        </p:spPr>
      </p:sp>
      <p:sp>
        <p:nvSpPr>
          <p:cNvPr id="6" name="Shape 4"/>
          <p:cNvSpPr/>
          <p:nvPr/>
        </p:nvSpPr>
        <p:spPr>
          <a:xfrm>
            <a:off x="1944472" y="2240280"/>
            <a:ext cx="822960" cy="822960"/>
          </a:xfrm>
          <a:prstGeom prst="ellipse">
            <a:avLst/>
          </a:prstGeom>
          <a:solidFill>
            <a:srgbClr val="1BAF7A"/>
          </a:solidFill>
          <a:ln w="9525">
            <a:solidFill>
              <a:srgbClr val="1BAF7A"/>
            </a:solidFill>
            <a:prstDash val="solid"/>
          </a:ln>
        </p:spPr>
      </p:sp>
      <p:pic>
        <p:nvPicPr>
          <p:cNvPr id="7" name="Image 0" descr="preencoded.png">    </p:cNvPr>
          <p:cNvPicPr>
            <a:picLocks noChangeAspect="1"/>
          </p:cNvPicPr>
          <p:nvPr/>
        </p:nvPicPr>
        <p:blipFill>
          <a:blip r:embed="rId1"/>
          <a:stretch>
            <a:fillRect/>
          </a:stretch>
        </p:blipFill>
        <p:spPr>
          <a:xfrm>
            <a:off x="2158441" y="2454250"/>
            <a:ext cx="395021" cy="395021"/>
          </a:xfrm>
          <a:prstGeom prst="rect">
            <a:avLst/>
          </a:prstGeom>
        </p:spPr>
      </p:pic>
      <p:sp>
        <p:nvSpPr>
          <p:cNvPr id="8" name="Text 5"/>
          <p:cNvSpPr/>
          <p:nvPr/>
        </p:nvSpPr>
        <p:spPr>
          <a:xfrm>
            <a:off x="778612" y="3200400"/>
            <a:ext cx="3154680" cy="411480"/>
          </a:xfrm>
          <a:prstGeom prst="rect">
            <a:avLst/>
          </a:prstGeom>
          <a:noFill/>
          <a:ln/>
        </p:spPr>
        <p:txBody>
          <a:bodyPr wrap="square" lIns="0" tIns="0" rIns="0" bIns="0" rtlCol="0" anchor="ctr"/>
          <a:lstStyle/>
          <a:p>
            <a:pPr algn="ctr" indent="0" marL="0">
              <a:buNone/>
            </a:pPr>
            <a:r>
              <a:rPr lang="en-US" sz="1700" b="1" dirty="0">
                <a:solidFill>
                  <a:srgbClr val="FFFFFF"/>
                </a:solidFill>
                <a:latin typeface="Yu Gothic" pitchFamily="34" charset="0"/>
                <a:ea typeface="Yu Gothic" pitchFamily="34" charset="-122"/>
                <a:cs typeface="Yu Gothic" pitchFamily="34" charset="-120"/>
              </a:rPr>
              <a:t>村</a:t>
            </a:r>
            <a:endParaRPr lang="en-US" sz="1700" dirty="0"/>
          </a:p>
        </p:txBody>
      </p:sp>
      <p:sp>
        <p:nvSpPr>
          <p:cNvPr id="9" name="Text 6"/>
          <p:cNvSpPr/>
          <p:nvPr/>
        </p:nvSpPr>
        <p:spPr>
          <a:xfrm>
            <a:off x="915772" y="3657600"/>
            <a:ext cx="2880360" cy="914400"/>
          </a:xfrm>
          <a:prstGeom prst="rect">
            <a:avLst/>
          </a:prstGeom>
          <a:noFill/>
          <a:ln/>
        </p:spPr>
        <p:txBody>
          <a:bodyPr wrap="square" lIns="0" tIns="0" rIns="0" bIns="0" rtlCol="0" anchor="ctr"/>
          <a:lstStyle/>
          <a:p>
            <a:pPr algn="ctr" indent="0" marL="0">
              <a:lnSpc>
                <a:spcPct val="130000"/>
              </a:lnSpc>
              <a:buNone/>
            </a:pPr>
            <a:r>
              <a:rPr lang="en-US" sz="1300" dirty="0">
                <a:solidFill>
                  <a:srgbClr val="AFC9EE"/>
                </a:solidFill>
                <a:latin typeface="Yu Gothic" pitchFamily="34" charset="0"/>
                <a:ea typeface="Yu Gothic" pitchFamily="34" charset="-122"/>
                <a:cs typeface="Yu Gothic" pitchFamily="34" charset="-120"/>
              </a:rPr>
              <a:t>「世話焼きへの過度な依存」と疲弊</a:t>
            </a:r>
            <a:endParaRPr lang="en-US" sz="1300" dirty="0"/>
          </a:p>
        </p:txBody>
      </p:sp>
      <p:sp>
        <p:nvSpPr>
          <p:cNvPr id="10" name="Shape 7"/>
          <p:cNvSpPr/>
          <p:nvPr/>
        </p:nvSpPr>
        <p:spPr>
          <a:xfrm>
            <a:off x="4381348" y="1874520"/>
            <a:ext cx="3429000" cy="2880360"/>
          </a:xfrm>
          <a:prstGeom prst="roundRect">
            <a:avLst>
              <a:gd name="adj" fmla="val 3810"/>
            </a:avLst>
          </a:prstGeom>
          <a:solidFill>
            <a:srgbClr val="16213A"/>
          </a:solidFill>
          <a:ln/>
          <a:effectLst>
            <a:outerShdw sx="100000" sy="100000" kx="0" ky="0" algn="bl" rotWithShape="0" blurRad="101600" dist="38100" dir="5400000">
              <a:srgbClr val="000000">
                <a:alpha val="35000"/>
              </a:srgbClr>
            </a:outerShdw>
          </a:effectLst>
        </p:spPr>
      </p:sp>
      <p:sp>
        <p:nvSpPr>
          <p:cNvPr id="11" name="Shape 8"/>
          <p:cNvSpPr/>
          <p:nvPr/>
        </p:nvSpPr>
        <p:spPr>
          <a:xfrm>
            <a:off x="5190592" y="1746504"/>
            <a:ext cx="1810512" cy="1810512"/>
          </a:xfrm>
          <a:prstGeom prst="ellipse">
            <a:avLst/>
          </a:prstGeom>
          <a:solidFill>
            <a:srgbClr val="2A78D6">
              <a:alpha val="12000"/>
            </a:srgbClr>
          </a:solidFill>
          <a:ln/>
        </p:spPr>
      </p:sp>
      <p:sp>
        <p:nvSpPr>
          <p:cNvPr id="12" name="Shape 9"/>
          <p:cNvSpPr/>
          <p:nvPr/>
        </p:nvSpPr>
        <p:spPr>
          <a:xfrm>
            <a:off x="5437480" y="1993392"/>
            <a:ext cx="1316736" cy="1316736"/>
          </a:xfrm>
          <a:prstGeom prst="ellipse">
            <a:avLst/>
          </a:prstGeom>
          <a:solidFill>
            <a:srgbClr val="2A78D6">
              <a:alpha val="22000"/>
            </a:srgbClr>
          </a:solidFill>
          <a:ln/>
        </p:spPr>
      </p:sp>
      <p:sp>
        <p:nvSpPr>
          <p:cNvPr id="13" name="Shape 10"/>
          <p:cNvSpPr/>
          <p:nvPr/>
        </p:nvSpPr>
        <p:spPr>
          <a:xfrm>
            <a:off x="5684368" y="2240280"/>
            <a:ext cx="822960" cy="822960"/>
          </a:xfrm>
          <a:prstGeom prst="ellipse">
            <a:avLst/>
          </a:prstGeom>
          <a:solidFill>
            <a:srgbClr val="2A78D6"/>
          </a:solidFill>
          <a:ln w="9525">
            <a:solidFill>
              <a:srgbClr val="2A78D6"/>
            </a:solidFill>
            <a:prstDash val="solid"/>
          </a:ln>
        </p:spPr>
      </p:sp>
      <p:pic>
        <p:nvPicPr>
          <p:cNvPr id="14" name="Image 1" descr="preencoded.png">    </p:cNvPr>
          <p:cNvPicPr>
            <a:picLocks noChangeAspect="1"/>
          </p:cNvPicPr>
          <p:nvPr/>
        </p:nvPicPr>
        <p:blipFill>
          <a:blip r:embed="rId2"/>
          <a:stretch>
            <a:fillRect/>
          </a:stretch>
        </p:blipFill>
        <p:spPr>
          <a:xfrm>
            <a:off x="5898337" y="2454250"/>
            <a:ext cx="395021" cy="395021"/>
          </a:xfrm>
          <a:prstGeom prst="rect">
            <a:avLst/>
          </a:prstGeom>
        </p:spPr>
      </p:pic>
      <p:sp>
        <p:nvSpPr>
          <p:cNvPr id="15" name="Text 11"/>
          <p:cNvSpPr/>
          <p:nvPr/>
        </p:nvSpPr>
        <p:spPr>
          <a:xfrm>
            <a:off x="4518508" y="3200400"/>
            <a:ext cx="3154680" cy="411480"/>
          </a:xfrm>
          <a:prstGeom prst="rect">
            <a:avLst/>
          </a:prstGeom>
          <a:noFill/>
          <a:ln/>
        </p:spPr>
        <p:txBody>
          <a:bodyPr wrap="square" lIns="0" tIns="0" rIns="0" bIns="0" rtlCol="0" anchor="ctr"/>
          <a:lstStyle/>
          <a:p>
            <a:pPr algn="ctr" indent="0" marL="0">
              <a:buNone/>
            </a:pPr>
            <a:r>
              <a:rPr lang="en-US" sz="1700" b="1" dirty="0">
                <a:solidFill>
                  <a:srgbClr val="FFFFFF"/>
                </a:solidFill>
                <a:latin typeface="Yu Gothic" pitchFamily="34" charset="0"/>
                <a:ea typeface="Yu Gothic" pitchFamily="34" charset="-122"/>
                <a:cs typeface="Yu Gothic" pitchFamily="34" charset="-120"/>
              </a:rPr>
              <a:t>都市</a:t>
            </a:r>
            <a:endParaRPr lang="en-US" sz="1700" dirty="0"/>
          </a:p>
        </p:txBody>
      </p:sp>
      <p:sp>
        <p:nvSpPr>
          <p:cNvPr id="16" name="Text 12"/>
          <p:cNvSpPr/>
          <p:nvPr/>
        </p:nvSpPr>
        <p:spPr>
          <a:xfrm>
            <a:off x="4655668" y="3657600"/>
            <a:ext cx="2880360" cy="914400"/>
          </a:xfrm>
          <a:prstGeom prst="rect">
            <a:avLst/>
          </a:prstGeom>
          <a:noFill/>
          <a:ln/>
        </p:spPr>
        <p:txBody>
          <a:bodyPr wrap="square" lIns="0" tIns="0" rIns="0" bIns="0" rtlCol="0" anchor="ctr"/>
          <a:lstStyle/>
          <a:p>
            <a:pPr algn="ctr" indent="0" marL="0">
              <a:lnSpc>
                <a:spcPct val="130000"/>
              </a:lnSpc>
              <a:buNone/>
            </a:pPr>
            <a:r>
              <a:rPr lang="en-US" sz="1300" dirty="0">
                <a:solidFill>
                  <a:srgbClr val="AFC9EE"/>
                </a:solidFill>
                <a:latin typeface="Yu Gothic" pitchFamily="34" charset="0"/>
                <a:ea typeface="Yu Gothic" pitchFamily="34" charset="-122"/>
                <a:cs typeface="Yu Gothic" pitchFamily="34" charset="-120"/>
              </a:rPr>
              <a:t>「支援制度の複雑化」と、誰にも届かないSOS</a:t>
            </a:r>
            <a:endParaRPr lang="en-US" sz="1300" dirty="0"/>
          </a:p>
        </p:txBody>
      </p:sp>
      <p:sp>
        <p:nvSpPr>
          <p:cNvPr id="17" name="Shape 13"/>
          <p:cNvSpPr/>
          <p:nvPr/>
        </p:nvSpPr>
        <p:spPr>
          <a:xfrm>
            <a:off x="8121244" y="1874520"/>
            <a:ext cx="3429000" cy="2880360"/>
          </a:xfrm>
          <a:prstGeom prst="roundRect">
            <a:avLst>
              <a:gd name="adj" fmla="val 3810"/>
            </a:avLst>
          </a:prstGeom>
          <a:solidFill>
            <a:srgbClr val="16213A"/>
          </a:solidFill>
          <a:ln/>
          <a:effectLst>
            <a:outerShdw sx="100000" sy="100000" kx="0" ky="0" algn="bl" rotWithShape="0" blurRad="101600" dist="38100" dir="5400000">
              <a:srgbClr val="000000">
                <a:alpha val="35000"/>
              </a:srgbClr>
            </a:outerShdw>
          </a:effectLst>
        </p:spPr>
      </p:sp>
      <p:sp>
        <p:nvSpPr>
          <p:cNvPr id="18" name="Shape 14"/>
          <p:cNvSpPr/>
          <p:nvPr/>
        </p:nvSpPr>
        <p:spPr>
          <a:xfrm>
            <a:off x="8930488" y="1746504"/>
            <a:ext cx="1810512" cy="1810512"/>
          </a:xfrm>
          <a:prstGeom prst="ellipse">
            <a:avLst/>
          </a:prstGeom>
          <a:solidFill>
            <a:srgbClr val="EB6834">
              <a:alpha val="12000"/>
            </a:srgbClr>
          </a:solidFill>
          <a:ln/>
        </p:spPr>
      </p:sp>
      <p:sp>
        <p:nvSpPr>
          <p:cNvPr id="19" name="Shape 15"/>
          <p:cNvSpPr/>
          <p:nvPr/>
        </p:nvSpPr>
        <p:spPr>
          <a:xfrm>
            <a:off x="9177376" y="1993392"/>
            <a:ext cx="1316736" cy="1316736"/>
          </a:xfrm>
          <a:prstGeom prst="ellipse">
            <a:avLst/>
          </a:prstGeom>
          <a:solidFill>
            <a:srgbClr val="EB6834">
              <a:alpha val="22000"/>
            </a:srgbClr>
          </a:solidFill>
          <a:ln/>
        </p:spPr>
      </p:sp>
      <p:sp>
        <p:nvSpPr>
          <p:cNvPr id="20" name="Shape 16"/>
          <p:cNvSpPr/>
          <p:nvPr/>
        </p:nvSpPr>
        <p:spPr>
          <a:xfrm>
            <a:off x="9424264" y="2240280"/>
            <a:ext cx="822960" cy="822960"/>
          </a:xfrm>
          <a:prstGeom prst="ellipse">
            <a:avLst/>
          </a:prstGeom>
          <a:solidFill>
            <a:srgbClr val="EB6834"/>
          </a:solidFill>
          <a:ln w="9525">
            <a:solidFill>
              <a:srgbClr val="EB6834"/>
            </a:solidFill>
            <a:prstDash val="solid"/>
          </a:ln>
        </p:spPr>
      </p:sp>
      <p:pic>
        <p:nvPicPr>
          <p:cNvPr id="21" name="Image 2" descr="preencoded.png">    </p:cNvPr>
          <p:cNvPicPr>
            <a:picLocks noChangeAspect="1"/>
          </p:cNvPicPr>
          <p:nvPr/>
        </p:nvPicPr>
        <p:blipFill>
          <a:blip r:embed="rId3"/>
          <a:stretch>
            <a:fillRect/>
          </a:stretch>
        </p:blipFill>
        <p:spPr>
          <a:xfrm>
            <a:off x="9638233" y="2454250"/>
            <a:ext cx="395021" cy="395021"/>
          </a:xfrm>
          <a:prstGeom prst="rect">
            <a:avLst/>
          </a:prstGeom>
        </p:spPr>
      </p:pic>
      <p:sp>
        <p:nvSpPr>
          <p:cNvPr id="22" name="Text 17"/>
          <p:cNvSpPr/>
          <p:nvPr/>
        </p:nvSpPr>
        <p:spPr>
          <a:xfrm>
            <a:off x="8258404" y="3200400"/>
            <a:ext cx="3154680" cy="411480"/>
          </a:xfrm>
          <a:prstGeom prst="rect">
            <a:avLst/>
          </a:prstGeom>
          <a:noFill/>
          <a:ln/>
        </p:spPr>
        <p:txBody>
          <a:bodyPr wrap="square" lIns="0" tIns="0" rIns="0" bIns="0" rtlCol="0" anchor="ctr"/>
          <a:lstStyle/>
          <a:p>
            <a:pPr algn="ctr" indent="0" marL="0">
              <a:buNone/>
            </a:pPr>
            <a:r>
              <a:rPr lang="en-US" sz="1700" b="1" dirty="0">
                <a:solidFill>
                  <a:srgbClr val="FFFFFF"/>
                </a:solidFill>
                <a:latin typeface="Yu Gothic" pitchFamily="34" charset="0"/>
                <a:ea typeface="Yu Gothic" pitchFamily="34" charset="-122"/>
                <a:cs typeface="Yu Gothic" pitchFamily="34" charset="-120"/>
              </a:rPr>
              <a:t>国</a:t>
            </a:r>
            <a:endParaRPr lang="en-US" sz="1700" dirty="0"/>
          </a:p>
        </p:txBody>
      </p:sp>
      <p:sp>
        <p:nvSpPr>
          <p:cNvPr id="23" name="Text 18"/>
          <p:cNvSpPr/>
          <p:nvPr/>
        </p:nvSpPr>
        <p:spPr>
          <a:xfrm>
            <a:off x="8395564" y="3657600"/>
            <a:ext cx="2880360" cy="914400"/>
          </a:xfrm>
          <a:prstGeom prst="rect">
            <a:avLst/>
          </a:prstGeom>
          <a:noFill/>
          <a:ln/>
        </p:spPr>
        <p:txBody>
          <a:bodyPr wrap="square" lIns="0" tIns="0" rIns="0" bIns="0" rtlCol="0" anchor="ctr"/>
          <a:lstStyle/>
          <a:p>
            <a:pPr algn="ctr" indent="0" marL="0">
              <a:lnSpc>
                <a:spcPct val="130000"/>
              </a:lnSpc>
              <a:buNone/>
            </a:pPr>
            <a:r>
              <a:rPr lang="en-US" sz="1300" dirty="0">
                <a:solidFill>
                  <a:srgbClr val="AFC9EE"/>
                </a:solidFill>
                <a:latin typeface="Yu Gothic" pitchFamily="34" charset="0"/>
                <a:ea typeface="Yu Gothic" pitchFamily="34" charset="-122"/>
                <a:cs typeface="Yu Gothic" pitchFamily="34" charset="-120"/>
              </a:rPr>
              <a:t>「権力の集中」と、強い指導者への救世主待望</a:t>
            </a:r>
            <a:endParaRPr lang="en-US" sz="1300" dirty="0"/>
          </a:p>
        </p:txBody>
      </p:sp>
      <p:sp>
        <p:nvSpPr>
          <p:cNvPr id="24" name="Shape 19"/>
          <p:cNvSpPr/>
          <p:nvPr/>
        </p:nvSpPr>
        <p:spPr>
          <a:xfrm>
            <a:off x="548640" y="5166360"/>
            <a:ext cx="11091672" cy="960120"/>
          </a:xfrm>
          <a:prstGeom prst="roundRect">
            <a:avLst>
              <a:gd name="adj" fmla="val 9524"/>
            </a:avLst>
          </a:prstGeom>
          <a:solidFill>
            <a:srgbClr val="1C2C4A"/>
          </a:solidFill>
          <a:ln/>
          <a:effectLst>
            <a:outerShdw sx="100000" sy="100000" kx="0" ky="0" algn="bl" rotWithShape="0" blurRad="101600" dist="38100" dir="5400000">
              <a:srgbClr val="000000">
                <a:alpha val="35000"/>
              </a:srgbClr>
            </a:outerShdw>
          </a:effectLst>
        </p:spPr>
      </p:sp>
      <p:sp>
        <p:nvSpPr>
          <p:cNvPr id="25" name="Text 20"/>
          <p:cNvSpPr/>
          <p:nvPr/>
        </p:nvSpPr>
        <p:spPr>
          <a:xfrm>
            <a:off x="868680" y="5166360"/>
            <a:ext cx="10515600" cy="960120"/>
          </a:xfrm>
          <a:prstGeom prst="rect">
            <a:avLst/>
          </a:prstGeom>
          <a:noFill/>
          <a:ln/>
        </p:spPr>
        <p:txBody>
          <a:bodyPr wrap="square" lIns="0" tIns="0" rIns="0" bIns="0" rtlCol="0" anchor="ctr"/>
          <a:lstStyle/>
          <a:p>
            <a:pPr indent="0" marL="0">
              <a:buNone/>
            </a:pPr>
            <a:r>
              <a:rPr lang="en-US" sz="1350" dirty="0">
                <a:solidFill>
                  <a:srgbClr val="AFC9EE"/>
                </a:solidFill>
                <a:latin typeface="Yu Gothic" pitchFamily="34" charset="0"/>
                <a:ea typeface="Yu Gothic" pitchFamily="34" charset="-122"/>
                <a:cs typeface="Yu Gothic" pitchFamily="34" charset="-120"/>
              </a:rPr>
              <a:t>小さな共同体における「救済者への依存」と、国家規模における「権力の集中」は構造的に同じである。この実験は、社会全体のレジリエンスを問う試みである。</a:t>
            </a:r>
            <a:endParaRPr lang="en-US" sz="1350" dirty="0"/>
          </a:p>
        </p:txBody>
      </p:sp>
      <p:sp>
        <p:nvSpPr>
          <p:cNvPr id="26" name="Text 21"/>
          <p:cNvSpPr/>
          <p:nvPr/>
        </p:nvSpPr>
        <p:spPr>
          <a:xfrm>
            <a:off x="548640" y="6473952"/>
            <a:ext cx="4572000" cy="274320"/>
          </a:xfrm>
          <a:prstGeom prst="rect">
            <a:avLst/>
          </a:prstGeom>
          <a:noFill/>
          <a:ln/>
        </p:spPr>
        <p:txBody>
          <a:bodyPr wrap="square" lIns="0" tIns="0" rIns="0" bIns="0" rtlCol="0" anchor="ctr"/>
          <a:lstStyle/>
          <a:p>
            <a:pPr indent="0" marL="0">
              <a:buNone/>
            </a:pPr>
            <a:r>
              <a:rPr lang="en-US" sz="900" dirty="0">
                <a:solidFill>
                  <a:srgbClr val="5B6480"/>
                </a:solidFill>
                <a:latin typeface="Yu Gothic" pitchFamily="34" charset="0"/>
                <a:ea typeface="Yu Gothic" pitchFamily="34" charset="-122"/>
                <a:cs typeface="Yu Gothic" pitchFamily="34" charset="-120"/>
              </a:rPr>
              <a:t>救済者 × ガバナンス</a:t>
            </a:r>
            <a:endParaRPr lang="en-US" sz="900" dirty="0"/>
          </a:p>
        </p:txBody>
      </p:sp>
      <p:sp>
        <p:nvSpPr>
          <p:cNvPr id="27" name="Text 22"/>
          <p:cNvSpPr/>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FFFFFF"/>
                </a:solidFill>
                <a:latin typeface="Yu Gothic" pitchFamily="34" charset="0"/>
                <a:ea typeface="Yu Gothic" pitchFamily="34" charset="-122"/>
                <a:cs typeface="Yu Gothic" pitchFamily="34" charset="-120"/>
              </a:rPr>
              <a:t>救済者×ガバナンスに戻すと</a:t>
            </a:r>
            <a:endParaRPr lang="en-US" sz="3000" dirty="0"/>
          </a:p>
        </p:txBody>
      </p:sp>
      <p:sp>
        <p:nvSpPr>
          <p:cNvPr id="3" name="Text 1"/>
          <p:cNvSpPr/>
          <p:nvPr/>
        </p:nvSpPr>
        <p:spPr>
          <a:xfrm>
            <a:off x="548640" y="1207008"/>
            <a:ext cx="11094415" cy="365760"/>
          </a:xfrm>
          <a:prstGeom prst="rect">
            <a:avLst/>
          </a:prstGeom>
          <a:noFill/>
          <a:ln/>
        </p:spPr>
        <p:txBody>
          <a:bodyPr wrap="square" lIns="0" tIns="0" rIns="0" bIns="0" rtlCol="0" anchor="ctr"/>
          <a:lstStyle/>
          <a:p>
            <a:pPr algn="l" indent="0" marL="0">
              <a:buNone/>
            </a:pPr>
            <a:r>
              <a:rPr lang="en-US" sz="1400" dirty="0">
                <a:solidFill>
                  <a:srgbClr val="9AA4C0"/>
                </a:solidFill>
                <a:latin typeface="Yu Gothic" pitchFamily="34" charset="0"/>
                <a:ea typeface="Yu Gothic" pitchFamily="34" charset="-122"/>
                <a:cs typeface="Yu Gothic" pitchFamily="34" charset="-120"/>
              </a:rPr>
              <a:t>同じ処方箋が、どの集団にも同じように効くわけではない。</a:t>
            </a:r>
            <a:endParaRPr lang="en-US" sz="1400" dirty="0"/>
          </a:p>
        </p:txBody>
      </p:sp>
      <p:sp>
        <p:nvSpPr>
          <p:cNvPr id="4" name="Shape 2"/>
          <p:cNvSpPr/>
          <p:nvPr/>
        </p:nvSpPr>
        <p:spPr>
          <a:xfrm>
            <a:off x="367132" y="1828800"/>
            <a:ext cx="5486400" cy="3611880"/>
          </a:xfrm>
          <a:prstGeom prst="roundRect">
            <a:avLst>
              <a:gd name="adj" fmla="val 3038"/>
            </a:avLst>
          </a:prstGeom>
          <a:solidFill>
            <a:srgbClr val="16213A"/>
          </a:solidFill>
          <a:ln/>
          <a:effectLst>
            <a:outerShdw sx="100000" sy="100000" kx="0" ky="0" algn="bl" rotWithShape="0" blurRad="101600" dist="38100" dir="5400000">
              <a:srgbClr val="000000">
                <a:alpha val="35000"/>
              </a:srgbClr>
            </a:outerShdw>
          </a:effectLst>
        </p:spPr>
      </p:sp>
      <p:sp>
        <p:nvSpPr>
          <p:cNvPr id="5" name="Shape 3"/>
          <p:cNvSpPr/>
          <p:nvPr/>
        </p:nvSpPr>
        <p:spPr>
          <a:xfrm>
            <a:off x="787756" y="2112264"/>
            <a:ext cx="713232" cy="713232"/>
          </a:xfrm>
          <a:prstGeom prst="ellipse">
            <a:avLst/>
          </a:prstGeom>
          <a:solidFill>
            <a:srgbClr val="E8A33D"/>
          </a:solidFill>
          <a:ln w="9525">
            <a:solidFill>
              <a:srgbClr val="E8A33D"/>
            </a:solidFill>
            <a:prstDash val="solid"/>
          </a:ln>
        </p:spPr>
      </p:sp>
      <p:pic>
        <p:nvPicPr>
          <p:cNvPr id="6" name="Image 0" descr="preencoded.png">    </p:cNvPr>
          <p:cNvPicPr>
            <a:picLocks noChangeAspect="1"/>
          </p:cNvPicPr>
          <p:nvPr/>
        </p:nvPicPr>
        <p:blipFill>
          <a:blip r:embed="rId1"/>
          <a:stretch>
            <a:fillRect/>
          </a:stretch>
        </p:blipFill>
        <p:spPr>
          <a:xfrm>
            <a:off x="973196" y="2297704"/>
            <a:ext cx="342351" cy="342351"/>
          </a:xfrm>
          <a:prstGeom prst="rect">
            <a:avLst/>
          </a:prstGeom>
        </p:spPr>
      </p:pic>
      <p:sp>
        <p:nvSpPr>
          <p:cNvPr id="7" name="Text 4"/>
          <p:cNvSpPr/>
          <p:nvPr/>
        </p:nvSpPr>
        <p:spPr>
          <a:xfrm>
            <a:off x="1693012" y="2194560"/>
            <a:ext cx="3931920" cy="365760"/>
          </a:xfrm>
          <a:prstGeom prst="rect">
            <a:avLst/>
          </a:prstGeom>
          <a:noFill/>
          <a:ln/>
        </p:spPr>
        <p:txBody>
          <a:bodyPr wrap="square" lIns="0" tIns="0" rIns="0" bIns="0" rtlCol="0" anchor="ctr"/>
          <a:lstStyle/>
          <a:p>
            <a:pPr indent="0" marL="0">
              <a:buNone/>
            </a:pPr>
            <a:r>
              <a:rPr lang="en-US" sz="1500" b="1" dirty="0">
                <a:solidFill>
                  <a:srgbClr val="E8A33D"/>
                </a:solidFill>
                <a:latin typeface="Yu Gothic" pitchFamily="34" charset="0"/>
                <a:ea typeface="Yu Gothic" pitchFamily="34" charset="-122"/>
                <a:cs typeface="Yu Gothic" pitchFamily="34" charset="-120"/>
              </a:rPr>
              <a:t>波及が強い集団</a:t>
            </a:r>
            <a:endParaRPr lang="en-US" sz="1500" dirty="0"/>
          </a:p>
        </p:txBody>
      </p:sp>
      <p:sp>
        <p:nvSpPr>
          <p:cNvPr id="8" name="Text 5"/>
          <p:cNvSpPr/>
          <p:nvPr/>
        </p:nvSpPr>
        <p:spPr>
          <a:xfrm>
            <a:off x="1693012" y="2578608"/>
            <a:ext cx="3931920" cy="310896"/>
          </a:xfrm>
          <a:prstGeom prst="rect">
            <a:avLst/>
          </a:prstGeom>
          <a:noFill/>
          <a:ln/>
        </p:spPr>
        <p:txBody>
          <a:bodyPr wrap="square" lIns="0" tIns="0" rIns="0" bIns="0" rtlCol="0" anchor="ctr"/>
          <a:lstStyle/>
          <a:p>
            <a:pPr indent="0" marL="0">
              <a:buNone/>
            </a:pPr>
            <a:r>
              <a:rPr lang="en-US" sz="1150" dirty="0">
                <a:solidFill>
                  <a:srgbClr val="9AA4C0"/>
                </a:solidFill>
                <a:latin typeface="Yu Gothic" pitchFamily="34" charset="0"/>
                <a:ea typeface="Yu Gothic" pitchFamily="34" charset="-122"/>
                <a:cs typeface="Yu Gothic" pitchFamily="34" charset="-120"/>
              </a:rPr>
              <a:t>一人を動かすと集団全体が動く</a:t>
            </a:r>
            <a:endParaRPr lang="en-US" sz="1150" dirty="0"/>
          </a:p>
        </p:txBody>
      </p:sp>
      <p:sp>
        <p:nvSpPr>
          <p:cNvPr id="9" name="Shape 6"/>
          <p:cNvSpPr/>
          <p:nvPr/>
        </p:nvSpPr>
        <p:spPr>
          <a:xfrm>
            <a:off x="778612" y="3246120"/>
            <a:ext cx="128016" cy="128016"/>
          </a:xfrm>
          <a:prstGeom prst="ellipse">
            <a:avLst/>
          </a:prstGeom>
          <a:solidFill>
            <a:srgbClr val="E8A33D"/>
          </a:solidFill>
          <a:ln/>
        </p:spPr>
      </p:sp>
      <p:sp>
        <p:nvSpPr>
          <p:cNvPr id="10" name="Text 7"/>
          <p:cNvSpPr/>
          <p:nvPr/>
        </p:nvSpPr>
        <p:spPr>
          <a:xfrm>
            <a:off x="1052932" y="3127248"/>
            <a:ext cx="4434840" cy="658368"/>
          </a:xfrm>
          <a:prstGeom prst="rect">
            <a:avLst/>
          </a:prstGeom>
          <a:noFill/>
          <a:ln/>
        </p:spPr>
        <p:txBody>
          <a:bodyPr wrap="square" lIns="0" tIns="0" rIns="0" bIns="0" rtlCol="0" anchor="ctr"/>
          <a:lstStyle/>
          <a:p>
            <a:pPr indent="0" marL="0">
              <a:lnSpc>
                <a:spcPct val="125000"/>
              </a:lnSpc>
              <a:buNone/>
            </a:pPr>
            <a:r>
              <a:rPr lang="en-US" sz="1150" dirty="0">
                <a:solidFill>
                  <a:srgbClr val="AFC9EE"/>
                </a:solidFill>
                <a:latin typeface="Yu Gothic" pitchFamily="34" charset="0"/>
                <a:ea typeface="Yu Gothic" pitchFamily="34" charset="-122"/>
                <a:cs typeface="Yu Gothic" pitchFamily="34" charset="-120"/>
              </a:rPr>
              <a:t>救済者への一点集中には構造的な合理性がある</a:t>
            </a:r>
            <a:endParaRPr lang="en-US" sz="1150" dirty="0"/>
          </a:p>
        </p:txBody>
      </p:sp>
      <p:sp>
        <p:nvSpPr>
          <p:cNvPr id="11" name="Shape 8"/>
          <p:cNvSpPr/>
          <p:nvPr/>
        </p:nvSpPr>
        <p:spPr>
          <a:xfrm>
            <a:off x="778612" y="3977640"/>
            <a:ext cx="128016" cy="128016"/>
          </a:xfrm>
          <a:prstGeom prst="ellipse">
            <a:avLst/>
          </a:prstGeom>
          <a:solidFill>
            <a:srgbClr val="E8A33D"/>
          </a:solidFill>
          <a:ln/>
        </p:spPr>
      </p:sp>
      <p:sp>
        <p:nvSpPr>
          <p:cNvPr id="12" name="Text 9"/>
          <p:cNvSpPr/>
          <p:nvPr/>
        </p:nvSpPr>
        <p:spPr>
          <a:xfrm>
            <a:off x="1052932" y="3858768"/>
            <a:ext cx="4434840" cy="658368"/>
          </a:xfrm>
          <a:prstGeom prst="rect">
            <a:avLst/>
          </a:prstGeom>
          <a:noFill/>
          <a:ln/>
        </p:spPr>
        <p:txBody>
          <a:bodyPr wrap="square" lIns="0" tIns="0" rIns="0" bIns="0" rtlCol="0" anchor="ctr"/>
          <a:lstStyle/>
          <a:p>
            <a:pPr indent="0" marL="0">
              <a:lnSpc>
                <a:spcPct val="125000"/>
              </a:lnSpc>
              <a:buNone/>
            </a:pPr>
            <a:r>
              <a:rPr lang="en-US" sz="1150" dirty="0">
                <a:solidFill>
                  <a:srgbClr val="AFC9EE"/>
                </a:solidFill>
                <a:latin typeface="Yu Gothic" pitchFamily="34" charset="0"/>
                <a:ea typeface="Yu Gothic" pitchFamily="34" charset="-122"/>
                <a:cs typeface="Yu Gothic" pitchFamily="34" charset="-120"/>
              </a:rPr>
              <a:t>「誰か一人を育てる／支える」が実際に最も効く打ち手になる</a:t>
            </a:r>
            <a:endParaRPr lang="en-US" sz="1150" dirty="0"/>
          </a:p>
        </p:txBody>
      </p:sp>
      <p:sp>
        <p:nvSpPr>
          <p:cNvPr id="13" name="Shape 10"/>
          <p:cNvSpPr/>
          <p:nvPr/>
        </p:nvSpPr>
        <p:spPr>
          <a:xfrm>
            <a:off x="778612" y="4709160"/>
            <a:ext cx="128016" cy="128016"/>
          </a:xfrm>
          <a:prstGeom prst="ellipse">
            <a:avLst/>
          </a:prstGeom>
          <a:solidFill>
            <a:srgbClr val="E8A33D"/>
          </a:solidFill>
          <a:ln/>
        </p:spPr>
      </p:sp>
      <p:sp>
        <p:nvSpPr>
          <p:cNvPr id="14" name="Text 11"/>
          <p:cNvSpPr/>
          <p:nvPr/>
        </p:nvSpPr>
        <p:spPr>
          <a:xfrm>
            <a:off x="1052932" y="4590288"/>
            <a:ext cx="4434840" cy="658368"/>
          </a:xfrm>
          <a:prstGeom prst="rect">
            <a:avLst/>
          </a:prstGeom>
          <a:noFill/>
          <a:ln/>
        </p:spPr>
        <p:txBody>
          <a:bodyPr wrap="square" lIns="0" tIns="0" rIns="0" bIns="0" rtlCol="0" anchor="ctr"/>
          <a:lstStyle/>
          <a:p>
            <a:pPr indent="0" marL="0">
              <a:lnSpc>
                <a:spcPct val="125000"/>
              </a:lnSpc>
              <a:buNone/>
            </a:pPr>
            <a:r>
              <a:rPr lang="en-US" sz="1150" dirty="0">
                <a:solidFill>
                  <a:srgbClr val="AFC9EE"/>
                </a:solidFill>
                <a:latin typeface="Yu Gothic" pitchFamily="34" charset="0"/>
                <a:ea typeface="Yu Gothic" pitchFamily="34" charset="-122"/>
                <a:cs typeface="Yu Gothic" pitchFamily="34" charset="-120"/>
              </a:rPr>
              <a:t>依存は怠慢ではなく、その集団で合理的だから起きている</a:t>
            </a:r>
            <a:endParaRPr lang="en-US" sz="1150" dirty="0"/>
          </a:p>
        </p:txBody>
      </p:sp>
      <p:sp>
        <p:nvSpPr>
          <p:cNvPr id="15" name="Shape 12"/>
          <p:cNvSpPr/>
          <p:nvPr/>
        </p:nvSpPr>
        <p:spPr>
          <a:xfrm>
            <a:off x="6338164" y="1828800"/>
            <a:ext cx="5486400" cy="3611880"/>
          </a:xfrm>
          <a:prstGeom prst="roundRect">
            <a:avLst>
              <a:gd name="adj" fmla="val 3038"/>
            </a:avLst>
          </a:prstGeom>
          <a:solidFill>
            <a:srgbClr val="16213A"/>
          </a:solidFill>
          <a:ln/>
          <a:effectLst>
            <a:outerShdw sx="100000" sy="100000" kx="0" ky="0" algn="bl" rotWithShape="0" blurRad="101600" dist="38100" dir="5400000">
              <a:srgbClr val="000000">
                <a:alpha val="35000"/>
              </a:srgbClr>
            </a:outerShdw>
          </a:effectLst>
        </p:spPr>
      </p:sp>
      <p:sp>
        <p:nvSpPr>
          <p:cNvPr id="16" name="Shape 13"/>
          <p:cNvSpPr/>
          <p:nvPr/>
        </p:nvSpPr>
        <p:spPr>
          <a:xfrm>
            <a:off x="6758788" y="2112264"/>
            <a:ext cx="713232" cy="713232"/>
          </a:xfrm>
          <a:prstGeom prst="ellipse">
            <a:avLst/>
          </a:prstGeom>
          <a:solidFill>
            <a:srgbClr val="5A8FD6"/>
          </a:solidFill>
          <a:ln w="9525">
            <a:solidFill>
              <a:srgbClr val="5A8FD6"/>
            </a:solidFill>
            <a:prstDash val="solid"/>
          </a:ln>
        </p:spPr>
      </p:sp>
      <p:pic>
        <p:nvPicPr>
          <p:cNvPr id="17" name="Image 1" descr="preencoded.png">    </p:cNvPr>
          <p:cNvPicPr>
            <a:picLocks noChangeAspect="1"/>
          </p:cNvPicPr>
          <p:nvPr/>
        </p:nvPicPr>
        <p:blipFill>
          <a:blip r:embed="rId2"/>
          <a:stretch>
            <a:fillRect/>
          </a:stretch>
        </p:blipFill>
        <p:spPr>
          <a:xfrm>
            <a:off x="6944228" y="2297704"/>
            <a:ext cx="342351" cy="342351"/>
          </a:xfrm>
          <a:prstGeom prst="rect">
            <a:avLst/>
          </a:prstGeom>
        </p:spPr>
      </p:pic>
      <p:sp>
        <p:nvSpPr>
          <p:cNvPr id="18" name="Text 14"/>
          <p:cNvSpPr/>
          <p:nvPr/>
        </p:nvSpPr>
        <p:spPr>
          <a:xfrm>
            <a:off x="7664044" y="2194560"/>
            <a:ext cx="3931920" cy="365760"/>
          </a:xfrm>
          <a:prstGeom prst="rect">
            <a:avLst/>
          </a:prstGeom>
          <a:noFill/>
          <a:ln/>
        </p:spPr>
        <p:txBody>
          <a:bodyPr wrap="square" lIns="0" tIns="0" rIns="0" bIns="0" rtlCol="0" anchor="ctr"/>
          <a:lstStyle/>
          <a:p>
            <a:pPr indent="0" marL="0">
              <a:buNone/>
            </a:pPr>
            <a:r>
              <a:rPr lang="en-US" sz="1500" b="1" dirty="0">
                <a:solidFill>
                  <a:srgbClr val="5A8FD6"/>
                </a:solidFill>
                <a:latin typeface="Yu Gothic" pitchFamily="34" charset="0"/>
                <a:ea typeface="Yu Gothic" pitchFamily="34" charset="-122"/>
                <a:cs typeface="Yu Gothic" pitchFamily="34" charset="-120"/>
              </a:rPr>
              <a:t>判断が独立した集団</a:t>
            </a:r>
            <a:endParaRPr lang="en-US" sz="1500" dirty="0"/>
          </a:p>
        </p:txBody>
      </p:sp>
      <p:sp>
        <p:nvSpPr>
          <p:cNvPr id="19" name="Text 15"/>
          <p:cNvSpPr/>
          <p:nvPr/>
        </p:nvSpPr>
        <p:spPr>
          <a:xfrm>
            <a:off x="7664044" y="2578608"/>
            <a:ext cx="3931920" cy="310896"/>
          </a:xfrm>
          <a:prstGeom prst="rect">
            <a:avLst/>
          </a:prstGeom>
          <a:noFill/>
          <a:ln/>
        </p:spPr>
        <p:txBody>
          <a:bodyPr wrap="square" lIns="0" tIns="0" rIns="0" bIns="0" rtlCol="0" anchor="ctr"/>
          <a:lstStyle/>
          <a:p>
            <a:pPr indent="0" marL="0">
              <a:buNone/>
            </a:pPr>
            <a:r>
              <a:rPr lang="en-US" sz="1150" dirty="0">
                <a:solidFill>
                  <a:srgbClr val="9AA4C0"/>
                </a:solidFill>
                <a:latin typeface="Yu Gothic" pitchFamily="34" charset="0"/>
                <a:ea typeface="Yu Gothic" pitchFamily="34" charset="-122"/>
                <a:cs typeface="Yu Gothic" pitchFamily="34" charset="-120"/>
              </a:rPr>
              <a:t>一人を動かしても集団は動かない</a:t>
            </a:r>
            <a:endParaRPr lang="en-US" sz="1150" dirty="0"/>
          </a:p>
        </p:txBody>
      </p:sp>
      <p:sp>
        <p:nvSpPr>
          <p:cNvPr id="20" name="Shape 16"/>
          <p:cNvSpPr/>
          <p:nvPr/>
        </p:nvSpPr>
        <p:spPr>
          <a:xfrm>
            <a:off x="6749644" y="3246120"/>
            <a:ext cx="128016" cy="128016"/>
          </a:xfrm>
          <a:prstGeom prst="ellipse">
            <a:avLst/>
          </a:prstGeom>
          <a:solidFill>
            <a:srgbClr val="5A8FD6"/>
          </a:solidFill>
          <a:ln/>
        </p:spPr>
      </p:sp>
      <p:sp>
        <p:nvSpPr>
          <p:cNvPr id="21" name="Text 17"/>
          <p:cNvSpPr/>
          <p:nvPr/>
        </p:nvSpPr>
        <p:spPr>
          <a:xfrm>
            <a:off x="7023964" y="3127248"/>
            <a:ext cx="4434840" cy="658368"/>
          </a:xfrm>
          <a:prstGeom prst="rect">
            <a:avLst/>
          </a:prstGeom>
          <a:noFill/>
          <a:ln/>
        </p:spPr>
        <p:txBody>
          <a:bodyPr wrap="square" lIns="0" tIns="0" rIns="0" bIns="0" rtlCol="0" anchor="ctr"/>
          <a:lstStyle/>
          <a:p>
            <a:pPr indent="0" marL="0">
              <a:lnSpc>
                <a:spcPct val="125000"/>
              </a:lnSpc>
              <a:buNone/>
            </a:pPr>
            <a:r>
              <a:rPr lang="en-US" sz="1150" dirty="0">
                <a:solidFill>
                  <a:srgbClr val="AFC9EE"/>
                </a:solidFill>
                <a:latin typeface="Yu Gothic" pitchFamily="34" charset="0"/>
                <a:ea typeface="Yu Gothic" pitchFamily="34" charset="-122"/>
                <a:cs typeface="Yu Gothic" pitchFamily="34" charset="-120"/>
              </a:rPr>
              <a:t>キーパーソンを立てる施策が通用しない</a:t>
            </a:r>
            <a:endParaRPr lang="en-US" sz="1150" dirty="0"/>
          </a:p>
        </p:txBody>
      </p:sp>
      <p:sp>
        <p:nvSpPr>
          <p:cNvPr id="22" name="Shape 18"/>
          <p:cNvSpPr/>
          <p:nvPr/>
        </p:nvSpPr>
        <p:spPr>
          <a:xfrm>
            <a:off x="6749644" y="3977640"/>
            <a:ext cx="128016" cy="128016"/>
          </a:xfrm>
          <a:prstGeom prst="ellipse">
            <a:avLst/>
          </a:prstGeom>
          <a:solidFill>
            <a:srgbClr val="5A8FD6"/>
          </a:solidFill>
          <a:ln/>
        </p:spPr>
      </p:sp>
      <p:sp>
        <p:nvSpPr>
          <p:cNvPr id="23" name="Text 19"/>
          <p:cNvSpPr/>
          <p:nvPr/>
        </p:nvSpPr>
        <p:spPr>
          <a:xfrm>
            <a:off x="7023964" y="3858768"/>
            <a:ext cx="4434840" cy="658368"/>
          </a:xfrm>
          <a:prstGeom prst="rect">
            <a:avLst/>
          </a:prstGeom>
          <a:noFill/>
          <a:ln/>
        </p:spPr>
        <p:txBody>
          <a:bodyPr wrap="square" lIns="0" tIns="0" rIns="0" bIns="0" rtlCol="0" anchor="ctr"/>
          <a:lstStyle/>
          <a:p>
            <a:pPr indent="0" marL="0">
              <a:lnSpc>
                <a:spcPct val="125000"/>
              </a:lnSpc>
              <a:buNone/>
            </a:pPr>
            <a:r>
              <a:rPr lang="en-US" sz="1150" dirty="0">
                <a:solidFill>
                  <a:srgbClr val="AFC9EE"/>
                </a:solidFill>
                <a:latin typeface="Yu Gothic" pitchFamily="34" charset="0"/>
                <a:ea typeface="Yu Gothic" pitchFamily="34" charset="-122"/>
                <a:cs typeface="Yu Gothic" pitchFamily="34" charset="-120"/>
              </a:rPr>
              <a:t>複数の参加経路や意思決定の仕組みが要る</a:t>
            </a:r>
            <a:endParaRPr lang="en-US" sz="1150" dirty="0"/>
          </a:p>
        </p:txBody>
      </p:sp>
      <p:sp>
        <p:nvSpPr>
          <p:cNvPr id="24" name="Shape 20"/>
          <p:cNvSpPr/>
          <p:nvPr/>
        </p:nvSpPr>
        <p:spPr>
          <a:xfrm>
            <a:off x="6749644" y="4709160"/>
            <a:ext cx="128016" cy="128016"/>
          </a:xfrm>
          <a:prstGeom prst="ellipse">
            <a:avLst/>
          </a:prstGeom>
          <a:solidFill>
            <a:srgbClr val="5A8FD6"/>
          </a:solidFill>
          <a:ln/>
        </p:spPr>
      </p:sp>
      <p:sp>
        <p:nvSpPr>
          <p:cNvPr id="25" name="Text 21"/>
          <p:cNvSpPr/>
          <p:nvPr/>
        </p:nvSpPr>
        <p:spPr>
          <a:xfrm>
            <a:off x="7023964" y="4590288"/>
            <a:ext cx="4434840" cy="658368"/>
          </a:xfrm>
          <a:prstGeom prst="rect">
            <a:avLst/>
          </a:prstGeom>
          <a:noFill/>
          <a:ln/>
        </p:spPr>
        <p:txBody>
          <a:bodyPr wrap="square" lIns="0" tIns="0" rIns="0" bIns="0" rtlCol="0" anchor="ctr"/>
          <a:lstStyle/>
          <a:p>
            <a:pPr indent="0" marL="0">
              <a:lnSpc>
                <a:spcPct val="125000"/>
              </a:lnSpc>
              <a:buNone/>
            </a:pPr>
            <a:r>
              <a:rPr lang="en-US" sz="1150" dirty="0">
                <a:solidFill>
                  <a:srgbClr val="AFC9EE"/>
                </a:solidFill>
                <a:latin typeface="Yu Gothic" pitchFamily="34" charset="0"/>
                <a:ea typeface="Yu Gothic" pitchFamily="34" charset="-122"/>
                <a:cs typeface="Yu Gothic" pitchFamily="34" charset="-120"/>
              </a:rPr>
              <a:t>変えるべきは人ではなく、制度と場のほう</a:t>
            </a:r>
            <a:endParaRPr lang="en-US" sz="1150" dirty="0"/>
          </a:p>
        </p:txBody>
      </p:sp>
      <p:sp>
        <p:nvSpPr>
          <p:cNvPr id="26" name="Shape 22"/>
          <p:cNvSpPr/>
          <p:nvPr/>
        </p:nvSpPr>
        <p:spPr>
          <a:xfrm>
            <a:off x="548640" y="5669280"/>
            <a:ext cx="11091672" cy="749808"/>
          </a:xfrm>
          <a:prstGeom prst="roundRect">
            <a:avLst>
              <a:gd name="adj" fmla="val 12195"/>
            </a:avLst>
          </a:prstGeom>
          <a:solidFill>
            <a:srgbClr val="1C2C4A"/>
          </a:solidFill>
          <a:ln/>
          <a:effectLst>
            <a:outerShdw sx="100000" sy="100000" kx="0" ky="0" algn="bl" rotWithShape="0" blurRad="101600" dist="38100" dir="5400000">
              <a:srgbClr val="000000">
                <a:alpha val="35000"/>
              </a:srgbClr>
            </a:outerShdw>
          </a:effectLst>
        </p:spPr>
      </p:sp>
      <p:sp>
        <p:nvSpPr>
          <p:cNvPr id="27" name="Text 23"/>
          <p:cNvSpPr/>
          <p:nvPr/>
        </p:nvSpPr>
        <p:spPr>
          <a:xfrm>
            <a:off x="868680" y="5669280"/>
            <a:ext cx="10515600" cy="749808"/>
          </a:xfrm>
          <a:prstGeom prst="rect">
            <a:avLst/>
          </a:prstGeom>
          <a:noFill/>
          <a:ln/>
        </p:spPr>
        <p:txBody>
          <a:bodyPr wrap="square" lIns="0" tIns="0" rIns="0" bIns="0" rtlCol="0" anchor="ctr"/>
          <a:lstStyle/>
          <a:p>
            <a:pPr indent="0" marL="0">
              <a:buNone/>
            </a:pPr>
            <a:r>
              <a:rPr lang="en-US" sz="1350" b="1" dirty="0">
                <a:solidFill>
                  <a:srgbClr val="F4C878"/>
                </a:solidFill>
                <a:latin typeface="Yu Gothic" pitchFamily="34" charset="0"/>
                <a:ea typeface="Yu Gothic" pitchFamily="34" charset="-122"/>
                <a:cs typeface="Yu Gothic" pitchFamily="34" charset="-120"/>
              </a:rPr>
              <a:t>「救済者に依存するな」「権限を分散せよ」は、集団のタイプを見ないまま打つと、効く集団とまったく効かない集団に分かれる。</a:t>
            </a:r>
            <a:endParaRPr lang="en-US" sz="1350" dirty="0"/>
          </a:p>
        </p:txBody>
      </p:sp>
      <p:sp>
        <p:nvSpPr>
          <p:cNvPr id="28" name="Text 24"/>
          <p:cNvSpPr/>
          <p:nvPr/>
        </p:nvSpPr>
        <p:spPr>
          <a:xfrm>
            <a:off x="548640" y="6473952"/>
            <a:ext cx="4572000" cy="274320"/>
          </a:xfrm>
          <a:prstGeom prst="rect">
            <a:avLst/>
          </a:prstGeom>
          <a:noFill/>
          <a:ln/>
        </p:spPr>
        <p:txBody>
          <a:bodyPr wrap="square" lIns="0" tIns="0" rIns="0" bIns="0" rtlCol="0" anchor="ctr"/>
          <a:lstStyle/>
          <a:p>
            <a:pPr indent="0" marL="0">
              <a:buNone/>
            </a:pPr>
            <a:r>
              <a:rPr lang="en-US" sz="900" dirty="0">
                <a:solidFill>
                  <a:srgbClr val="5B6480"/>
                </a:solidFill>
                <a:latin typeface="Yu Gothic" pitchFamily="34" charset="0"/>
                <a:ea typeface="Yu Gothic" pitchFamily="34" charset="-122"/>
                <a:cs typeface="Yu Gothic" pitchFamily="34" charset="-120"/>
              </a:rPr>
              <a:t>救済者 × ガバナンス</a:t>
            </a:r>
            <a:endParaRPr lang="en-US" sz="900" dirty="0"/>
          </a:p>
        </p:txBody>
      </p:sp>
      <p:sp>
        <p:nvSpPr>
          <p:cNvPr id="29" name="Text 25"/>
          <p:cNvSpPr/>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B1220"/>
        </a:solidFill>
      </p:bgPr>
    </p:bg>
    <p:spTree>
      <p:nvGrpSpPr>
        <p:cNvPr id="1" name=""/>
        <p:cNvGrpSpPr/>
        <p:nvPr/>
      </p:nvGrpSpPr>
      <p:grpSpPr>
        <a:xfrm>
          <a:off x="0" y="0"/>
          <a:ext cx="0" cy="0"/>
          <a:chOff x="0" y="0"/>
          <a:chExt cx="0" cy="0"/>
        </a:xfrm>
      </p:grpSpPr>
      <p:sp>
        <p:nvSpPr>
          <p:cNvPr id="2" name="Shape 0"/>
          <p:cNvSpPr/>
          <p:nvPr/>
        </p:nvSpPr>
        <p:spPr>
          <a:xfrm>
            <a:off x="5190592" y="512064"/>
            <a:ext cx="1810512" cy="1810512"/>
          </a:xfrm>
          <a:prstGeom prst="ellipse">
            <a:avLst/>
          </a:prstGeom>
          <a:solidFill>
            <a:srgbClr val="E8A33D">
              <a:alpha val="12000"/>
            </a:srgbClr>
          </a:solidFill>
          <a:ln/>
        </p:spPr>
      </p:sp>
      <p:sp>
        <p:nvSpPr>
          <p:cNvPr id="3" name="Shape 1"/>
          <p:cNvSpPr/>
          <p:nvPr/>
        </p:nvSpPr>
        <p:spPr>
          <a:xfrm>
            <a:off x="5437480" y="758952"/>
            <a:ext cx="1316736" cy="1316736"/>
          </a:xfrm>
          <a:prstGeom prst="ellipse">
            <a:avLst/>
          </a:prstGeom>
          <a:solidFill>
            <a:srgbClr val="E8A33D">
              <a:alpha val="22000"/>
            </a:srgbClr>
          </a:solidFill>
          <a:ln/>
        </p:spPr>
      </p:sp>
      <p:sp>
        <p:nvSpPr>
          <p:cNvPr id="4" name="Shape 2"/>
          <p:cNvSpPr/>
          <p:nvPr/>
        </p:nvSpPr>
        <p:spPr>
          <a:xfrm>
            <a:off x="5684368" y="1005840"/>
            <a:ext cx="822960" cy="822960"/>
          </a:xfrm>
          <a:prstGeom prst="ellipse">
            <a:avLst/>
          </a:prstGeom>
          <a:solidFill>
            <a:srgbClr val="E8A33D"/>
          </a:solidFill>
          <a:ln w="9525">
            <a:solidFill>
              <a:srgbClr val="E8A33D"/>
            </a:solidFill>
            <a:prstDash val="solid"/>
          </a:ln>
        </p:spPr>
      </p:sp>
      <p:pic>
        <p:nvPicPr>
          <p:cNvPr id="5" name="Image 0" descr="preencoded.png">    </p:cNvPr>
          <p:cNvPicPr>
            <a:picLocks noChangeAspect="1"/>
          </p:cNvPicPr>
          <p:nvPr/>
        </p:nvPicPr>
        <p:blipFill>
          <a:blip r:embed="rId1"/>
          <a:stretch>
            <a:fillRect/>
          </a:stretch>
        </p:blipFill>
        <p:spPr>
          <a:xfrm>
            <a:off x="5898337" y="1219810"/>
            <a:ext cx="395021" cy="395021"/>
          </a:xfrm>
          <a:prstGeom prst="rect">
            <a:avLst/>
          </a:prstGeom>
        </p:spPr>
      </p:pic>
      <p:sp>
        <p:nvSpPr>
          <p:cNvPr id="6" name="Text 3"/>
          <p:cNvSpPr/>
          <p:nvPr/>
        </p:nvSpPr>
        <p:spPr>
          <a:xfrm>
            <a:off x="0" y="1965960"/>
            <a:ext cx="12191695" cy="731520"/>
          </a:xfrm>
          <a:prstGeom prst="rect">
            <a:avLst/>
          </a:prstGeom>
          <a:noFill/>
          <a:ln/>
        </p:spPr>
        <p:txBody>
          <a:bodyPr wrap="square" lIns="0" tIns="0" rIns="0" bIns="0" rtlCol="0" anchor="ctr"/>
          <a:lstStyle/>
          <a:p>
            <a:pPr algn="ctr" indent="0" marL="0">
              <a:buNone/>
            </a:pPr>
            <a:r>
              <a:rPr lang="en-US" sz="3400" b="1" dirty="0">
                <a:solidFill>
                  <a:srgbClr val="FFFFFF"/>
                </a:solidFill>
                <a:latin typeface="Yu Gothic" pitchFamily="34" charset="0"/>
                <a:ea typeface="Yu Gothic" pitchFamily="34" charset="-122"/>
                <a:cs typeface="Yu Gothic" pitchFamily="34" charset="-120"/>
              </a:rPr>
              <a:t>救済者 × ガバナンス</a:t>
            </a:r>
            <a:endParaRPr lang="en-US" sz="3400" dirty="0"/>
          </a:p>
        </p:txBody>
      </p:sp>
      <p:sp>
        <p:nvSpPr>
          <p:cNvPr id="7" name="Text 4"/>
          <p:cNvSpPr/>
          <p:nvPr/>
        </p:nvSpPr>
        <p:spPr>
          <a:xfrm>
            <a:off x="0" y="2651760"/>
            <a:ext cx="12191695" cy="411480"/>
          </a:xfrm>
          <a:prstGeom prst="rect">
            <a:avLst/>
          </a:prstGeom>
          <a:noFill/>
          <a:ln/>
        </p:spPr>
        <p:txBody>
          <a:bodyPr wrap="square" lIns="0" tIns="0" rIns="0" bIns="0" rtlCol="0" anchor="ctr"/>
          <a:lstStyle/>
          <a:p>
            <a:pPr algn="ctr" indent="0" marL="0">
              <a:buNone/>
            </a:pPr>
            <a:r>
              <a:rPr lang="en-US" sz="1500" dirty="0">
                <a:solidFill>
                  <a:srgbClr val="AFC9EE"/>
                </a:solidFill>
                <a:latin typeface="Yu Gothic" pitchFamily="34" charset="0"/>
                <a:ea typeface="Yu Gothic" pitchFamily="34" charset="-122"/>
                <a:cs typeface="Yu Gothic" pitchFamily="34" charset="-120"/>
              </a:rPr>
              <a:t>神が降りなくても、村は回るか</a:t>
            </a:r>
            <a:endParaRPr lang="en-US" sz="1500" dirty="0"/>
          </a:p>
        </p:txBody>
      </p:sp>
      <p:sp>
        <p:nvSpPr>
          <p:cNvPr id="8" name="Shape 5"/>
          <p:cNvSpPr/>
          <p:nvPr/>
        </p:nvSpPr>
        <p:spPr>
          <a:xfrm>
            <a:off x="609448" y="3337560"/>
            <a:ext cx="3474720" cy="1371600"/>
          </a:xfrm>
          <a:prstGeom prst="roundRect">
            <a:avLst>
              <a:gd name="adj" fmla="val 8000"/>
            </a:avLst>
          </a:prstGeom>
          <a:solidFill>
            <a:srgbClr val="16213A"/>
          </a:solidFill>
          <a:ln/>
          <a:effectLst>
            <a:outerShdw sx="100000" sy="100000" kx="0" ky="0" algn="bl" rotWithShape="0" blurRad="101600" dist="38100" dir="5400000">
              <a:srgbClr val="000000">
                <a:alpha val="35000"/>
              </a:srgbClr>
            </a:outerShdw>
          </a:effectLst>
        </p:spPr>
      </p:sp>
      <p:sp>
        <p:nvSpPr>
          <p:cNvPr id="9" name="Text 6"/>
          <p:cNvSpPr/>
          <p:nvPr/>
        </p:nvSpPr>
        <p:spPr>
          <a:xfrm>
            <a:off x="792328" y="3474720"/>
            <a:ext cx="3108960" cy="502920"/>
          </a:xfrm>
          <a:prstGeom prst="rect">
            <a:avLst/>
          </a:prstGeom>
          <a:noFill/>
          <a:ln/>
        </p:spPr>
        <p:txBody>
          <a:bodyPr wrap="square" lIns="0" tIns="0" rIns="0" bIns="0" rtlCol="0" anchor="ctr"/>
          <a:lstStyle/>
          <a:p>
            <a:pPr algn="ctr" indent="0" marL="0">
              <a:buNone/>
            </a:pPr>
            <a:r>
              <a:rPr lang="en-US" sz="1900" b="1" dirty="0">
                <a:solidFill>
                  <a:srgbClr val="5A8FD6"/>
                </a:solidFill>
                <a:latin typeface="Yu Gothic" pitchFamily="34" charset="0"/>
                <a:ea typeface="Yu Gothic" pitchFamily="34" charset="-122"/>
                <a:cs typeface="Yu Gothic" pitchFamily="34" charset="-120"/>
              </a:rPr>
              <a:t>本人は同じだけ変わった</a:t>
            </a:r>
            <a:endParaRPr lang="en-US" sz="1900" dirty="0"/>
          </a:p>
        </p:txBody>
      </p:sp>
      <p:sp>
        <p:nvSpPr>
          <p:cNvPr id="10" name="Text 7"/>
          <p:cNvSpPr/>
          <p:nvPr/>
        </p:nvSpPr>
        <p:spPr>
          <a:xfrm>
            <a:off x="838048" y="4023360"/>
            <a:ext cx="3017520" cy="594360"/>
          </a:xfrm>
          <a:prstGeom prst="rect">
            <a:avLst/>
          </a:prstGeom>
          <a:noFill/>
          <a:ln/>
        </p:spPr>
        <p:txBody>
          <a:bodyPr wrap="square" lIns="0" tIns="0" rIns="0" bIns="0" rtlCol="0" anchor="ctr"/>
          <a:lstStyle/>
          <a:p>
            <a:pPr algn="ctr" indent="0" marL="0">
              <a:lnSpc>
                <a:spcPct val="125000"/>
              </a:lnSpc>
              <a:buNone/>
            </a:pPr>
            <a:r>
              <a:rPr lang="en-US" sz="1100" dirty="0">
                <a:solidFill>
                  <a:srgbClr val="9AA4C0"/>
                </a:solidFill>
                <a:latin typeface="Yu Gothic" pitchFamily="34" charset="0"/>
                <a:ea typeface="Yu Gothic" pitchFamily="34" charset="-122"/>
                <a:cs typeface="Yu Gothic" pitchFamily="34" charset="-120"/>
              </a:rPr>
              <a:t>同じ介入でキーパーソン本人の変化量はほぼ互角（44.4対50.0）</a:t>
            </a:r>
            <a:endParaRPr lang="en-US" sz="1100" dirty="0"/>
          </a:p>
        </p:txBody>
      </p:sp>
      <p:sp>
        <p:nvSpPr>
          <p:cNvPr id="11" name="Shape 8"/>
          <p:cNvSpPr/>
          <p:nvPr/>
        </p:nvSpPr>
        <p:spPr>
          <a:xfrm>
            <a:off x="4358488" y="3337560"/>
            <a:ext cx="3474720" cy="1371600"/>
          </a:xfrm>
          <a:prstGeom prst="roundRect">
            <a:avLst>
              <a:gd name="adj" fmla="val 8000"/>
            </a:avLst>
          </a:prstGeom>
          <a:solidFill>
            <a:srgbClr val="16213A"/>
          </a:solidFill>
          <a:ln/>
          <a:effectLst>
            <a:outerShdw sx="100000" sy="100000" kx="0" ky="0" algn="bl" rotWithShape="0" blurRad="101600" dist="38100" dir="5400000">
              <a:srgbClr val="000000">
                <a:alpha val="35000"/>
              </a:srgbClr>
            </a:outerShdw>
          </a:effectLst>
        </p:spPr>
      </p:sp>
      <p:sp>
        <p:nvSpPr>
          <p:cNvPr id="12" name="Text 9"/>
          <p:cNvSpPr/>
          <p:nvPr/>
        </p:nvSpPr>
        <p:spPr>
          <a:xfrm>
            <a:off x="4541368" y="3474720"/>
            <a:ext cx="3108960" cy="502920"/>
          </a:xfrm>
          <a:prstGeom prst="rect">
            <a:avLst/>
          </a:prstGeom>
          <a:noFill/>
          <a:ln/>
        </p:spPr>
        <p:txBody>
          <a:bodyPr wrap="square" lIns="0" tIns="0" rIns="0" bIns="0" rtlCol="0" anchor="ctr"/>
          <a:lstStyle/>
          <a:p>
            <a:pPr algn="ctr" indent="0" marL="0">
              <a:buNone/>
            </a:pPr>
            <a:r>
              <a:rPr lang="en-US" sz="1900" b="1" dirty="0">
                <a:solidFill>
                  <a:srgbClr val="E2665A"/>
                </a:solidFill>
                <a:latin typeface="Yu Gothic" pitchFamily="34" charset="0"/>
                <a:ea typeface="Yu Gothic" pitchFamily="34" charset="-122"/>
                <a:cs typeface="Yu Gothic" pitchFamily="34" charset="-120"/>
              </a:rPr>
              <a:t>でも集団の結果は割れた</a:t>
            </a:r>
            <a:endParaRPr lang="en-US" sz="1900" dirty="0"/>
          </a:p>
        </p:txBody>
      </p:sp>
      <p:sp>
        <p:nvSpPr>
          <p:cNvPr id="13" name="Text 10"/>
          <p:cNvSpPr/>
          <p:nvPr/>
        </p:nvSpPr>
        <p:spPr>
          <a:xfrm>
            <a:off x="4587088" y="4023360"/>
            <a:ext cx="3017520" cy="594360"/>
          </a:xfrm>
          <a:prstGeom prst="rect">
            <a:avLst/>
          </a:prstGeom>
          <a:noFill/>
          <a:ln/>
        </p:spPr>
        <p:txBody>
          <a:bodyPr wrap="square" lIns="0" tIns="0" rIns="0" bIns="0" rtlCol="0" anchor="ctr"/>
          <a:lstStyle/>
          <a:p>
            <a:pPr algn="ctr" indent="0" marL="0">
              <a:lnSpc>
                <a:spcPct val="125000"/>
              </a:lnSpc>
              <a:buNone/>
            </a:pPr>
            <a:r>
              <a:rPr lang="en-US" sz="1100" dirty="0">
                <a:solidFill>
                  <a:srgbClr val="9AA4C0"/>
                </a:solidFill>
                <a:latin typeface="Yu Gothic" pitchFamily="34" charset="0"/>
                <a:ea typeface="Yu Gothic" pitchFamily="34" charset="-122"/>
                <a:cs typeface="Yu Gothic" pitchFamily="34" charset="-120"/>
              </a:rPr>
              <a:t>村全体の自律度は +18.0 と −1.2。周囲の変化量は22.2対8.3</a:t>
            </a:r>
            <a:endParaRPr lang="en-US" sz="1100" dirty="0"/>
          </a:p>
        </p:txBody>
      </p:sp>
      <p:sp>
        <p:nvSpPr>
          <p:cNvPr id="14" name="Shape 11"/>
          <p:cNvSpPr/>
          <p:nvPr/>
        </p:nvSpPr>
        <p:spPr>
          <a:xfrm>
            <a:off x="8107528" y="3337560"/>
            <a:ext cx="3474720" cy="1371600"/>
          </a:xfrm>
          <a:prstGeom prst="roundRect">
            <a:avLst>
              <a:gd name="adj" fmla="val 8000"/>
            </a:avLst>
          </a:prstGeom>
          <a:solidFill>
            <a:srgbClr val="16213A"/>
          </a:solidFill>
          <a:ln/>
          <a:effectLst>
            <a:outerShdw sx="100000" sy="100000" kx="0" ky="0" algn="bl" rotWithShape="0" blurRad="101600" dist="38100" dir="5400000">
              <a:srgbClr val="000000">
                <a:alpha val="35000"/>
              </a:srgbClr>
            </a:outerShdw>
          </a:effectLst>
        </p:spPr>
      </p:sp>
      <p:sp>
        <p:nvSpPr>
          <p:cNvPr id="15" name="Text 12"/>
          <p:cNvSpPr/>
          <p:nvPr/>
        </p:nvSpPr>
        <p:spPr>
          <a:xfrm>
            <a:off x="8290408" y="3474720"/>
            <a:ext cx="3108960" cy="502920"/>
          </a:xfrm>
          <a:prstGeom prst="rect">
            <a:avLst/>
          </a:prstGeom>
          <a:noFill/>
          <a:ln/>
        </p:spPr>
        <p:txBody>
          <a:bodyPr wrap="square" lIns="0" tIns="0" rIns="0" bIns="0" rtlCol="0" anchor="ctr"/>
          <a:lstStyle/>
          <a:p>
            <a:pPr algn="ctr" indent="0" marL="0">
              <a:buNone/>
            </a:pPr>
            <a:r>
              <a:rPr lang="en-US" sz="1900" b="1" dirty="0">
                <a:solidFill>
                  <a:srgbClr val="1BAF7A"/>
                </a:solidFill>
                <a:latin typeface="Yu Gothic" pitchFamily="34" charset="0"/>
                <a:ea typeface="Yu Gothic" pitchFamily="34" charset="-122"/>
                <a:cs typeface="Yu Gothic" pitchFamily="34" charset="-120"/>
              </a:rPr>
              <a:t>対応していたのは周囲の側</a:t>
            </a:r>
            <a:endParaRPr lang="en-US" sz="1900" dirty="0"/>
          </a:p>
        </p:txBody>
      </p:sp>
      <p:sp>
        <p:nvSpPr>
          <p:cNvPr id="16" name="Text 13"/>
          <p:cNvSpPr/>
          <p:nvPr/>
        </p:nvSpPr>
        <p:spPr>
          <a:xfrm>
            <a:off x="8336128" y="4023360"/>
            <a:ext cx="3017520" cy="594360"/>
          </a:xfrm>
          <a:prstGeom prst="rect">
            <a:avLst/>
          </a:prstGeom>
          <a:noFill/>
          <a:ln/>
        </p:spPr>
        <p:txBody>
          <a:bodyPr wrap="square" lIns="0" tIns="0" rIns="0" bIns="0" rtlCol="0" anchor="ctr"/>
          <a:lstStyle/>
          <a:p>
            <a:pPr algn="ctr" indent="0" marL="0">
              <a:lnSpc>
                <a:spcPct val="125000"/>
              </a:lnSpc>
              <a:buNone/>
            </a:pPr>
            <a:r>
              <a:rPr lang="en-US" sz="1100" dirty="0">
                <a:solidFill>
                  <a:srgbClr val="9AA4C0"/>
                </a:solidFill>
                <a:latin typeface="Yu Gothic" pitchFamily="34" charset="0"/>
                <a:ea typeface="Yu Gothic" pitchFamily="34" charset="-122"/>
                <a:cs typeface="Yu Gothic" pitchFamily="34" charset="-120"/>
              </a:rPr>
              <a:t>村の変化は、介入の反映量より周囲の挙動変化と対応していた</a:t>
            </a:r>
            <a:endParaRPr lang="en-US" sz="1100" dirty="0"/>
          </a:p>
        </p:txBody>
      </p:sp>
      <p:sp>
        <p:nvSpPr>
          <p:cNvPr id="17" name="Text 14"/>
          <p:cNvSpPr/>
          <p:nvPr/>
        </p:nvSpPr>
        <p:spPr>
          <a:xfrm>
            <a:off x="0" y="5074920"/>
            <a:ext cx="12191695" cy="320040"/>
          </a:xfrm>
          <a:prstGeom prst="rect">
            <a:avLst/>
          </a:prstGeom>
          <a:noFill/>
          <a:ln/>
        </p:spPr>
        <p:txBody>
          <a:bodyPr wrap="square" lIns="0" tIns="0" rIns="0" bIns="0" rtlCol="0" anchor="ctr"/>
          <a:lstStyle/>
          <a:p>
            <a:pPr algn="ctr" indent="0" marL="0">
              <a:buNone/>
            </a:pPr>
            <a:r>
              <a:rPr lang="en-US" sz="1200" dirty="0">
                <a:solidFill>
                  <a:srgbClr val="9AA4C0"/>
                </a:solidFill>
                <a:latin typeface="Yu Gothic" pitchFamily="34" charset="0"/>
                <a:ea typeface="Yu Gothic" pitchFamily="34" charset="-122"/>
                <a:cs typeface="Yu Gothic" pitchFamily="34" charset="-120"/>
              </a:rPr>
              <a:t>実装はClaude（Anthropic）との二人三脚で、企画・レビュー・考察を担当</a:t>
            </a:r>
            <a:endParaRPr lang="en-US" sz="1200" dirty="0"/>
          </a:p>
        </p:txBody>
      </p:sp>
      <p:sp>
        <p:nvSpPr>
          <p:cNvPr id="18" name="Text 15"/>
          <p:cNvSpPr/>
          <p:nvPr/>
        </p:nvSpPr>
        <p:spPr>
          <a:xfrm>
            <a:off x="0" y="6035040"/>
            <a:ext cx="12191695" cy="274320"/>
          </a:xfrm>
          <a:prstGeom prst="rect">
            <a:avLst/>
          </a:prstGeom>
          <a:noFill/>
          <a:ln/>
        </p:spPr>
        <p:txBody>
          <a:bodyPr wrap="square" lIns="0" tIns="0" rIns="0" bIns="0" rtlCol="0" anchor="ctr"/>
          <a:lstStyle/>
          <a:p>
            <a:pPr algn="ctr" indent="0" marL="0">
              <a:buNone/>
            </a:pPr>
            <a:r>
              <a:rPr lang="en-US" sz="1100" dirty="0">
                <a:solidFill>
                  <a:srgbClr val="5B6480"/>
                </a:solidFill>
                <a:latin typeface="Yu Gothic" pitchFamily="34" charset="0"/>
                <a:ea typeface="Yu Gothic" pitchFamily="34" charset="-122"/>
                <a:cs typeface="Yu Gothic" pitchFamily="34" charset="-120"/>
              </a:rPr>
              <a:t>github.com/sakurako-cottoncandy/beyond-the-savior</a:t>
            </a:r>
            <a:endParaRPr lang="en-US" sz="1100" dirty="0"/>
          </a:p>
        </p:txBody>
      </p:sp>
      <p:sp>
        <p:nvSpPr>
          <p:cNvPr id="19" name="Text 16"/>
          <p:cNvSpPr/>
          <p:nvPr/>
        </p:nvSpPr>
        <p:spPr>
          <a:xfrm>
            <a:off x="10088575" y="6400800"/>
            <a:ext cx="1645920" cy="274320"/>
          </a:xfrm>
          <a:prstGeom prst="rect">
            <a:avLst/>
          </a:prstGeom>
          <a:noFill/>
          <a:ln/>
        </p:spPr>
        <p:txBody>
          <a:bodyPr wrap="square" lIns="0" tIns="0" rIns="0" bIns="0" rtlCol="0" anchor="ctr"/>
          <a:lstStyle/>
          <a:p>
            <a:pPr algn="r" indent="0" marL="0">
              <a:buNone/>
            </a:pPr>
            <a:r>
              <a:rPr lang="en-US" sz="900" dirty="0">
                <a:solidFill>
                  <a:srgbClr val="5B6480"/>
                </a:solidFill>
                <a:latin typeface="Yu Gothic" pitchFamily="34" charset="0"/>
                <a:ea typeface="Yu Gothic" pitchFamily="34" charset="-122"/>
                <a:cs typeface="Yu Gothic" pitchFamily="34" charset="-120"/>
              </a:rPr>
              <a:t>Hackathon Project</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救済者×ガバナンス</dc:title>
  <dc:subject>PptxGenJS Presentation</dc:subject>
  <dc:creator>sakurako-cottoncandy</dc:creator>
  <cp:lastModifiedBy>sakurako-cottoncandy</cp:lastModifiedBy>
  <cp:revision>1</cp:revision>
  <dcterms:created xsi:type="dcterms:W3CDTF">2026-08-20T05:01:41Z</dcterms:created>
  <dcterms:modified xsi:type="dcterms:W3CDTF">2026-08-20T05:01:41Z</dcterms:modified>
</cp:coreProperties>
</file>