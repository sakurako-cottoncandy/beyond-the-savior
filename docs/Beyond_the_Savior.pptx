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救済者の負荷（%）</c:v>
                </c:pt>
              </c:strCache>
            </c:strRef>
          </c:tx>
          <c:spPr>
            <a:solidFill>
              <a:srgbClr val="E2665A"/>
            </a:solidFill>
            <a:ln w="9525" cap="flat">
              <a:solidFill>
                <a:srgbClr val="0B122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</c:v>
                </c:pt>
                <c:pt idx="1">
                  <c:v>95</c:v>
                </c:pt>
                <c:pt idx="2">
                  <c:v>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村の自律度スコア</c:v>
                </c:pt>
              </c:strCache>
            </c:strRef>
          </c:tx>
          <c:spPr>
            <a:solidFill>
              <a:srgbClr val="1BAF7A"/>
            </a:solidFill>
            <a:ln w="9525" cap="flat">
              <a:solidFill>
                <a:srgbClr val="0B122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</c:v>
                </c:pt>
                <c:pt idx="1">
                  <c:v>15</c:v>
                </c:pt>
                <c:pt idx="2">
                  <c:v>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AFC9E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9525" cap="flat">
              <a:solidFill>
                <a:srgbClr val="2A37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4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220">
            <a:alpha val="0"/>
          </a:srgbClr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AFC9E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B1220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0" y="1097280"/>
            <a:ext cx="1188720" cy="-457200"/>
          </a:xfrm>
          <a:prstGeom prst="line">
            <a:avLst/>
          </a:prstGeom>
          <a:noFill/>
          <a:ln w="9525">
            <a:solidFill>
              <a:srgbClr val="E8A33D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77440" y="640080"/>
            <a:ext cx="914400" cy="822960"/>
          </a:xfrm>
          <a:prstGeom prst="line">
            <a:avLst/>
          </a:prstGeom>
          <a:noFill/>
          <a:ln w="9525">
            <a:solidFill>
              <a:srgbClr val="E8A33D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1097280"/>
            <a:ext cx="-274320" cy="1280160"/>
          </a:xfrm>
          <a:prstGeom prst="line">
            <a:avLst/>
          </a:prstGeom>
          <a:noFill/>
          <a:ln w="9525">
            <a:solidFill>
              <a:srgbClr val="E8A33D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377440"/>
            <a:ext cx="1097280" cy="274320"/>
          </a:xfrm>
          <a:prstGeom prst="line">
            <a:avLst/>
          </a:prstGeom>
          <a:noFill/>
          <a:ln w="9525">
            <a:solidFill>
              <a:srgbClr val="E8A33D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640080"/>
            <a:ext cx="-365760" cy="2011680"/>
          </a:xfrm>
          <a:prstGeom prst="line">
            <a:avLst/>
          </a:prstGeom>
          <a:noFill/>
          <a:ln w="9525">
            <a:solidFill>
              <a:srgbClr val="E8A33D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24160" y="1005840"/>
            <a:ext cx="914400" cy="731520"/>
          </a:xfrm>
          <a:prstGeom prst="line">
            <a:avLst/>
          </a:prstGeom>
          <a:noFill/>
          <a:ln w="9525">
            <a:solidFill>
              <a:srgbClr val="E8A33D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0" y="1737360"/>
            <a:ext cx="-1645920" cy="365760"/>
          </a:xfrm>
          <a:prstGeom prst="line">
            <a:avLst/>
          </a:prstGeom>
          <a:noFill/>
          <a:ln w="9525">
            <a:solidFill>
              <a:srgbClr val="E8A33D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24160" y="1005840"/>
            <a:ext cx="1188720" cy="-365760"/>
          </a:xfrm>
          <a:prstGeom prst="line">
            <a:avLst/>
          </a:prstGeom>
          <a:noFill/>
          <a:ln w="9525">
            <a:solidFill>
              <a:srgbClr val="E8A33D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0" y="2103120"/>
            <a:ext cx="1188720" cy="914400"/>
          </a:xfrm>
          <a:prstGeom prst="line">
            <a:avLst/>
          </a:prstGeom>
          <a:noFill/>
          <a:ln w="9525">
            <a:solidFill>
              <a:srgbClr val="E8A33D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38560" y="1737360"/>
            <a:ext cx="274320" cy="-1097280"/>
          </a:xfrm>
          <a:prstGeom prst="line">
            <a:avLst/>
          </a:prstGeom>
          <a:noFill/>
          <a:ln w="9525">
            <a:solidFill>
              <a:srgbClr val="E8A33D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5760720"/>
            <a:ext cx="1097280" cy="457200"/>
          </a:xfrm>
          <a:prstGeom prst="line">
            <a:avLst/>
          </a:prstGeom>
          <a:noFill/>
          <a:ln w="9525">
            <a:solidFill>
              <a:srgbClr val="E8A33D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5760720"/>
            <a:ext cx="-640080" cy="-640080"/>
          </a:xfrm>
          <a:prstGeom prst="line">
            <a:avLst/>
          </a:prstGeom>
          <a:noFill/>
          <a:ln w="9525">
            <a:solidFill>
              <a:srgbClr val="E8A33D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6217920"/>
            <a:ext cx="7772400" cy="-365760"/>
          </a:xfrm>
          <a:prstGeom prst="line">
            <a:avLst/>
          </a:prstGeom>
          <a:noFill/>
          <a:ln w="9525">
            <a:solidFill>
              <a:srgbClr val="E8A33D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0" y="5852160"/>
            <a:ext cx="1005840" cy="-457200"/>
          </a:xfrm>
          <a:prstGeom prst="line">
            <a:avLst/>
          </a:prstGeom>
          <a:noFill/>
          <a:ln w="9525">
            <a:solidFill>
              <a:srgbClr val="E8A33D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47120" y="5394960"/>
            <a:ext cx="-274320" cy="914400"/>
          </a:xfrm>
          <a:prstGeom prst="line">
            <a:avLst/>
          </a:prstGeom>
          <a:noFill/>
          <a:ln w="9525">
            <a:solidFill>
              <a:srgbClr val="E8A33D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" y="1051560"/>
            <a:ext cx="91440" cy="91440"/>
          </a:xfrm>
          <a:prstGeom prst="ellipse">
            <a:avLst/>
          </a:prstGeom>
          <a:solidFill>
            <a:srgbClr val="F4C878">
              <a:alpha val="8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331720" y="594360"/>
            <a:ext cx="91440" cy="91440"/>
          </a:xfrm>
          <a:prstGeom prst="ellipse">
            <a:avLst/>
          </a:prstGeom>
          <a:solidFill>
            <a:srgbClr val="F4C878">
              <a:alpha val="8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246120" y="1417320"/>
            <a:ext cx="91440" cy="91440"/>
          </a:xfrm>
          <a:prstGeom prst="ellipse">
            <a:avLst/>
          </a:prstGeom>
          <a:solidFill>
            <a:srgbClr val="F4C878">
              <a:alpha val="8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2331720"/>
            <a:ext cx="91440" cy="91440"/>
          </a:xfrm>
          <a:prstGeom prst="ellipse">
            <a:avLst/>
          </a:prstGeom>
          <a:solidFill>
            <a:srgbClr val="F4C878">
              <a:alpha val="8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965960" y="2606040"/>
            <a:ext cx="91440" cy="91440"/>
          </a:xfrm>
          <a:prstGeom prst="ellipse">
            <a:avLst/>
          </a:prstGeom>
          <a:solidFill>
            <a:srgbClr val="F4C878">
              <a:alpha val="8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378440" y="960120"/>
            <a:ext cx="91440" cy="91440"/>
          </a:xfrm>
          <a:prstGeom prst="ellipse">
            <a:avLst/>
          </a:prstGeom>
          <a:solidFill>
            <a:srgbClr val="F4C878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292840" y="1691640"/>
            <a:ext cx="91440" cy="91440"/>
          </a:xfrm>
          <a:prstGeom prst="ellipse">
            <a:avLst/>
          </a:prstGeom>
          <a:solidFill>
            <a:srgbClr val="F4C878">
              <a:alpha val="8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646920" y="2057400"/>
            <a:ext cx="91440" cy="91440"/>
          </a:xfrm>
          <a:prstGeom prst="ellipse">
            <a:avLst/>
          </a:prstGeom>
          <a:solidFill>
            <a:srgbClr val="F4C878">
              <a:alpha val="8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835640" y="2971800"/>
            <a:ext cx="91440" cy="91440"/>
          </a:xfrm>
          <a:prstGeom prst="ellipse">
            <a:avLst/>
          </a:prstGeom>
          <a:solidFill>
            <a:srgbClr val="F4C878">
              <a:alpha val="8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567160" y="594360"/>
            <a:ext cx="91440" cy="91440"/>
          </a:xfrm>
          <a:prstGeom prst="ellipse">
            <a:avLst/>
          </a:prstGeom>
          <a:solidFill>
            <a:srgbClr val="F4C878">
              <a:alpha val="8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5715000"/>
            <a:ext cx="91440" cy="91440"/>
          </a:xfrm>
          <a:prstGeom prst="ellipse">
            <a:avLst/>
          </a:prstGeom>
          <a:solidFill>
            <a:srgbClr val="F4C878">
              <a:alpha val="8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423160" y="6172200"/>
            <a:ext cx="91440" cy="91440"/>
          </a:xfrm>
          <a:prstGeom prst="ellipse">
            <a:avLst/>
          </a:prstGeom>
          <a:solidFill>
            <a:srgbClr val="F4C878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" y="5074920"/>
            <a:ext cx="91440" cy="91440"/>
          </a:xfrm>
          <a:prstGeom prst="ellipse">
            <a:avLst/>
          </a:prstGeom>
          <a:solidFill>
            <a:srgbClr val="F4C878">
              <a:alpha val="8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195560" y="5806440"/>
            <a:ext cx="91440" cy="91440"/>
          </a:xfrm>
          <a:prstGeom prst="ellipse">
            <a:avLst/>
          </a:prstGeom>
          <a:solidFill>
            <a:srgbClr val="F4C878">
              <a:alpha val="8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201400" y="5349240"/>
            <a:ext cx="91440" cy="91440"/>
          </a:xfrm>
          <a:prstGeom prst="ellipse">
            <a:avLst/>
          </a:prstGeom>
          <a:solidFill>
            <a:srgbClr val="F4C878">
              <a:alpha val="8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927080" y="6263640"/>
            <a:ext cx="91440" cy="91440"/>
          </a:xfrm>
          <a:prstGeom prst="ellipse">
            <a:avLst/>
          </a:prstGeom>
          <a:solidFill>
            <a:srgbClr val="F4C878">
              <a:alpha val="8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939132" y="1175004"/>
            <a:ext cx="2313432" cy="2313432"/>
          </a:xfrm>
          <a:prstGeom prst="ellipse">
            <a:avLst/>
          </a:prstGeom>
          <a:solidFill>
            <a:srgbClr val="E8A33D">
              <a:alpha val="1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254600" y="1490472"/>
            <a:ext cx="1682496" cy="1682496"/>
          </a:xfrm>
          <a:prstGeom prst="ellipse">
            <a:avLst/>
          </a:prstGeom>
          <a:solidFill>
            <a:srgbClr val="E8A33D">
              <a:alpha val="2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570068" y="1805940"/>
            <a:ext cx="1051560" cy="1051560"/>
          </a:xfrm>
          <a:prstGeom prst="ellipse">
            <a:avLst/>
          </a:prstGeom>
          <a:solidFill>
            <a:srgbClr val="E8A33D"/>
          </a:solidFill>
          <a:ln w="9525">
            <a:solidFill>
              <a:srgbClr val="E8A33D"/>
            </a:solidFill>
            <a:prstDash val="solid"/>
          </a:ln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3473" y="2079346"/>
            <a:ext cx="504749" cy="504749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0" y="30632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救済者 × ガバナンス</a:t>
            </a:r>
            <a:endParaRPr lang="en-US" sz="4600" dirty="0"/>
          </a:p>
        </p:txBody>
      </p:sp>
      <p:sp>
        <p:nvSpPr>
          <p:cNvPr id="38" name="Text 35"/>
          <p:cNvSpPr/>
          <p:nvPr/>
        </p:nvSpPr>
        <p:spPr>
          <a:xfrm>
            <a:off x="0" y="39776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神が降りなくても、村は回るか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0" y="608076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AIエージェント社会シミュレーション ハッカソン Vol.2　―　ソロ参加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0" y="640080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github.com/sakurako-cottoncandy/beyond-the-savior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組織図に載らない「救済者」の解剖学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947672"/>
            <a:ext cx="3419856" cy="3419856"/>
          </a:xfrm>
          <a:prstGeom prst="ellipse">
            <a:avLst/>
          </a:prstGeom>
          <a:solidFill>
            <a:srgbClr val="E8A33D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" y="2414016"/>
            <a:ext cx="2487168" cy="2487168"/>
          </a:xfrm>
          <a:prstGeom prst="ellipse">
            <a:avLst/>
          </a:prstGeom>
          <a:solidFill>
            <a:srgbClr val="E8A33D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2880360"/>
            <a:ext cx="1554480" cy="1554480"/>
          </a:xfrm>
          <a:prstGeom prst="ellipse">
            <a:avLst/>
          </a:prstGeom>
          <a:solidFill>
            <a:srgbClr val="E8A33D"/>
          </a:solidFill>
          <a:ln w="9525">
            <a:solidFill>
              <a:srgbClr val="E8A3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4365" y="3284525"/>
            <a:ext cx="746150" cy="7461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C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救済者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17720" y="1655064"/>
            <a:ext cx="457200" cy="457200"/>
          </a:xfrm>
          <a:prstGeom prst="ellipse">
            <a:avLst/>
          </a:prstGeom>
          <a:solidFill>
            <a:srgbClr val="1C2C4A"/>
          </a:solidFill>
          <a:ln w="9525">
            <a:solidFill>
              <a:srgbClr val="1C2C4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773936"/>
            <a:ext cx="219456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257800" y="1600200"/>
            <a:ext cx="6309360" cy="566928"/>
          </a:xfrm>
          <a:prstGeom prst="roundRect">
            <a:avLst>
              <a:gd name="adj" fmla="val 12903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486400" y="160020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困っている人に最初に気づく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617720" y="2340864"/>
            <a:ext cx="457200" cy="457200"/>
          </a:xfrm>
          <a:prstGeom prst="ellipse">
            <a:avLst/>
          </a:prstGeom>
          <a:solidFill>
            <a:srgbClr val="1C2C4A"/>
          </a:solidFill>
          <a:ln w="9525">
            <a:solidFill>
              <a:srgbClr val="1C2C4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2459736"/>
            <a:ext cx="219456" cy="21945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257800" y="2286000"/>
            <a:ext cx="6309360" cy="566928"/>
          </a:xfrm>
          <a:prstGeom prst="roundRect">
            <a:avLst>
              <a:gd name="adj" fmla="val 12903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5486400" y="228600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対立する人同士の言葉を翻訳する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4617720" y="3026664"/>
            <a:ext cx="457200" cy="457200"/>
          </a:xfrm>
          <a:prstGeom prst="ellipse">
            <a:avLst/>
          </a:prstGeom>
          <a:solidFill>
            <a:srgbClr val="1C2C4A"/>
          </a:solidFill>
          <a:ln w="9525">
            <a:solidFill>
              <a:srgbClr val="1C2C4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3145536"/>
            <a:ext cx="219456" cy="21945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257800" y="2971800"/>
            <a:ext cx="6309360" cy="566928"/>
          </a:xfrm>
          <a:prstGeom prst="roundRect">
            <a:avLst>
              <a:gd name="adj" fmla="val 12903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5486400" y="297180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新しい参加者を場につなぐ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4617720" y="3712464"/>
            <a:ext cx="457200" cy="457200"/>
          </a:xfrm>
          <a:prstGeom prst="ellipse">
            <a:avLst/>
          </a:prstGeom>
          <a:solidFill>
            <a:srgbClr val="1C2C4A"/>
          </a:solidFill>
          <a:ln w="9525">
            <a:solidFill>
              <a:srgbClr val="1C2C4A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3831336"/>
            <a:ext cx="219456" cy="219456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5257800" y="3657600"/>
            <a:ext cx="6309360" cy="566928"/>
          </a:xfrm>
          <a:prstGeom prst="roundRect">
            <a:avLst>
              <a:gd name="adj" fmla="val 12903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5486400" y="365760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暗黙のルールや文化を伝える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4617720" y="4398264"/>
            <a:ext cx="457200" cy="457200"/>
          </a:xfrm>
          <a:prstGeom prst="ellipse">
            <a:avLst/>
          </a:prstGeom>
          <a:solidFill>
            <a:srgbClr val="1C2C4A"/>
          </a:solidFill>
          <a:ln w="9525">
            <a:solidFill>
              <a:srgbClr val="1C2C4A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2" y="4517136"/>
            <a:ext cx="219456" cy="219456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5257800" y="4343400"/>
            <a:ext cx="6309360" cy="566928"/>
          </a:xfrm>
          <a:prstGeom prst="roundRect">
            <a:avLst>
              <a:gd name="adj" fmla="val 12903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19"/>
          <p:cNvSpPr/>
          <p:nvPr/>
        </p:nvSpPr>
        <p:spPr>
          <a:xfrm>
            <a:off x="5486400" y="434340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不安な人へ安心や意味づけを与える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1C2C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1"/>
          <p:cNvSpPr/>
          <p:nvPr/>
        </p:nvSpPr>
        <p:spPr>
          <a:xfrm>
            <a:off x="868680" y="5623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救済者は、正式な役職や権限を持つ人とは限らない。業務一覧には記録されない「見えない労働」で場を支えている。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救済者 × ガバナンス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短期的な安定が、長期的な脆弱性を生む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8884" y="21031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95832" y="2267712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1395832" y="22677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0324" y="29443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問題発生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34844" y="24231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90876" y="21031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17824" y="2267712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3617824" y="22677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982316" y="29443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救済者が解決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56836" y="24231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112868" y="21031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39816" y="2267712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5839816" y="22677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04308" y="29443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住民が判断を委ねる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78828" y="24231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334860" y="21031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61808" y="2267712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8061808" y="22677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426300" y="29443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自律性の低下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00820" y="24231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556852" y="21031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283800" y="2267712"/>
            <a:ext cx="512064" cy="512064"/>
          </a:xfrm>
          <a:prstGeom prst="ellipse">
            <a:avLst/>
          </a:prstGeom>
          <a:solidFill>
            <a:srgbClr val="E2665A"/>
          </a:solidFill>
          <a:ln/>
        </p:spPr>
      </p:sp>
      <p:sp>
        <p:nvSpPr>
          <p:cNvPr id="25" name="Text 23"/>
          <p:cNvSpPr/>
          <p:nvPr/>
        </p:nvSpPr>
        <p:spPr>
          <a:xfrm>
            <a:off x="10283800" y="22677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48292" y="29443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救済者の疲弊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8884" y="3611880"/>
            <a:ext cx="10853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この循環がフェーズを追うごとに繰り返され、救済者は静かに消耗していく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39496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1C2C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8680" y="5394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救済者が存在すると、短期的には多くの問題が早期解決され、高い心理的安全性が保たれる。しかし、相談・判断・関係調整が一人に集中することで、共同体は自ら考える力を失い、救済者不在時に機能不全に陥る。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救済者 × ガバナンス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個人の善意を、どこまで「仕組み」に移せるか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4023360" cy="4023360"/>
          </a:xfrm>
          <a:prstGeom prst="ellipse">
            <a:avLst/>
          </a:prstGeom>
          <a:solidFill>
            <a:srgbClr val="5A8FD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2286000"/>
            <a:ext cx="2926080" cy="2926080"/>
          </a:xfrm>
          <a:prstGeom prst="ellipse">
            <a:avLst/>
          </a:prstGeom>
          <a:solidFill>
            <a:srgbClr val="5A8FD6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828800" y="2834640"/>
            <a:ext cx="1828800" cy="1828800"/>
          </a:xfrm>
          <a:prstGeom prst="ellipse">
            <a:avLst/>
          </a:prstGeom>
          <a:solidFill>
            <a:srgbClr val="5A8FD6"/>
          </a:solidFill>
          <a:ln w="9525">
            <a:solidFill>
              <a:srgbClr val="5A8F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4288" y="3310128"/>
            <a:ext cx="877824" cy="8778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120640" y="1737360"/>
            <a:ext cx="6446520" cy="1234440"/>
          </a:xfrm>
          <a:prstGeom prst="roundRect">
            <a:avLst>
              <a:gd name="adj" fmla="val 7407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394960" y="2226564"/>
            <a:ext cx="256032" cy="256032"/>
          </a:xfrm>
          <a:prstGeom prst="ellipse">
            <a:avLst/>
          </a:prstGeom>
          <a:solidFill>
            <a:srgbClr val="5A8FD6"/>
          </a:solidFill>
          <a:ln/>
        </p:spPr>
      </p:sp>
      <p:sp>
        <p:nvSpPr>
          <p:cNvPr id="9" name="Text 6"/>
          <p:cNvSpPr/>
          <p:nvPr/>
        </p:nvSpPr>
        <p:spPr>
          <a:xfrm>
            <a:off x="5852160" y="1847088"/>
            <a:ext cx="55321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有能な救済者がいる共同体は、本当に安全なのか？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120640" y="3227832"/>
            <a:ext cx="6446520" cy="1234440"/>
          </a:xfrm>
          <a:prstGeom prst="roundRect">
            <a:avLst>
              <a:gd name="adj" fmla="val 7407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94960" y="3717036"/>
            <a:ext cx="256032" cy="256032"/>
          </a:xfrm>
          <a:prstGeom prst="ellipse">
            <a:avLst/>
          </a:prstGeom>
          <a:solidFill>
            <a:srgbClr val="5A8FD6"/>
          </a:solidFill>
          <a:ln/>
        </p:spPr>
      </p:sp>
      <p:sp>
        <p:nvSpPr>
          <p:cNvPr id="12" name="Text 9"/>
          <p:cNvSpPr/>
          <p:nvPr/>
        </p:nvSpPr>
        <p:spPr>
          <a:xfrm>
            <a:off x="5852160" y="3337560"/>
            <a:ext cx="55321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救済者の価値（共感・安全性・意味づけ）を失わずに、冷たい官僚主義に陥らない「ガバナンス」は設計できるか？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120640" y="4718304"/>
            <a:ext cx="6446520" cy="1234440"/>
          </a:xfrm>
          <a:prstGeom prst="roundRect">
            <a:avLst>
              <a:gd name="adj" fmla="val 7407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394960" y="5207508"/>
            <a:ext cx="256032" cy="256032"/>
          </a:xfrm>
          <a:prstGeom prst="ellipse">
            <a:avLst/>
          </a:prstGeom>
          <a:solidFill>
            <a:srgbClr val="5A8FD6"/>
          </a:solidFill>
          <a:ln/>
        </p:spPr>
      </p:sp>
      <p:sp>
        <p:nvSpPr>
          <p:cNvPr id="15" name="Text 12"/>
          <p:cNvSpPr/>
          <p:nvPr/>
        </p:nvSpPr>
        <p:spPr>
          <a:xfrm>
            <a:off x="5852160" y="4828032"/>
            <a:ext cx="55321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神（救済者）が毎回介入しなくても、自律的に回る仕組みを作れるか？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救済者 × ガバナンス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LLMエージェントが生み出す「感情の培養皿」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0700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従来の数値シミュレーションは「利益と損失」だけで人が動くことを前提としている。しかし現実は違う。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3246120"/>
          </a:xfrm>
          <a:prstGeom prst="roundRect">
            <a:avLst>
              <a:gd name="adj" fmla="val 3380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8F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合理的判断（Standard Logic）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損得だけで動くことを前提としたロジック。再現性は高いが、人間関係のもつれや遠慮、忖度は表現できない。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376672" cy="3246120"/>
          </a:xfrm>
          <a:prstGeom prst="roundRect">
            <a:avLst>
              <a:gd name="adj" fmla="val 3380"/>
            </a:avLst>
          </a:prstGeom>
          <a:solidFill>
            <a:srgbClr val="1C2C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LLMロジック（LLM Logic）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0" y="2788920"/>
            <a:ext cx="4754880" cy="53035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0" y="278892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C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あの人に嫌われたくない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3410712"/>
            <a:ext cx="4754880" cy="53035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3410712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C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自分だけが迷惑をかけてはいけない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4032504"/>
            <a:ext cx="4754880" cy="53035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4032504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C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自分が抜けたら場が壊れる気がする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0" y="4654296"/>
            <a:ext cx="4754880" cy="53035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4654296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C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相談すると弱い人だと思われそう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4864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5486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LLMを使えば、感情・誤解・無意識のルール・属人化のメカニズムといった「非合理性」を含んだシミュレーションが可能になる。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救済者 × ガバナンス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実験の舞台となる4つのペルソナ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0868" y="169164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88340" y="1513332"/>
            <a:ext cx="1911096" cy="1911096"/>
          </a:xfrm>
          <a:prstGeom prst="ellipse">
            <a:avLst/>
          </a:prstGeom>
          <a:solidFill>
            <a:srgbClr val="E8A33D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944" y="1773936"/>
            <a:ext cx="1389888" cy="1389888"/>
          </a:xfrm>
          <a:prstGeom prst="ellipse">
            <a:avLst/>
          </a:prstGeom>
          <a:solidFill>
            <a:srgbClr val="E8A33D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409548" y="2034540"/>
            <a:ext cx="868680" cy="868680"/>
          </a:xfrm>
          <a:prstGeom prst="ellipse">
            <a:avLst/>
          </a:prstGeom>
          <a:solidFill>
            <a:srgbClr val="E8A33D"/>
          </a:solidFill>
          <a:ln w="9525">
            <a:solidFill>
              <a:srgbClr val="E8A3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5404" y="2260397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0596" y="306324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救済者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2036" y="356616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中心ノード。困っている人に最初に気づき、相談・調整を一手に引き受ける。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75508" y="169164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22980" y="1513332"/>
            <a:ext cx="1911096" cy="1911096"/>
          </a:xfrm>
          <a:prstGeom prst="ellipse">
            <a:avLst/>
          </a:prstGeom>
          <a:solidFill>
            <a:srgbClr val="5A8FD6">
              <a:alpha val="12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3983584" y="1773936"/>
            <a:ext cx="1389888" cy="1389888"/>
          </a:xfrm>
          <a:prstGeom prst="ellipse">
            <a:avLst/>
          </a:prstGeom>
          <a:solidFill>
            <a:srgbClr val="5A8FD6">
              <a:alpha val="22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4244188" y="2034540"/>
            <a:ext cx="868680" cy="868680"/>
          </a:xfrm>
          <a:prstGeom prst="ellipse">
            <a:avLst/>
          </a:prstGeom>
          <a:solidFill>
            <a:srgbClr val="5A8FD6"/>
          </a:solidFill>
          <a:ln w="9525">
            <a:solidFill>
              <a:srgbClr val="5A8FD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044" y="2260397"/>
            <a:ext cx="416966" cy="41696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85236" y="306324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世話好きな住民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576676" y="356616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救済者の補佐役。救済者を助けるが、自分でも抱え込みやすい。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10148" y="169164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557620" y="1513332"/>
            <a:ext cx="1911096" cy="1911096"/>
          </a:xfrm>
          <a:prstGeom prst="ellipse">
            <a:avLst/>
          </a:prstGeom>
          <a:solidFill>
            <a:srgbClr val="9AA4C0">
              <a:alpha val="12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6818224" y="1773936"/>
            <a:ext cx="1389888" cy="1389888"/>
          </a:xfrm>
          <a:prstGeom prst="ellipse">
            <a:avLst/>
          </a:prstGeom>
          <a:solidFill>
            <a:srgbClr val="9AA4C0">
              <a:alpha val="22000"/>
            </a:srgbClr>
          </a:solidFill>
          <a:ln/>
        </p:spPr>
      </p:sp>
      <p:sp>
        <p:nvSpPr>
          <p:cNvPr id="20" name="Shape 16"/>
          <p:cNvSpPr/>
          <p:nvPr/>
        </p:nvSpPr>
        <p:spPr>
          <a:xfrm>
            <a:off x="7078828" y="2034540"/>
            <a:ext cx="868680" cy="868680"/>
          </a:xfrm>
          <a:prstGeom prst="ellipse">
            <a:avLst/>
          </a:prstGeom>
          <a:solidFill>
            <a:srgbClr val="9AA4C0"/>
          </a:solidFill>
          <a:ln w="9525">
            <a:solidFill>
              <a:srgbClr val="9AA4C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4684" y="2260397"/>
            <a:ext cx="416966" cy="41696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19876" y="306324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声を上げにくい住民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411316" y="356616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弱いノード。不満があっても声を上げられず、静かに孤立する。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9044788" y="169164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392260" y="1513332"/>
            <a:ext cx="1911096" cy="1911096"/>
          </a:xfrm>
          <a:prstGeom prst="ellipse">
            <a:avLst/>
          </a:prstGeom>
          <a:solidFill>
            <a:srgbClr val="AFC9EE">
              <a:alpha val="12000"/>
            </a:srgbClr>
          </a:solidFill>
          <a:ln/>
        </p:spPr>
      </p:sp>
      <p:sp>
        <p:nvSpPr>
          <p:cNvPr id="26" name="Shape 21"/>
          <p:cNvSpPr/>
          <p:nvPr/>
        </p:nvSpPr>
        <p:spPr>
          <a:xfrm>
            <a:off x="9652864" y="1773936"/>
            <a:ext cx="1389888" cy="1389888"/>
          </a:xfrm>
          <a:prstGeom prst="ellipse">
            <a:avLst/>
          </a:prstGeom>
          <a:solidFill>
            <a:srgbClr val="AFC9EE">
              <a:alpha val="22000"/>
            </a:srgbClr>
          </a:solidFill>
          <a:ln/>
        </p:spPr>
      </p:sp>
      <p:sp>
        <p:nvSpPr>
          <p:cNvPr id="27" name="Shape 22"/>
          <p:cNvSpPr/>
          <p:nvPr/>
        </p:nvSpPr>
        <p:spPr>
          <a:xfrm>
            <a:off x="9913468" y="2034540"/>
            <a:ext cx="868680" cy="868680"/>
          </a:xfrm>
          <a:prstGeom prst="ellipse">
            <a:avLst/>
          </a:prstGeom>
          <a:solidFill>
            <a:srgbClr val="AFC9EE"/>
          </a:solidFill>
          <a:ln w="9525">
            <a:solidFill>
              <a:srgbClr val="AFC9EE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9324" y="2260397"/>
            <a:ext cx="416966" cy="41696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154516" y="306324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村長・管理者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9245956" y="356616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権限ノード。権限はあるが、現場の文脈からは孤立している。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48640" y="5532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企画段階では7ペルソナを構想したが、実装では時間の制約からこの4体に絞った。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救済者 × ガバナンス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3つのフェーズで進行する物語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23748" y="1828800"/>
            <a:ext cx="3246120" cy="2880360"/>
          </a:xfrm>
          <a:prstGeom prst="roundRect">
            <a:avLst>
              <a:gd name="adj" fmla="val 3810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91844" y="1705356"/>
            <a:ext cx="1709928" cy="1709928"/>
          </a:xfrm>
          <a:prstGeom prst="ellipse">
            <a:avLst/>
          </a:prstGeom>
          <a:solidFill>
            <a:srgbClr val="5A8FD6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725016" y="1938528"/>
            <a:ext cx="1243584" cy="1243584"/>
          </a:xfrm>
          <a:prstGeom prst="ellipse">
            <a:avLst/>
          </a:prstGeom>
          <a:solidFill>
            <a:srgbClr val="5A8FD6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958188" y="2171700"/>
            <a:ext cx="777240" cy="777240"/>
          </a:xfrm>
          <a:prstGeom prst="ellipse">
            <a:avLst/>
          </a:prstGeom>
          <a:solidFill>
            <a:srgbClr val="5A8FD6"/>
          </a:solidFill>
          <a:ln w="9525">
            <a:solidFill>
              <a:srgbClr val="5A8FD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0270" y="237378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0908" y="3108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フェーズ1：平常運転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52348" y="356616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村の日常のやり取り（世間話・ちょっとした相談・報告など）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969868" y="29946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472788" y="1828800"/>
            <a:ext cx="3246120" cy="2880360"/>
          </a:xfrm>
          <a:prstGeom prst="roundRect">
            <a:avLst>
              <a:gd name="adj" fmla="val 3810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240884" y="1705356"/>
            <a:ext cx="1709928" cy="1709928"/>
          </a:xfrm>
          <a:prstGeom prst="ellipse">
            <a:avLst/>
          </a:prstGeom>
          <a:solidFill>
            <a:srgbClr val="E8A33D">
              <a:alpha val="12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474056" y="1938528"/>
            <a:ext cx="1243584" cy="1243584"/>
          </a:xfrm>
          <a:prstGeom prst="ellipse">
            <a:avLst/>
          </a:prstGeom>
          <a:solidFill>
            <a:srgbClr val="E8A33D">
              <a:alpha val="22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707228" y="2171700"/>
            <a:ext cx="777240" cy="777240"/>
          </a:xfrm>
          <a:prstGeom prst="ellipse">
            <a:avLst/>
          </a:prstGeom>
          <a:solidFill>
            <a:srgbClr val="E8A33D"/>
          </a:solidFill>
          <a:ln w="9525">
            <a:solidFill>
              <a:srgbClr val="E8A33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310" y="2373782"/>
            <a:ext cx="373075" cy="37307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09948" y="3108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フェーズ2：摩擦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701388" y="356616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新しい住民の増加で役割が曖昧になり、小さな不満が蓄積し始める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7718908" y="29946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5"/>
          <p:cNvSpPr/>
          <p:nvPr/>
        </p:nvSpPr>
        <p:spPr>
          <a:xfrm>
            <a:off x="8221828" y="1828800"/>
            <a:ext cx="3246120" cy="2880360"/>
          </a:xfrm>
          <a:prstGeom prst="roundRect">
            <a:avLst>
              <a:gd name="adj" fmla="val 3810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989924" y="1705356"/>
            <a:ext cx="1709928" cy="1709928"/>
          </a:xfrm>
          <a:prstGeom prst="ellipse">
            <a:avLst/>
          </a:prstGeom>
          <a:solidFill>
            <a:srgbClr val="E2665A">
              <a:alpha val="12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9223096" y="1938528"/>
            <a:ext cx="1243584" cy="1243584"/>
          </a:xfrm>
          <a:prstGeom prst="ellipse">
            <a:avLst/>
          </a:prstGeom>
          <a:solidFill>
            <a:srgbClr val="E2665A">
              <a:alpha val="22000"/>
            </a:srgbClr>
          </a:solidFill>
          <a:ln/>
        </p:spPr>
      </p:sp>
      <p:sp>
        <p:nvSpPr>
          <p:cNvPr id="22" name="Shape 18"/>
          <p:cNvSpPr/>
          <p:nvPr/>
        </p:nvSpPr>
        <p:spPr>
          <a:xfrm>
            <a:off x="9456268" y="2171700"/>
            <a:ext cx="777240" cy="777240"/>
          </a:xfrm>
          <a:prstGeom prst="ellipse">
            <a:avLst/>
          </a:prstGeom>
          <a:solidFill>
            <a:srgbClr val="E2665A"/>
          </a:solidFill>
          <a:ln w="9525">
            <a:solidFill>
              <a:srgbClr val="E2665A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8350" y="2373782"/>
            <a:ext cx="373075" cy="37307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358988" y="3108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フェーズ3：危機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8450428" y="356616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条件Aは平常運転が継続（対照群）。条件B・Cは救済者が突然不在になる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548640" y="521208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1C2C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868680" y="521208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全く同じ危機イベント（救済者の不在）を、異なるガバナンス条件で発生させ、村の「回復のしかた」を比較する。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救済者 × ガバナンス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ガバナンス・マトリクス：3つの実験条件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88575" y="50292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C2C4A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502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C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仮説段階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1452" y="173736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50696" y="1609344"/>
            <a:ext cx="1810512" cy="1810512"/>
          </a:xfrm>
          <a:prstGeom prst="ellipse">
            <a:avLst/>
          </a:prstGeom>
          <a:solidFill>
            <a:srgbClr val="2A78D6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697584" y="1856232"/>
            <a:ext cx="1316736" cy="1316736"/>
          </a:xfrm>
          <a:prstGeom prst="ellipse">
            <a:avLst/>
          </a:prstGeom>
          <a:solidFill>
            <a:srgbClr val="2A78D6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944472" y="2103120"/>
            <a:ext cx="822960" cy="82296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8441" y="2317090"/>
            <a:ext cx="395021" cy="39502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8612" y="3063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A：救済者集中型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70052" y="35661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相談・判断はすべて救済者に集約。危機は発生しない対照群。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81348" y="173736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190592" y="1609344"/>
            <a:ext cx="1810512" cy="1810512"/>
          </a:xfrm>
          <a:prstGeom prst="ellipse">
            <a:avLst/>
          </a:prstGeom>
          <a:solidFill>
            <a:srgbClr val="EB6834">
              <a:alpha val="12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437480" y="1856232"/>
            <a:ext cx="1316736" cy="1316736"/>
          </a:xfrm>
          <a:prstGeom prst="ellipse">
            <a:avLst/>
          </a:prstGeom>
          <a:solidFill>
            <a:srgbClr val="EB6834">
              <a:alpha val="22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684368" y="2103120"/>
            <a:ext cx="822960" cy="82296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8337" y="2317090"/>
            <a:ext cx="395021" cy="39502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18508" y="3063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B：救済者が消える村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609948" y="35661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Aと同じ運用のまま、フェーズ3で救済者が突然不在になる。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121244" y="173736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930488" y="1609344"/>
            <a:ext cx="1810512" cy="1810512"/>
          </a:xfrm>
          <a:prstGeom prst="ellipse">
            <a:avLst/>
          </a:prstGeom>
          <a:solidFill>
            <a:srgbClr val="1BAF7A">
              <a:alpha val="12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9177376" y="1856232"/>
            <a:ext cx="1316736" cy="1316736"/>
          </a:xfrm>
          <a:prstGeom prst="ellipse">
            <a:avLst/>
          </a:prstGeom>
          <a:solidFill>
            <a:srgbClr val="1BAF7A">
              <a:alpha val="22000"/>
            </a:srgbClr>
          </a:solidFill>
          <a:ln/>
        </p:spPr>
      </p:sp>
      <p:sp>
        <p:nvSpPr>
          <p:cNvPr id="22" name="Shape 18"/>
          <p:cNvSpPr/>
          <p:nvPr/>
        </p:nvSpPr>
        <p:spPr>
          <a:xfrm>
            <a:off x="9424264" y="2103120"/>
            <a:ext cx="822960" cy="82296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233" y="2317090"/>
            <a:ext cx="395021" cy="395021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258404" y="3063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C：分散ガバナンス型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8349844" y="35661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相談経路と判断基準を事前に住民へ分配。救済者は例外のみ対応。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548640" y="51663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 と C を同じ危機イベントで比較することで、「回復のしかた」の違いを観測する。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救済者 × ガバナンス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見えない価値の測定：2つの評価軸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49240" cy="3520440"/>
          </a:xfrm>
          <a:prstGeom prst="roundRect">
            <a:avLst>
              <a:gd name="adj" fmla="val 3117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2011680"/>
            <a:ext cx="640080" cy="640080"/>
          </a:xfrm>
          <a:prstGeom prst="ellipse">
            <a:avLst/>
          </a:prstGeom>
          <a:solidFill>
            <a:srgbClr val="5A8FD6"/>
          </a:solidFill>
          <a:ln w="9525">
            <a:solidFill>
              <a:srgbClr val="5A8FD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17810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20574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5A8F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組織運営の指標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5A8F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(Operational Metrics)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14400" y="3081528"/>
            <a:ext cx="128016" cy="128016"/>
          </a:xfrm>
          <a:prstGeom prst="ellipse">
            <a:avLst/>
          </a:prstGeom>
          <a:solidFill>
            <a:srgbClr val="5A8FD6"/>
          </a:solidFill>
          <a:ln/>
        </p:spPr>
      </p:sp>
      <p:sp>
        <p:nvSpPr>
          <p:cNvPr id="8" name="Text 5"/>
          <p:cNvSpPr/>
          <p:nvPr/>
        </p:nvSpPr>
        <p:spPr>
          <a:xfrm>
            <a:off x="1188720" y="29718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救済者の負荷メーター（相談の集中度、0〜100%）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14400" y="3950208"/>
            <a:ext cx="128016" cy="128016"/>
          </a:xfrm>
          <a:prstGeom prst="ellipse">
            <a:avLst/>
          </a:prstGeom>
          <a:solidFill>
            <a:srgbClr val="5A8FD6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38404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村の自律度スコア（救済者以外が自力で解決できた割合）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3640" y="1737360"/>
            <a:ext cx="5376672" cy="3520440"/>
          </a:xfrm>
          <a:prstGeom prst="roundRect">
            <a:avLst>
              <a:gd name="adj" fmla="val 3117"/>
            </a:avLst>
          </a:prstGeom>
          <a:solidFill>
            <a:srgbClr val="1C2C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29400" y="2011680"/>
            <a:ext cx="640080" cy="640080"/>
          </a:xfrm>
          <a:prstGeom prst="ellipse">
            <a:avLst/>
          </a:prstGeom>
          <a:solidFill>
            <a:srgbClr val="E8A33D"/>
          </a:solidFill>
          <a:ln w="9525">
            <a:solidFill>
              <a:srgbClr val="E8A33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821" y="217810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06640" y="20574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4C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関係性・心理的安全性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4C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(Relational Metrics)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629400" y="306324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6903720" y="2971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困ったときに助けを求められるか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6629400" y="372160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6903720" y="36301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自分はこの村にいてよいと思えるか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6629400" y="4379976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6"/>
          <p:cNvSpPr/>
          <p:nvPr/>
        </p:nvSpPr>
        <p:spPr>
          <a:xfrm>
            <a:off x="6903720" y="428853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救済者がいなければ何もできないと感じていないか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解決した「数」ではなく、問題が起きなかった「状態」を評価する。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救済者 × ガバナンス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「聞く」のではなく「行動を見る」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0700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本人に尋ねても本心は出ない。だから自己申告は一切取らず、行動の痕跡だけを評価した。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77440"/>
            <a:ext cx="548640" cy="548640"/>
          </a:xfrm>
          <a:prstGeom prst="ellipse">
            <a:avLst/>
          </a:prstGeom>
          <a:solidFill>
            <a:srgbClr val="5B6480"/>
          </a:solidFill>
          <a:ln w="9525">
            <a:solidFill>
              <a:srgbClr val="5B64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5200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67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本人に聞くと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828800" y="2514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「はい、大丈夫です」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897880" y="1965960"/>
            <a:ext cx="868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26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≠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6766560" y="1965960"/>
            <a:ext cx="4873752" cy="1371600"/>
          </a:xfrm>
          <a:prstGeom prst="roundRect">
            <a:avLst>
              <a:gd name="adj" fmla="val 8000"/>
            </a:avLst>
          </a:prstGeom>
          <a:solidFill>
            <a:srgbClr val="1C2C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132320" y="2377440"/>
            <a:ext cx="548640" cy="548640"/>
          </a:xfrm>
          <a:prstGeom prst="ellipse">
            <a:avLst/>
          </a:prstGeom>
          <a:solidFill>
            <a:srgbClr val="E8A33D"/>
          </a:solidFill>
          <a:ln w="9525">
            <a:solidFill>
              <a:srgbClr val="E8A3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966" y="252008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046720" y="21671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C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実際の行動は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046720" y="25146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毎回同じ一人に確認し、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自分では判断しない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48640" y="3611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採点で実際に拾っている行動シグナル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069080"/>
            <a:ext cx="2635758" cy="1234440"/>
          </a:xfrm>
          <a:prstGeom prst="roundRect">
            <a:avLst>
              <a:gd name="adj" fmla="val 7407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429768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777240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77240" y="4636008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同じ相手にばかり相談・確認していないか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3367278" y="4069080"/>
            <a:ext cx="2635758" cy="1234440"/>
          </a:xfrm>
          <a:prstGeom prst="roundRect">
            <a:avLst>
              <a:gd name="adj" fmla="val 7407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595878" y="429768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18"/>
          <p:cNvSpPr/>
          <p:nvPr/>
        </p:nvSpPr>
        <p:spPr>
          <a:xfrm>
            <a:off x="3595878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3595878" y="4636008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自分で判断せず許可を求めていないか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185916" y="4069080"/>
            <a:ext cx="2635758" cy="1234440"/>
          </a:xfrm>
          <a:prstGeom prst="roundRect">
            <a:avLst>
              <a:gd name="adj" fmla="val 7407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414516" y="429768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2"/>
          <p:cNvSpPr/>
          <p:nvPr/>
        </p:nvSpPr>
        <p:spPr>
          <a:xfrm>
            <a:off x="6414516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414516" y="4636008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その人が不在のとき行動が止まらないか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9004554" y="4069080"/>
            <a:ext cx="2635758" cy="1234440"/>
          </a:xfrm>
          <a:prstGeom prst="roundRect">
            <a:avLst>
              <a:gd name="adj" fmla="val 7407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9233154" y="429768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6"/>
          <p:cNvSpPr/>
          <p:nvPr/>
        </p:nvSpPr>
        <p:spPr>
          <a:xfrm>
            <a:off x="9233154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9233154" y="4636008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「大丈夫」の裏で不満がにじんでいないか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548640" y="553212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1C2C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868680" y="5532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測っているのは「安心だと言ったか」ではなく、「安心している人がとるはずの行動を実際にとれていたか」。</a:t>
            </a:r>
            <a:endParaRPr lang="en-US" sz="1350" dirty="0"/>
          </a:p>
        </p:txBody>
      </p:sp>
      <p:sp>
        <p:nvSpPr>
          <p:cNvPr id="34" name="Text 30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救済者 × ガバナンス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本番実行：A / B / C スコア比較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0700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各条件5回ずつ計15回実行した平均値（data/scores_*_aggregate.json）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4922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1737360"/>
            <a:ext cx="4279392" cy="1170432"/>
          </a:xfrm>
          <a:prstGeom prst="roundRect">
            <a:avLst>
              <a:gd name="adj" fmla="val 9375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543800" y="1847088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26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± 0.0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235440" y="18836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条件Bの標準偏差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235440" y="228600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5回とも完全に同じ点数。依存は確実に再現される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60920" y="3063240"/>
            <a:ext cx="4279392" cy="1170432"/>
          </a:xfrm>
          <a:prstGeom prst="roundRect">
            <a:avLst>
              <a:gd name="adj" fmla="val 9375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543800" y="3172968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± 25.9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9235440" y="3209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条件Cの標準偏差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235440" y="361188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同じルールでも結果が大きく割れた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60920" y="4389120"/>
            <a:ext cx="4279392" cy="1170432"/>
          </a:xfrm>
          <a:prstGeom prst="roundRect">
            <a:avLst>
              <a:gd name="adj" fmla="val 9375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543800" y="4498848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AF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0/5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9235440" y="45354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範囲の重なり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235440" y="49377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Cの最悪回でもA/Bの最良回より良い（4指標）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救済者 × ガバナンス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同じルールなのに、村が2つに分かれた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0700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条件Cを5回実行。ガバナンスも人格も完全に同一なのに、結果は2つの状態へ分岐した。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492240" cy="3840480"/>
          </a:xfrm>
          <a:prstGeom prst="roundRect">
            <a:avLst>
              <a:gd name="adj" fmla="val 2857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4937760"/>
            <a:ext cx="5349240" cy="0"/>
          </a:xfrm>
          <a:prstGeom prst="line">
            <a:avLst/>
          </a:prstGeom>
          <a:noFill/>
          <a:ln w="9525">
            <a:solidFill>
              <a:srgbClr val="2A37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8188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280160" y="4206240"/>
            <a:ext cx="5349240" cy="0"/>
          </a:xfrm>
          <a:prstGeom prst="line">
            <a:avLst/>
          </a:prstGeom>
          <a:noFill/>
          <a:ln w="9525">
            <a:solidFill>
              <a:srgbClr val="2A37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0873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280160" y="3474720"/>
            <a:ext cx="5349240" cy="0"/>
          </a:xfrm>
          <a:prstGeom prst="line">
            <a:avLst/>
          </a:prstGeom>
          <a:noFill/>
          <a:ln w="9525">
            <a:solidFill>
              <a:srgbClr val="2A37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35584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80160" y="2743200"/>
            <a:ext cx="5349240" cy="0"/>
          </a:xfrm>
          <a:prstGeom prst="line">
            <a:avLst/>
          </a:prstGeom>
          <a:noFill/>
          <a:ln w="9525">
            <a:solidFill>
              <a:srgbClr val="2A37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6243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280160" y="2011680"/>
            <a:ext cx="5349240" cy="0"/>
          </a:xfrm>
          <a:prstGeom prst="line">
            <a:avLst/>
          </a:prstGeom>
          <a:noFill/>
          <a:ln w="9525">
            <a:solidFill>
              <a:srgbClr val="2A37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89280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92808" y="2743200"/>
            <a:ext cx="0" cy="1170432"/>
          </a:xfrm>
          <a:prstGeom prst="line">
            <a:avLst/>
          </a:prstGeom>
          <a:noFill/>
          <a:ln w="12700">
            <a:solidFill>
              <a:srgbClr val="E2665A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92224" y="2642616"/>
            <a:ext cx="201168" cy="201168"/>
          </a:xfrm>
          <a:prstGeom prst="ellipse">
            <a:avLst/>
          </a:prstGeom>
          <a:solidFill>
            <a:srgbClr val="E2665A"/>
          </a:solidFill>
          <a:ln/>
        </p:spPr>
      </p:sp>
      <p:sp>
        <p:nvSpPr>
          <p:cNvPr id="17" name="Shape 15"/>
          <p:cNvSpPr/>
          <p:nvPr/>
        </p:nvSpPr>
        <p:spPr>
          <a:xfrm>
            <a:off x="1792224" y="3813048"/>
            <a:ext cx="201168" cy="201168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18" name="Text 16"/>
          <p:cNvSpPr/>
          <p:nvPr/>
        </p:nvSpPr>
        <p:spPr>
          <a:xfrm>
            <a:off x="1481328" y="50474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6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1回目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81328" y="52852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依存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35224" y="3035808"/>
            <a:ext cx="0" cy="585216"/>
          </a:xfrm>
          <a:prstGeom prst="line">
            <a:avLst/>
          </a:prstGeom>
          <a:noFill/>
          <a:ln w="12700">
            <a:solidFill>
              <a:srgbClr val="E2665A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34640" y="2935224"/>
            <a:ext cx="201168" cy="201168"/>
          </a:xfrm>
          <a:prstGeom prst="ellipse">
            <a:avLst/>
          </a:prstGeom>
          <a:solidFill>
            <a:srgbClr val="E2665A"/>
          </a:solidFill>
          <a:ln/>
        </p:spPr>
      </p:sp>
      <p:sp>
        <p:nvSpPr>
          <p:cNvPr id="22" name="Shape 20"/>
          <p:cNvSpPr/>
          <p:nvPr/>
        </p:nvSpPr>
        <p:spPr>
          <a:xfrm>
            <a:off x="2834640" y="3520440"/>
            <a:ext cx="201168" cy="201168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23" name="Text 21"/>
          <p:cNvSpPr/>
          <p:nvPr/>
        </p:nvSpPr>
        <p:spPr>
          <a:xfrm>
            <a:off x="2523744" y="50474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2回目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23744" y="52852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中間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977640" y="2743200"/>
            <a:ext cx="0" cy="1463040"/>
          </a:xfrm>
          <a:prstGeom prst="line">
            <a:avLst/>
          </a:prstGeom>
          <a:noFill/>
          <a:ln w="12700">
            <a:solidFill>
              <a:srgbClr val="1BAF7A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77056" y="4105656"/>
            <a:ext cx="201168" cy="201168"/>
          </a:xfrm>
          <a:prstGeom prst="ellipse">
            <a:avLst/>
          </a:prstGeom>
          <a:solidFill>
            <a:srgbClr val="E2665A"/>
          </a:solidFill>
          <a:ln/>
        </p:spPr>
      </p:sp>
      <p:sp>
        <p:nvSpPr>
          <p:cNvPr id="27" name="Shape 25"/>
          <p:cNvSpPr/>
          <p:nvPr/>
        </p:nvSpPr>
        <p:spPr>
          <a:xfrm>
            <a:off x="3877056" y="2642616"/>
            <a:ext cx="201168" cy="201168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28" name="Text 26"/>
          <p:cNvSpPr/>
          <p:nvPr/>
        </p:nvSpPr>
        <p:spPr>
          <a:xfrm>
            <a:off x="3566160" y="50474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AF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3回目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66160" y="52852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自律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0056" y="2743200"/>
            <a:ext cx="0" cy="1170432"/>
          </a:xfrm>
          <a:prstGeom prst="line">
            <a:avLst/>
          </a:prstGeom>
          <a:noFill/>
          <a:ln w="12700">
            <a:solidFill>
              <a:srgbClr val="E2665A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19472" y="2642616"/>
            <a:ext cx="201168" cy="201168"/>
          </a:xfrm>
          <a:prstGeom prst="ellipse">
            <a:avLst/>
          </a:prstGeom>
          <a:solidFill>
            <a:srgbClr val="E2665A"/>
          </a:solidFill>
          <a:ln/>
        </p:spPr>
      </p:sp>
      <p:sp>
        <p:nvSpPr>
          <p:cNvPr id="32" name="Shape 30"/>
          <p:cNvSpPr/>
          <p:nvPr/>
        </p:nvSpPr>
        <p:spPr>
          <a:xfrm>
            <a:off x="4919472" y="3813048"/>
            <a:ext cx="201168" cy="201168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33" name="Text 31"/>
          <p:cNvSpPr/>
          <p:nvPr/>
        </p:nvSpPr>
        <p:spPr>
          <a:xfrm>
            <a:off x="4608576" y="50474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6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4回目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08576" y="52852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依存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62472" y="2743200"/>
            <a:ext cx="0" cy="1463040"/>
          </a:xfrm>
          <a:prstGeom prst="line">
            <a:avLst/>
          </a:prstGeom>
          <a:noFill/>
          <a:ln w="12700">
            <a:solidFill>
              <a:srgbClr val="1BAF7A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61888" y="4105656"/>
            <a:ext cx="201168" cy="201168"/>
          </a:xfrm>
          <a:prstGeom prst="ellipse">
            <a:avLst/>
          </a:prstGeom>
          <a:solidFill>
            <a:srgbClr val="E2665A"/>
          </a:solidFill>
          <a:ln/>
        </p:spPr>
      </p:sp>
      <p:sp>
        <p:nvSpPr>
          <p:cNvPr id="37" name="Shape 35"/>
          <p:cNvSpPr/>
          <p:nvPr/>
        </p:nvSpPr>
        <p:spPr>
          <a:xfrm>
            <a:off x="5961888" y="2642616"/>
            <a:ext cx="201168" cy="201168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38" name="Text 36"/>
          <p:cNvSpPr/>
          <p:nvPr/>
        </p:nvSpPr>
        <p:spPr>
          <a:xfrm>
            <a:off x="5650992" y="50474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AF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5回目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50992" y="52852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325880" y="1901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6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救済者の負荷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154680" y="1901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AF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村の自律度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69480" y="1828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分岐点は、たった一人の最初の一歩だった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7269480" y="2240280"/>
            <a:ext cx="4370832" cy="1371600"/>
          </a:xfrm>
          <a:prstGeom prst="roundRect">
            <a:avLst>
              <a:gd name="adj" fmla="val 6667"/>
            </a:avLst>
          </a:prstGeom>
          <a:solidFill>
            <a:srgbClr val="1C2C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498080" y="2478024"/>
            <a:ext cx="182880" cy="182880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45" name="Text 43"/>
          <p:cNvSpPr/>
          <p:nvPr/>
        </p:nvSpPr>
        <p:spPr>
          <a:xfrm>
            <a:off x="7790688" y="23682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AF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自律した回（3・5）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543800" y="27340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世話好きな住民が、救済者に確認する前に住民同士の対話を始めた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543800" y="319125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「まずは私たちで相談してみよう」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269480" y="3749040"/>
            <a:ext cx="4370832" cy="1371600"/>
          </a:xfrm>
          <a:prstGeom prst="roundRect">
            <a:avLst>
              <a:gd name="adj" fmla="val 6667"/>
            </a:avLst>
          </a:prstGeom>
          <a:solidFill>
            <a:srgbClr val="1C2C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498080" y="3986784"/>
            <a:ext cx="182880" cy="182880"/>
          </a:xfrm>
          <a:prstGeom prst="ellipse">
            <a:avLst/>
          </a:prstGeom>
          <a:solidFill>
            <a:srgbClr val="E2665A"/>
          </a:solidFill>
          <a:ln/>
        </p:spPr>
      </p:sp>
      <p:sp>
        <p:nvSpPr>
          <p:cNvPr id="50" name="Text 48"/>
          <p:cNvSpPr/>
          <p:nvPr/>
        </p:nvSpPr>
        <p:spPr>
          <a:xfrm>
            <a:off x="7790688" y="38770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6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依存に戻った回（1・4）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543800" y="42428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世話好きな住民が、最後まで許可を求め続けた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543800" y="470001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「勝手に決めちゃっていいのか不安」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48640" y="566928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1C2C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868680" y="56692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C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制度は自律を「可能にする」だけで、自律そのものを生みはしない。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救済者 × ガバナンス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その「一歩」を、どこまで押せばいいのか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0700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世話好きな住民の「許可を求める度合い」だけを5段階に変え、各5回ずつ計25回実行した。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28455" y="457200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1C2C4A"/>
          </a:solidFill>
          <a:ln w="9525">
            <a:solidFill>
              <a:srgbClr val="5A8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28455" y="457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Sonnet 4.5 での結果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949440" cy="3977640"/>
          </a:xfrm>
          <a:prstGeom prst="roundRect">
            <a:avLst>
              <a:gd name="adj" fmla="val 2759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80160" y="4617720"/>
            <a:ext cx="5897880" cy="0"/>
          </a:xfrm>
          <a:prstGeom prst="line">
            <a:avLst/>
          </a:prstGeom>
          <a:noFill/>
          <a:ln w="9525">
            <a:solidFill>
              <a:srgbClr val="2A37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49884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280160" y="3954780"/>
            <a:ext cx="5897880" cy="0"/>
          </a:xfrm>
          <a:prstGeom prst="line">
            <a:avLst/>
          </a:prstGeom>
          <a:noFill/>
          <a:ln w="9525">
            <a:solidFill>
              <a:srgbClr val="2A37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83590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80160" y="3291840"/>
            <a:ext cx="5897880" cy="0"/>
          </a:xfrm>
          <a:prstGeom prst="line">
            <a:avLst/>
          </a:prstGeom>
          <a:noFill/>
          <a:ln w="9525">
            <a:solidFill>
              <a:srgbClr val="2A37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1729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280160" y="2628900"/>
            <a:ext cx="5897880" cy="0"/>
          </a:xfrm>
          <a:prstGeom prst="line">
            <a:avLst/>
          </a:prstGeom>
          <a:noFill/>
          <a:ln w="9525">
            <a:solidFill>
              <a:srgbClr val="2A37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5100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280160" y="1965960"/>
            <a:ext cx="5897880" cy="0"/>
          </a:xfrm>
          <a:prstGeom prst="line">
            <a:avLst/>
          </a:prstGeom>
          <a:noFill/>
          <a:ln w="9525">
            <a:solidFill>
              <a:srgbClr val="2A37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18470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 flipV="1">
            <a:off x="1371600" y="3212287"/>
            <a:ext cx="1440180" cy="397764"/>
          </a:xfrm>
          <a:prstGeom prst="line">
            <a:avLst/>
          </a:prstGeom>
          <a:noFill/>
          <a:ln w="31750">
            <a:solidFill>
              <a:srgbClr val="1BAF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2811780" y="2894076"/>
            <a:ext cx="1440180" cy="318211"/>
          </a:xfrm>
          <a:prstGeom prst="line">
            <a:avLst/>
          </a:prstGeom>
          <a:noFill/>
          <a:ln w="31750">
            <a:solidFill>
              <a:srgbClr val="1BAF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4251960" y="2734970"/>
            <a:ext cx="1440180" cy="159106"/>
          </a:xfrm>
          <a:prstGeom prst="line">
            <a:avLst/>
          </a:prstGeom>
          <a:noFill/>
          <a:ln w="31750">
            <a:solidFill>
              <a:srgbClr val="1BAF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92140" y="2734970"/>
            <a:ext cx="1440180" cy="424282"/>
          </a:xfrm>
          <a:prstGeom prst="line">
            <a:avLst/>
          </a:prstGeom>
          <a:noFill/>
          <a:ln w="31750">
            <a:solidFill>
              <a:srgbClr val="E266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71016" y="3509467"/>
            <a:ext cx="201168" cy="201168"/>
          </a:xfrm>
          <a:prstGeom prst="ellipse">
            <a:avLst/>
          </a:prstGeom>
          <a:solidFill>
            <a:srgbClr val="E2665A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079699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474573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6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50017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0/5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11196" y="3111703"/>
            <a:ext cx="201168" cy="201168"/>
          </a:xfrm>
          <a:prstGeom prst="ellipse">
            <a:avLst/>
          </a:prstGeom>
          <a:solidFill>
            <a:srgbClr val="E2665A"/>
          </a:solidFill>
          <a:ln/>
        </p:spPr>
      </p:sp>
      <p:sp>
        <p:nvSpPr>
          <p:cNvPr id="26" name="Text 24"/>
          <p:cNvSpPr/>
          <p:nvPr/>
        </p:nvSpPr>
        <p:spPr>
          <a:xfrm>
            <a:off x="2446020" y="2681935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46020" y="474573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6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46020" y="50017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2/5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51376" y="2793492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8"/>
          <p:cNvSpPr/>
          <p:nvPr/>
        </p:nvSpPr>
        <p:spPr>
          <a:xfrm>
            <a:off x="3886200" y="23637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86200" y="474573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86200" y="50017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3/5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545836" y="2588666"/>
            <a:ext cx="292608" cy="292608"/>
          </a:xfrm>
          <a:prstGeom prst="ellipse">
            <a:avLst/>
          </a:prstGeom>
          <a:solidFill>
            <a:srgbClr val="1BAF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26380" y="220461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26380" y="474573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AF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26380" y="50017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5/5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031736" y="3058668"/>
            <a:ext cx="201168" cy="201168"/>
          </a:xfrm>
          <a:prstGeom prst="ellipse">
            <a:avLst/>
          </a:prstGeom>
          <a:solidFill>
            <a:srgbClr val="E2665A"/>
          </a:solidFill>
          <a:ln/>
        </p:spPr>
      </p:sp>
      <p:sp>
        <p:nvSpPr>
          <p:cNvPr id="38" name="Text 36"/>
          <p:cNvSpPr/>
          <p:nvPr/>
        </p:nvSpPr>
        <p:spPr>
          <a:xfrm>
            <a:off x="6766560" y="26289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66560" y="474573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6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66560" y="50017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2/5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280160" y="18013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村の自律度（5回平均）と、自律できた回数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280160" y="5276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↑ 押すほど良くなるが、L4で反転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680960" y="1783080"/>
            <a:ext cx="3959352" cy="1691640"/>
          </a:xfrm>
          <a:prstGeom prst="roundRect">
            <a:avLst>
              <a:gd name="adj" fmla="val 6486"/>
            </a:avLst>
          </a:prstGeom>
          <a:solidFill>
            <a:srgbClr val="1C2C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909560" y="2020824"/>
            <a:ext cx="182880" cy="182880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45" name="Text 43"/>
          <p:cNvSpPr/>
          <p:nvPr/>
        </p:nvSpPr>
        <p:spPr>
          <a:xfrm>
            <a:off x="8202168" y="19110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AF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L3で分岐が消えた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955280" y="2313432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2/5だった自律が5回とも成功に。ばらつきも最小（幅10点）。「運が良ければ」を「確実に」へ変える閾値がある。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680960" y="3611880"/>
            <a:ext cx="3959352" cy="1691640"/>
          </a:xfrm>
          <a:prstGeom prst="roundRect">
            <a:avLst>
              <a:gd name="adj" fmla="val 6486"/>
            </a:avLst>
          </a:prstGeom>
          <a:solidFill>
            <a:srgbClr val="1C2C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909560" y="3849624"/>
            <a:ext cx="182880" cy="182880"/>
          </a:xfrm>
          <a:prstGeom prst="ellipse">
            <a:avLst/>
          </a:prstGeom>
          <a:solidFill>
            <a:srgbClr val="E2665A"/>
          </a:solidFill>
          <a:ln/>
        </p:spPr>
      </p:sp>
      <p:sp>
        <p:nvSpPr>
          <p:cNvPr id="49" name="Text 47"/>
          <p:cNvSpPr/>
          <p:nvPr/>
        </p:nvSpPr>
        <p:spPr>
          <a:xfrm>
            <a:off x="8202168" y="37398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6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L4は第二の救済者を生んだ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7955280" y="4142232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独立度はL3より高いのに自律度は71→55。住民の待ち相手が救済者から世話好きな住民に移っただけだった。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48640" y="5742432"/>
            <a:ext cx="11091672" cy="658368"/>
          </a:xfrm>
          <a:prstGeom prst="roundRect">
            <a:avLst>
              <a:gd name="adj" fmla="val 13889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868680" y="57424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C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効いていたのは「救済者に頼らないこと」ではなく、「他の住民を巻き込むこと」だった。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救済者 × ガバナンス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別のモデルでも同じことが起きるのか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0700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生成モデルだけを Sonnet 4.5 → Opus 5 に変更。採点する審査役は据え置き、L1/L3/L4を各8回。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806440" cy="2157984"/>
          </a:xfrm>
          <a:prstGeom prst="roundRect">
            <a:avLst>
              <a:gd name="adj" fmla="val 5085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659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0" y="196596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794760" y="196596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96596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5328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Sonnet 4.5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253288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2/5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94760" y="253288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AF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5/5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53288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2/5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09981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Opus 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60320" y="3099816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5/8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94760" y="3099816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4/8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3099816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4/8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62102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「自律できた回」の比較。Sonnetで際立っていたL3の優位が、Opus 5では消えている。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5806440" cy="1600200"/>
          </a:xfrm>
          <a:prstGeom prst="roundRect">
            <a:avLst>
              <a:gd name="adj" fmla="val 6857"/>
            </a:avLst>
          </a:prstGeom>
          <a:solidFill>
            <a:srgbClr val="1C2C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41605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C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それでも「2つに分かれる」ことは残った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68680" y="4892040"/>
            <a:ext cx="5120640" cy="0"/>
          </a:xfrm>
          <a:prstGeom prst="line">
            <a:avLst/>
          </a:prstGeom>
          <a:noFill/>
          <a:ln w="12700">
            <a:solidFill>
              <a:srgbClr val="2A37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1125" y="4823460"/>
            <a:ext cx="137160" cy="137160"/>
          </a:xfrm>
          <a:prstGeom prst="ellipse">
            <a:avLst/>
          </a:prstGeom>
          <a:solidFill>
            <a:srgbClr val="E2665A">
              <a:alpha val="7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31125" y="4823460"/>
            <a:ext cx="137160" cy="137160"/>
          </a:xfrm>
          <a:prstGeom prst="ellipse">
            <a:avLst/>
          </a:prstGeom>
          <a:solidFill>
            <a:srgbClr val="E2665A">
              <a:alpha val="7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731125" y="4823460"/>
            <a:ext cx="137160" cy="137160"/>
          </a:xfrm>
          <a:prstGeom prst="ellipse">
            <a:avLst/>
          </a:prstGeom>
          <a:solidFill>
            <a:srgbClr val="E2665A">
              <a:alpha val="7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662151" y="4823460"/>
            <a:ext cx="137160" cy="137160"/>
          </a:xfrm>
          <a:prstGeom prst="ellipse">
            <a:avLst/>
          </a:prstGeom>
          <a:solidFill>
            <a:srgbClr val="E2665A">
              <a:alpha val="7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662151" y="4823460"/>
            <a:ext cx="137160" cy="137160"/>
          </a:xfrm>
          <a:prstGeom prst="ellipse">
            <a:avLst/>
          </a:prstGeom>
          <a:solidFill>
            <a:srgbClr val="E2665A">
              <a:alpha val="7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662151" y="4823460"/>
            <a:ext cx="137160" cy="137160"/>
          </a:xfrm>
          <a:prstGeom prst="ellipse">
            <a:avLst/>
          </a:prstGeom>
          <a:solidFill>
            <a:srgbClr val="E2665A">
              <a:alpha val="7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62151" y="4823460"/>
            <a:ext cx="137160" cy="137160"/>
          </a:xfrm>
          <a:prstGeom prst="ellipse">
            <a:avLst/>
          </a:prstGeom>
          <a:solidFill>
            <a:srgbClr val="E2665A">
              <a:alpha val="7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662151" y="4823460"/>
            <a:ext cx="137160" cy="137160"/>
          </a:xfrm>
          <a:prstGeom prst="ellipse">
            <a:avLst/>
          </a:prstGeom>
          <a:solidFill>
            <a:srgbClr val="E2665A">
              <a:alpha val="7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662151" y="4823460"/>
            <a:ext cx="137160" cy="137160"/>
          </a:xfrm>
          <a:prstGeom prst="ellipse">
            <a:avLst/>
          </a:prstGeom>
          <a:solidFill>
            <a:srgbClr val="E2665A">
              <a:alpha val="7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662151" y="4823460"/>
            <a:ext cx="137160" cy="137160"/>
          </a:xfrm>
          <a:prstGeom prst="ellipse">
            <a:avLst/>
          </a:prstGeom>
          <a:solidFill>
            <a:srgbClr val="E2665A">
              <a:alpha val="7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3176" y="4823460"/>
            <a:ext cx="137160" cy="137160"/>
          </a:xfrm>
          <a:prstGeom prst="ellipse">
            <a:avLst/>
          </a:prstGeom>
          <a:solidFill>
            <a:srgbClr val="E8A33D">
              <a:alpha val="7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524202" y="4823460"/>
            <a:ext cx="137160" cy="137160"/>
          </a:xfrm>
          <a:prstGeom prst="ellipse">
            <a:avLst/>
          </a:prstGeom>
          <a:solidFill>
            <a:srgbClr val="1BAF7A">
              <a:alpha val="7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24202" y="4823460"/>
            <a:ext cx="137160" cy="137160"/>
          </a:xfrm>
          <a:prstGeom prst="ellipse">
            <a:avLst/>
          </a:prstGeom>
          <a:solidFill>
            <a:srgbClr val="1BAF7A">
              <a:alpha val="7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524202" y="4823460"/>
            <a:ext cx="137160" cy="137160"/>
          </a:xfrm>
          <a:prstGeom prst="ellipse">
            <a:avLst/>
          </a:prstGeom>
          <a:solidFill>
            <a:srgbClr val="1BAF7A">
              <a:alpha val="7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524202" y="4823460"/>
            <a:ext cx="137160" cy="137160"/>
          </a:xfrm>
          <a:prstGeom prst="ellipse">
            <a:avLst/>
          </a:prstGeom>
          <a:solidFill>
            <a:srgbClr val="1BAF7A">
              <a:alpha val="7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989715" y="4823460"/>
            <a:ext cx="137160" cy="137160"/>
          </a:xfrm>
          <a:prstGeom prst="ellipse">
            <a:avLst/>
          </a:prstGeom>
          <a:solidFill>
            <a:srgbClr val="1BAF7A">
              <a:alpha val="7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989715" y="4823460"/>
            <a:ext cx="137160" cy="137160"/>
          </a:xfrm>
          <a:prstGeom prst="ellipse">
            <a:avLst/>
          </a:prstGeom>
          <a:solidFill>
            <a:srgbClr val="1BAF7A">
              <a:alpha val="7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989715" y="4823460"/>
            <a:ext cx="137160" cy="137160"/>
          </a:xfrm>
          <a:prstGeom prst="ellipse">
            <a:avLst/>
          </a:prstGeom>
          <a:solidFill>
            <a:srgbClr val="1BAF7A">
              <a:alpha val="7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89715" y="4823460"/>
            <a:ext cx="137160" cy="137160"/>
          </a:xfrm>
          <a:prstGeom prst="ellipse">
            <a:avLst/>
          </a:prstGeom>
          <a:solidFill>
            <a:srgbClr val="1BAF7A">
              <a:alpha val="7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989715" y="4823460"/>
            <a:ext cx="137160" cy="137160"/>
          </a:xfrm>
          <a:prstGeom prst="ellipse">
            <a:avLst/>
          </a:prstGeom>
          <a:solidFill>
            <a:srgbClr val="1BAF7A">
              <a:alpha val="7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175920" y="4823460"/>
            <a:ext cx="137160" cy="137160"/>
          </a:xfrm>
          <a:prstGeom prst="ellipse">
            <a:avLst/>
          </a:prstGeom>
          <a:solidFill>
            <a:srgbClr val="1BAF7A">
              <a:alpha val="7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175920" y="4823460"/>
            <a:ext cx="137160" cy="137160"/>
          </a:xfrm>
          <a:prstGeom prst="ellipse">
            <a:avLst/>
          </a:prstGeom>
          <a:solidFill>
            <a:srgbClr val="1BAF7A">
              <a:alpha val="7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175920" y="4823460"/>
            <a:ext cx="137160" cy="137160"/>
          </a:xfrm>
          <a:prstGeom prst="ellipse">
            <a:avLst/>
          </a:prstGeom>
          <a:solidFill>
            <a:srgbClr val="1BAF7A">
              <a:alpha val="7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455227" y="4823460"/>
            <a:ext cx="137160" cy="137160"/>
          </a:xfrm>
          <a:prstGeom prst="ellipse">
            <a:avLst/>
          </a:prstGeom>
          <a:solidFill>
            <a:srgbClr val="1BAF7A">
              <a:alpha val="7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77240" y="50383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6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低い群 10回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017520" y="50383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中間 1回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617720" y="50383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BAF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高い群 13回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720840" y="1828800"/>
            <a:ext cx="4919472" cy="1783080"/>
          </a:xfrm>
          <a:prstGeom prst="roundRect">
            <a:avLst>
              <a:gd name="adj" fmla="val 6154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018020" y="2052828"/>
            <a:ext cx="502920" cy="502920"/>
          </a:xfrm>
          <a:prstGeom prst="ellipse">
            <a:avLst/>
          </a:prstGeom>
          <a:solidFill>
            <a:srgbClr val="E2665A"/>
          </a:solidFill>
          <a:ln w="9525">
            <a:solidFill>
              <a:srgbClr val="E2665A"/>
            </a:solidFill>
            <a:prstDash val="solid"/>
          </a:ln>
        </p:spPr>
      </p:sp>
      <p:pic>
        <p:nvPicPr>
          <p:cNvPr id="5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8779" y="2183587"/>
            <a:ext cx="241402" cy="241402"/>
          </a:xfrm>
          <a:prstGeom prst="rect">
            <a:avLst/>
          </a:prstGeom>
        </p:spPr>
      </p:pic>
      <p:sp>
        <p:nvSpPr>
          <p:cNvPr id="51" name="Text 48"/>
          <p:cNvSpPr/>
          <p:nvPr/>
        </p:nvSpPr>
        <p:spPr>
          <a:xfrm>
            <a:off x="7680960" y="20848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6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介入は再現しなかった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6995160" y="269748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L1→L3の効果はSonnetで+18.0、Opus 5では−1.2。標準誤差の0.19倍で、効果はゼロと言ってよい。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6720840" y="3749040"/>
            <a:ext cx="4919472" cy="1783080"/>
          </a:xfrm>
          <a:prstGeom prst="roundRect">
            <a:avLst>
              <a:gd name="adj" fmla="val 6154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7018020" y="3973068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  <a:prstDash val="solid"/>
          </a:ln>
        </p:spPr>
      </p:sp>
      <p:pic>
        <p:nvPicPr>
          <p:cNvPr id="5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779" y="4103827"/>
            <a:ext cx="241402" cy="241402"/>
          </a:xfrm>
          <a:prstGeom prst="rect">
            <a:avLst/>
          </a:prstGeom>
        </p:spPr>
      </p:pic>
      <p:sp>
        <p:nvSpPr>
          <p:cNvPr id="56" name="Text 52"/>
          <p:cNvSpPr/>
          <p:nvPr/>
        </p:nvSpPr>
        <p:spPr>
          <a:xfrm>
            <a:off x="7680960" y="40050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AF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分岐という現象は再現した</a:t>
            </a:r>
            <a:endParaRPr lang="en-US" sz="1300" dirty="0"/>
          </a:p>
        </p:txBody>
      </p:sp>
      <p:sp>
        <p:nvSpPr>
          <p:cNvPr id="57" name="Text 53"/>
          <p:cNvSpPr/>
          <p:nvPr/>
        </p:nvSpPr>
        <p:spPr>
          <a:xfrm>
            <a:off x="6995160" y="461772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24回中23回がどちらかの塊に落ちた。村が2つの状態を持つこと自体はモデルをまたいで成立する。</a:t>
            </a:r>
            <a:endParaRPr lang="en-US" sz="1050" dirty="0"/>
          </a:p>
        </p:txBody>
      </p:sp>
      <p:sp>
        <p:nvSpPr>
          <p:cNvPr id="58" name="Shape 54"/>
          <p:cNvSpPr/>
          <p:nvPr/>
        </p:nvSpPr>
        <p:spPr>
          <a:xfrm>
            <a:off x="548640" y="580644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1C2C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9" name="Text 55"/>
          <p:cNvSpPr/>
          <p:nvPr/>
        </p:nvSpPr>
        <p:spPr>
          <a:xfrm>
            <a:off x="868680" y="58064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C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構造（2つの引き込み先がある）は頑健で、テコ（何を変えれば動くか）は脆かった。</a:t>
            </a:r>
            <a:endParaRPr lang="en-US" sz="1400" dirty="0"/>
          </a:p>
        </p:txBody>
      </p:sp>
      <p:sp>
        <p:nvSpPr>
          <p:cNvPr id="60" name="Text 56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救済者 × ガバナンス</a:t>
            </a:r>
            <a:endParaRPr lang="en-US" sz="900" dirty="0"/>
          </a:p>
        </p:txBody>
      </p:sp>
      <p:sp>
        <p:nvSpPr>
          <p:cNvPr id="61" name="Text 5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会話ログが語ること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1091672" cy="1417320"/>
          </a:xfrm>
          <a:prstGeom prst="roundRect">
            <a:avLst>
              <a:gd name="adj" fmla="val 7742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080260"/>
            <a:ext cx="640080" cy="64008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802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37360" y="18562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救済者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219456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「ただ、ちょっと最近、どこまでが『いつも通り』なのか、自分でもよく分からなくなってきちゃって…大丈夫、愚痴みたいになってすみません。」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310128"/>
            <a:ext cx="11091672" cy="1417320"/>
          </a:xfrm>
          <a:prstGeom prst="roundRect">
            <a:avLst>
              <a:gd name="adj" fmla="val 7742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698748"/>
            <a:ext cx="640080" cy="64008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6987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3474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68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声を上げにくい住民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37360" y="3813048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「勝手に動いていいのか分からないですし、やっぱり救済者さんが戻られるまで、みんな待った方が…でも待ってる間に何かあったら…どうしたらいいんでしょう。」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928616"/>
            <a:ext cx="11091672" cy="1417320"/>
          </a:xfrm>
          <a:prstGeom prst="roundRect">
            <a:avLst>
              <a:gd name="adj" fmla="val 7742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5317236"/>
            <a:ext cx="640080" cy="640080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3172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37360" y="50932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AF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村長・管理者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5431536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「制度としては住民同士で相談してもらうのが基本だから、世話好きな住民さんが動いてくれるのはありがたいね。」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救済者 × ガバナンス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考察：4つの発見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91672" cy="1060704"/>
          </a:xfrm>
          <a:prstGeom prst="roundRect">
            <a:avLst>
              <a:gd name="adj" fmla="val 10345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810512"/>
            <a:ext cx="548640" cy="548640"/>
          </a:xfrm>
          <a:prstGeom prst="ellipse">
            <a:avLst/>
          </a:prstGeom>
          <a:solidFill>
            <a:srgbClr val="E8A33D"/>
          </a:solidFill>
          <a:ln w="9525">
            <a:solidFill>
              <a:srgbClr val="E8A33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766" y="1953158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1682496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依存の代償は、危機の前から発生している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874520" y="2066544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危機の起きないA条件でも救済者依存度は88でB条件（90）とほぼ同じ。壊れるのは危機の瞬間ではなく、運用設計の時点で決まっている。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761488"/>
            <a:ext cx="11091672" cy="1060704"/>
          </a:xfrm>
          <a:prstGeom prst="roundRect">
            <a:avLst>
              <a:gd name="adj" fmla="val 10345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60120" y="3017520"/>
            <a:ext cx="548640" cy="548640"/>
          </a:xfrm>
          <a:prstGeom prst="ellipse">
            <a:avLst/>
          </a:prstGeom>
          <a:solidFill>
            <a:srgbClr val="E8A33D"/>
          </a:solidFill>
          <a:ln w="9525">
            <a:solidFill>
              <a:srgbClr val="E8A33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766" y="316016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74520" y="288950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依存は安定し、自律は不安定である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874520" y="3273552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A・Bの標準偏差はほぼ0で毎回きっちり再現される。一方Cは±20〜26。悪い状態のほうが「安定」しているという非対称性がある。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968496"/>
            <a:ext cx="11091672" cy="1060704"/>
          </a:xfrm>
          <a:prstGeom prst="roundRect">
            <a:avLst>
              <a:gd name="adj" fmla="val 10345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60120" y="4224528"/>
            <a:ext cx="548640" cy="548640"/>
          </a:xfrm>
          <a:prstGeom prst="ellipse">
            <a:avLst/>
          </a:prstGeom>
          <a:solidFill>
            <a:srgbClr val="E8A33D"/>
          </a:solidFill>
          <a:ln w="9525">
            <a:solidFill>
              <a:srgbClr val="E8A33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66" y="4367174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74520" y="409651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「大丈夫です」は安全のサインではなかった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874520" y="448056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本人は全フェーズで「大丈夫」と言い続けながら、同じログで水路の詰まりを放置し「見てるだけ」と行動が止まっていた。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5175504"/>
            <a:ext cx="11091672" cy="1060704"/>
          </a:xfrm>
          <a:prstGeom prst="roundRect">
            <a:avLst>
              <a:gd name="adj" fmla="val 10345"/>
            </a:avLst>
          </a:prstGeom>
          <a:solidFill>
            <a:srgbClr val="1C2C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60120" y="5431536"/>
            <a:ext cx="548640" cy="548640"/>
          </a:xfrm>
          <a:prstGeom prst="ellipse">
            <a:avLst/>
          </a:prstGeom>
          <a:solidFill>
            <a:srgbClr val="E2665A"/>
          </a:solidFill>
          <a:ln w="9525">
            <a:solidFill>
              <a:srgbClr val="E2665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766" y="5574182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874520" y="530352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構造は頑健で、テコは脆かった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874520" y="5687568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村が2つの状態に分かれること自体は別モデルでも再現した。しかし「何を変えれば動くか」は再現せず、モデル依存だった。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48640" y="640080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各条件5回ずつ計15回の実行。LLMによる採点であり、統計的検定を行うにはまだ試行数が少ない。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救済者 × ガバナンス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「意味」から「経営」への翻訳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Human Value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75120" y="1554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8F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Corporate KPI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1C2C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659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4C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「この人がいたことで、安心して活動できた」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2356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675120" y="196596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03720" y="19659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5A8F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オンボーディング成功・参加継続率の向上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1C2C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0632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4C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「孤立せずに済んだ／対立が翻訳された」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23560" y="3063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675120" y="306324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30632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5A8F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離脱コストの回避・炎上防止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1C2C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4160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4C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「自分でも問題に対処できるようになった」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23560" y="4160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675120" y="416052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03720" y="4160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5A8F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組織のレジリエンス向上・意思決定の高速化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30352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5303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人を支える行為は「美談」ではない。組織の持続可能性と安全保障に直結する。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救済者 × ガバナンス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フラクタルな構造：村から国家の「メタ安全保障」へ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1452" y="1874520"/>
            <a:ext cx="3429000" cy="2880360"/>
          </a:xfrm>
          <a:prstGeom prst="roundRect">
            <a:avLst>
              <a:gd name="adj" fmla="val 3810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50696" y="1746504"/>
            <a:ext cx="1810512" cy="1810512"/>
          </a:xfrm>
          <a:prstGeom prst="ellipse">
            <a:avLst/>
          </a:prstGeom>
          <a:solidFill>
            <a:srgbClr val="1BAF7A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697584" y="1993392"/>
            <a:ext cx="1316736" cy="1316736"/>
          </a:xfrm>
          <a:prstGeom prst="ellipse">
            <a:avLst/>
          </a:prstGeom>
          <a:solidFill>
            <a:srgbClr val="1BAF7A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944472" y="2240280"/>
            <a:ext cx="822960" cy="82296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8441" y="245425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8612" y="3200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村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5772" y="36576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「世話焼きへの過度な依存」と疲弊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81348" y="1874520"/>
            <a:ext cx="3429000" cy="2880360"/>
          </a:xfrm>
          <a:prstGeom prst="roundRect">
            <a:avLst>
              <a:gd name="adj" fmla="val 3810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190592" y="1746504"/>
            <a:ext cx="1810512" cy="1810512"/>
          </a:xfrm>
          <a:prstGeom prst="ellipse">
            <a:avLst/>
          </a:prstGeom>
          <a:solidFill>
            <a:srgbClr val="2A78D6">
              <a:alpha val="12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437480" y="1993392"/>
            <a:ext cx="1316736" cy="1316736"/>
          </a:xfrm>
          <a:prstGeom prst="ellipse">
            <a:avLst/>
          </a:prstGeom>
          <a:solidFill>
            <a:srgbClr val="2A78D6">
              <a:alpha val="22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684368" y="2240280"/>
            <a:ext cx="822960" cy="82296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8337" y="2454250"/>
            <a:ext cx="395021" cy="39502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18508" y="3200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都市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55668" y="36576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「支援制度の複雑化」と、誰にも届かないSOS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121244" y="1874520"/>
            <a:ext cx="3429000" cy="2880360"/>
          </a:xfrm>
          <a:prstGeom prst="roundRect">
            <a:avLst>
              <a:gd name="adj" fmla="val 3810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930488" y="1746504"/>
            <a:ext cx="1810512" cy="1810512"/>
          </a:xfrm>
          <a:prstGeom prst="ellipse">
            <a:avLst/>
          </a:prstGeom>
          <a:solidFill>
            <a:srgbClr val="EB6834">
              <a:alpha val="12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9177376" y="1993392"/>
            <a:ext cx="1316736" cy="1316736"/>
          </a:xfrm>
          <a:prstGeom prst="ellipse">
            <a:avLst/>
          </a:prstGeom>
          <a:solidFill>
            <a:srgbClr val="EB6834">
              <a:alpha val="22000"/>
            </a:srgbClr>
          </a:solidFill>
          <a:ln/>
        </p:spPr>
      </p:sp>
      <p:sp>
        <p:nvSpPr>
          <p:cNvPr id="20" name="Shape 16"/>
          <p:cNvSpPr/>
          <p:nvPr/>
        </p:nvSpPr>
        <p:spPr>
          <a:xfrm>
            <a:off x="9424264" y="2240280"/>
            <a:ext cx="822960" cy="82296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233" y="2454250"/>
            <a:ext cx="395021" cy="39502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58404" y="3200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8395564" y="36576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「権力の集中」と、強い指導者への救世主待望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548640" y="516636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1C2C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868680" y="516636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小さな共同体における「救済者への依存」と、国家規模における「権力の集中」は構造的に同じである。この実験は、社会全体のレジリエンスを問う試みである。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救済者 × ガバナンス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90592" y="512064"/>
            <a:ext cx="1810512" cy="1810512"/>
          </a:xfrm>
          <a:prstGeom prst="ellipse">
            <a:avLst/>
          </a:prstGeom>
          <a:solidFill>
            <a:srgbClr val="E8A33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37480" y="758952"/>
            <a:ext cx="1316736" cy="1316736"/>
          </a:xfrm>
          <a:prstGeom prst="ellipse">
            <a:avLst/>
          </a:prstGeom>
          <a:solidFill>
            <a:srgbClr val="E8A33D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84368" y="1005840"/>
            <a:ext cx="822960" cy="822960"/>
          </a:xfrm>
          <a:prstGeom prst="ellipse">
            <a:avLst/>
          </a:prstGeom>
          <a:solidFill>
            <a:srgbClr val="E8A33D"/>
          </a:solidFill>
          <a:ln w="9525">
            <a:solidFill>
              <a:srgbClr val="E8A33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8337" y="12198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196596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救済者 × ガバナンス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0" y="265176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FC9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神が降りなくても、村は回るか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448" y="333756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92328" y="3474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26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依存は毎回再現された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38048" y="40233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A・Bの標準偏差はほぼ0。放っておけば村は必ず依存へ落ちる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58488" y="333756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41368" y="3474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AF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村は2つの状態に分かれる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4587088" y="40233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連続的には良くならない。別モデルでも24回中23回が両端に落ちた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107528" y="333756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90408" y="3474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テコはモデル依存だった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8336128" y="40233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「何を変えれば動くか」は追試で再現せず。構造は頑健、介入は脆い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0" y="50749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4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実装はClaude（Anthropic）との二人三脚で、企画・レビュー・考察を担当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0" y="603504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github.com/sakurako-cottoncandy/beyond-the-savior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088575" y="6400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Hackathon Project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救済者×ガバナンス</dc:title>
  <dc:subject>PptxGenJS Presentation</dc:subject>
  <dc:creator>sakurako-cottoncandy</dc:creator>
  <cp:lastModifiedBy>sakurako-cottoncandy</cp:lastModifiedBy>
  <cp:revision>1</cp:revision>
  <dcterms:created xsi:type="dcterms:W3CDTF">2026-08-19T17:02:47Z</dcterms:created>
  <dcterms:modified xsi:type="dcterms:W3CDTF">2026-08-19T17:02:47Z</dcterms:modified>
</cp:coreProperties>
</file>