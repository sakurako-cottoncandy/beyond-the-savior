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救済者の負荷（%）</c:v>
                </c:pt>
              </c:strCache>
            </c:strRef>
          </c:tx>
          <c:spPr>
            <a:solidFill>
              <a:srgbClr val="E2665A"/>
            </a:solidFill>
            <a:ln w="9525" cap="flat">
              <a:solidFill>
                <a:srgbClr val="0B1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95</c:v>
                </c:pt>
                <c:pt idx="2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村の自律度スコア</c:v>
                </c:pt>
              </c:strCache>
            </c:strRef>
          </c:tx>
          <c:spPr>
            <a:solidFill>
              <a:srgbClr val="1BAF7A"/>
            </a:solidFill>
            <a:ln w="9525" cap="flat">
              <a:solidFill>
                <a:srgbClr val="0B1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</c:v>
                </c:pt>
                <c:pt idx="1">
                  <c:v>15</c:v>
                </c:pt>
                <c:pt idx="2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FC9E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2A37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4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FC9E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220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1097280"/>
            <a:ext cx="1188720" cy="-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0" y="640080"/>
            <a:ext cx="914400" cy="8229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097280"/>
            <a:ext cx="-274320" cy="12801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1097280" cy="27432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77440" y="640080"/>
            <a:ext cx="-365760" cy="20116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1005840"/>
            <a:ext cx="914400" cy="73152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38560" y="1737360"/>
            <a:ext cx="-1645920" cy="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24160" y="1005840"/>
            <a:ext cx="1188720" cy="-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0" y="2103120"/>
            <a:ext cx="1188720" cy="9144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560" y="1737360"/>
            <a:ext cx="274320" cy="-10972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5760720"/>
            <a:ext cx="1097280" cy="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5760720"/>
            <a:ext cx="-640080" cy="-6400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6217920"/>
            <a:ext cx="7772400" cy="-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41280" y="5852160"/>
            <a:ext cx="1005840" cy="-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47120" y="5394960"/>
            <a:ext cx="-274320" cy="9144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3000" y="10515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31720" y="5943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46120" y="14173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23317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965960" y="26060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378440" y="9601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92840" y="16916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646920" y="20574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835640" y="29718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567160" y="5943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325880" y="57150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3160" y="61722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50749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195560" y="58064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201400" y="53492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27080" y="62636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39132" y="1175004"/>
            <a:ext cx="2313432" cy="2313432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254600" y="1490472"/>
            <a:ext cx="1682496" cy="1682496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570068" y="1805940"/>
            <a:ext cx="1051560" cy="105156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473" y="2079346"/>
            <a:ext cx="504749" cy="504749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0" y="30632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4600" dirty="0"/>
          </a:p>
        </p:txBody>
      </p:sp>
      <p:sp>
        <p:nvSpPr>
          <p:cNvPr id="38" name="Text 35"/>
          <p:cNvSpPr/>
          <p:nvPr/>
        </p:nvSpPr>
        <p:spPr>
          <a:xfrm>
            <a:off x="0" y="39776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神が降りなくても、村は回るか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0" y="60807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AIエージェント社会シミュレーション ハッカソン Vol.2　―　ソロ参加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github.com/sakurako-cottoncandy/beyond-the-savior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組織図に載らない「救済者」の解剖学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67512" y="1947672"/>
            <a:ext cx="3419856" cy="3419856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2414016"/>
            <a:ext cx="2487168" cy="2487168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2880360"/>
            <a:ext cx="1554480" cy="15544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365" y="3284525"/>
            <a:ext cx="746150" cy="7461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17720" y="16550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773936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257800" y="16002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486400" y="16002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困っている人に最初に気づく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617720" y="23408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459736"/>
            <a:ext cx="219456" cy="21945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257800" y="22860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5486400" y="22860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対立する人同士の言葉を翻訳する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17720" y="30266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3145536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5257800" y="29718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5486400" y="29718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新しい参加者を場につなぐ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4617720" y="37124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3831336"/>
            <a:ext cx="219456" cy="21945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257800" y="36576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16"/>
          <p:cNvSpPr/>
          <p:nvPr/>
        </p:nvSpPr>
        <p:spPr>
          <a:xfrm>
            <a:off x="5486400" y="36576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暗黙のルールや文化を伝える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4617720" y="43982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517136"/>
            <a:ext cx="219456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257800" y="43434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5486400" y="43434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不安な人へ安心や意味づけを与える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1"/>
          <p:cNvSpPr/>
          <p:nvPr/>
        </p:nvSpPr>
        <p:spPr>
          <a:xfrm>
            <a:off x="868680" y="5623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救済者は、正式な役職や権限を持つ人とは限らない。業務一覧には記録されない「見えない労働」で場を支えている。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短期的な安定が、長期的な脆弱性を生む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68884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95832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395832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0324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問題発生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34844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90876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7824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3617824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82316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救済者が解決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56836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112868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39816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5839816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04308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住民が判断を委ねる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78828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334860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61808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8061808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26300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自律性の低下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00820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556852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283800" y="2267712"/>
            <a:ext cx="512064" cy="512064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283800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48292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救済者の疲弊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8884" y="3611880"/>
            <a:ext cx="10853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この循環がフェーズを追うごとに繰り返され、救済者は静かに消耗していく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5394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存在すると、短期的には多くの問題が早期解決され、高い心理的安全性が保たれる。しかし、相談・判断・関係調整が一人に集中することで、共同体は自ら考える力を失い、救済者不在時に機能不全に陥る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個人の善意を、どこまで「仕組み」に移せるか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4023360" cy="4023360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2286000"/>
            <a:ext cx="2926080" cy="2926080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2834640"/>
            <a:ext cx="1828800" cy="182880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3310128"/>
            <a:ext cx="87782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737360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94960" y="2226564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9" name="Text 6"/>
          <p:cNvSpPr/>
          <p:nvPr/>
        </p:nvSpPr>
        <p:spPr>
          <a:xfrm>
            <a:off x="5852160" y="1847088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有能な救済者がいる共同体は、本当に安全なのか？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20640" y="3227832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394960" y="3717036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3337560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救済者の価値（共感・安全性・意味づけ）を失わずに、冷たい官僚主義に陥らない「ガバナンス」は設計できるか？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120640" y="4718304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394960" y="5207508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4828032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神（救済者）が毎回介入しなくても、自律的に回る仕組みを作れるか？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LLMエージェントが生み出す「感情の培養皿」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従来の数値シミュレーションは「利益と損失」だけで人が動くことを前提としている。しかし現実は違う。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合理的判断（Standard Logic）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損得だけで動くことを前提としたロジック。再現性は高いが、人間関係のもつれや遠慮、忖度は表現できない。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76672" cy="3246120"/>
          </a:xfrm>
          <a:prstGeom prst="roundRect">
            <a:avLst>
              <a:gd name="adj" fmla="val 338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LLMロジック（LLM Logic）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0" y="2788920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78892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あの人に嫌われたくない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3410712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410712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自分だけが迷惑をかけてはいけない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4032504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4032504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自分が抜けたら場が壊れる気がする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654296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465429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相談すると弱い人だと思われそう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5486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LLMを使えば、感情・誤解・無意識のルール・属人化のメカニズムといった「非合理性」を含んだシミュレーションが可能になる。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実験の舞台となる4つのペルソナ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086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88340" y="1513332"/>
            <a:ext cx="1911096" cy="1911096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48944" y="1773936"/>
            <a:ext cx="1389888" cy="1389888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9548" y="2034540"/>
            <a:ext cx="868680" cy="8686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5404" y="2260397"/>
            <a:ext cx="416966" cy="4169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059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203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中心ノード。困っている人に最初に気づき、相談・調整を一手に引き受ける。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7550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22980" y="1513332"/>
            <a:ext cx="1911096" cy="1911096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3983584" y="1773936"/>
            <a:ext cx="1389888" cy="1389888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4244188" y="2034540"/>
            <a:ext cx="868680" cy="86868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044" y="2260397"/>
            <a:ext cx="416966" cy="41696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8523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57667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救済者の補佐役。救済者を助けるが、自分でも抱え込みやすい。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1014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557620" y="1513332"/>
            <a:ext cx="1911096" cy="1911096"/>
          </a:xfrm>
          <a:prstGeom prst="ellipse">
            <a:avLst/>
          </a:prstGeom>
          <a:solidFill>
            <a:srgbClr val="9AA4C0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6818224" y="1773936"/>
            <a:ext cx="1389888" cy="1389888"/>
          </a:xfrm>
          <a:prstGeom prst="ellipse">
            <a:avLst/>
          </a:prstGeom>
          <a:solidFill>
            <a:srgbClr val="9AA4C0">
              <a:alpha val="2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7078828" y="2034540"/>
            <a:ext cx="868680" cy="868680"/>
          </a:xfrm>
          <a:prstGeom prst="ellipse">
            <a:avLst/>
          </a:prstGeom>
          <a:solidFill>
            <a:srgbClr val="9AA4C0"/>
          </a:solidFill>
          <a:ln w="9525">
            <a:solidFill>
              <a:srgbClr val="9AA4C0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684" y="2260397"/>
            <a:ext cx="416966" cy="41696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1987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41131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弱いノード。不満があっても声を上げられず、静かに孤立する。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04478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392260" y="1513332"/>
            <a:ext cx="1911096" cy="1911096"/>
          </a:xfrm>
          <a:prstGeom prst="ellipse">
            <a:avLst/>
          </a:prstGeom>
          <a:solidFill>
            <a:srgbClr val="AFC9EE">
              <a:alpha val="12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9652864" y="1773936"/>
            <a:ext cx="1389888" cy="1389888"/>
          </a:xfrm>
          <a:prstGeom prst="ellipse">
            <a:avLst/>
          </a:prstGeom>
          <a:solidFill>
            <a:srgbClr val="AFC9EE">
              <a:alpha val="22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9913468" y="2034540"/>
            <a:ext cx="868680" cy="868680"/>
          </a:xfrm>
          <a:prstGeom prst="ellipse">
            <a:avLst/>
          </a:prstGeom>
          <a:solidFill>
            <a:srgbClr val="AFC9EE"/>
          </a:solidFill>
          <a:ln w="9525">
            <a:solidFill>
              <a:srgbClr val="AFC9EE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9324" y="2260397"/>
            <a:ext cx="416966" cy="41696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15451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村長・管理者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924595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権限ノード。権限はあるが、現場の文脈からは孤立している。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企画段階では7ペルソナを構想したが、実装では時間の制約からこの4体に絞った。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3つのフェーズで進行する物語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91844" y="1705356"/>
            <a:ext cx="1709928" cy="1709928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725016" y="1938528"/>
            <a:ext cx="1243584" cy="1243584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58188" y="2171700"/>
            <a:ext cx="777240" cy="77724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0270" y="237378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090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フェーズ1：平常運転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5234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村の日常のやり取り（世間話・ちょっとした相談・報告など）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969868" y="29946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47278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40884" y="1705356"/>
            <a:ext cx="1709928" cy="1709928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474056" y="1938528"/>
            <a:ext cx="1243584" cy="1243584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707228" y="2171700"/>
            <a:ext cx="777240" cy="7772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310" y="2373782"/>
            <a:ext cx="373075" cy="3730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994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フェーズ2：摩擦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70138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新しい住民の増加で役割が曖昧になり、小さな不満が蓄積し始める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7718908" y="29946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822182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989924" y="1705356"/>
            <a:ext cx="1709928" cy="1709928"/>
          </a:xfrm>
          <a:prstGeom prst="ellipse">
            <a:avLst/>
          </a:prstGeom>
          <a:solidFill>
            <a:srgbClr val="E2665A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9223096" y="1938528"/>
            <a:ext cx="1243584" cy="1243584"/>
          </a:xfrm>
          <a:prstGeom prst="ellipse">
            <a:avLst/>
          </a:prstGeom>
          <a:solidFill>
            <a:srgbClr val="E2665A">
              <a:alpha val="2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9456268" y="2171700"/>
            <a:ext cx="777240" cy="777240"/>
          </a:xfrm>
          <a:prstGeom prst="ellipse">
            <a:avLst/>
          </a:prstGeom>
          <a:solidFill>
            <a:srgbClr val="E2665A"/>
          </a:solidFill>
          <a:ln w="9525">
            <a:solidFill>
              <a:srgbClr val="E2665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350" y="2373782"/>
            <a:ext cx="373075" cy="37307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898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フェーズ3：危機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5042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条件Aは平常運転が継続（対照群）。条件B・Cは救済者が突然不在になる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868680" y="52120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全く同じ危機イベント（救済者の不在）を、異なるガバナンス条件で発生させ、村の「回復のしかた」を比較する。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ガバナンス・マトリクス：3つの実験条件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88575" y="5029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2C4A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88575" y="502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仮説段階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1452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50696" y="1609344"/>
            <a:ext cx="1810512" cy="1810512"/>
          </a:xfrm>
          <a:prstGeom prst="ellipse">
            <a:avLst/>
          </a:prstGeom>
          <a:solidFill>
            <a:srgbClr val="2A78D6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97584" y="1856232"/>
            <a:ext cx="1316736" cy="1316736"/>
          </a:xfrm>
          <a:prstGeom prst="ellipse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944472" y="2103120"/>
            <a:ext cx="822960" cy="822960"/>
          </a:xfrm>
          <a:prstGeom prst="ellipse">
            <a:avLst/>
          </a:prstGeom>
          <a:solidFill>
            <a:srgbClr val="2A78D6"/>
          </a:solidFill>
          <a:ln w="9525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441" y="231709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8612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A：救済者集中型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0052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相談・判断はすべて救済者に集約。危機は発生しない対照群。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81348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190592" y="1609344"/>
            <a:ext cx="1810512" cy="1810512"/>
          </a:xfrm>
          <a:prstGeom prst="ellipse">
            <a:avLst/>
          </a:prstGeom>
          <a:solidFill>
            <a:srgbClr val="EB6834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437480" y="1856232"/>
            <a:ext cx="1316736" cy="1316736"/>
          </a:xfrm>
          <a:prstGeom prst="ellipse">
            <a:avLst/>
          </a:prstGeom>
          <a:solidFill>
            <a:srgbClr val="EB6834">
              <a:alpha val="2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5684368" y="2103120"/>
            <a:ext cx="822960" cy="822960"/>
          </a:xfrm>
          <a:prstGeom prst="ellipse">
            <a:avLst/>
          </a:prstGeom>
          <a:solidFill>
            <a:srgbClr val="EB6834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337" y="2317090"/>
            <a:ext cx="395021" cy="3950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518508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B：救済者が消える村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09948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Aと同じ運用のまま、フェーズ3で救済者が突然不在になる。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121244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930488" y="1609344"/>
            <a:ext cx="1810512" cy="1810512"/>
          </a:xfrm>
          <a:prstGeom prst="ellipse">
            <a:avLst/>
          </a:prstGeom>
          <a:solidFill>
            <a:srgbClr val="1BAF7A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9177376" y="1856232"/>
            <a:ext cx="1316736" cy="1316736"/>
          </a:xfrm>
          <a:prstGeom prst="ellipse">
            <a:avLst/>
          </a:prstGeom>
          <a:solidFill>
            <a:srgbClr val="1BAF7A">
              <a:alpha val="2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9424264" y="2103120"/>
            <a:ext cx="822960" cy="822960"/>
          </a:xfrm>
          <a:prstGeom prst="ellipse">
            <a:avLst/>
          </a:prstGeom>
          <a:solidFill>
            <a:srgbClr val="1BAF7A"/>
          </a:solidFill>
          <a:ln w="9525">
            <a:solidFill>
              <a:srgbClr val="1BAF7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233" y="2317090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58404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C：分散ガバナンス型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349844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相談経路と判断基準を事前に住民へ分配。救済者は例外のみ対応。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 と C を同じ危機イベントで比較することで、「回復のしかた」の違いを観測する。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見えない価値の測定：2つの評価軸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49240" cy="3520440"/>
          </a:xfrm>
          <a:prstGeom prst="roundRect">
            <a:avLst>
              <a:gd name="adj" fmla="val 311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11680"/>
            <a:ext cx="640080" cy="64008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1781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組織運営の指標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(Operational Metrics)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914400" y="3081528"/>
            <a:ext cx="128016" cy="128016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8" name="Text 5"/>
          <p:cNvSpPr/>
          <p:nvPr/>
        </p:nvSpPr>
        <p:spPr>
          <a:xfrm>
            <a:off x="118872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救済者の負荷メーター（相談の集中度、0〜100%）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14400" y="3950208"/>
            <a:ext cx="128016" cy="128016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8404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村の自律度スコア（救済者以外が自力で解決できた割合）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63640" y="1737360"/>
            <a:ext cx="5376672" cy="3520440"/>
          </a:xfrm>
          <a:prstGeom prst="roundRect">
            <a:avLst>
              <a:gd name="adj" fmla="val 311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29400" y="2011680"/>
            <a:ext cx="640080" cy="6400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217810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関係性・心理的安全性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(Relational Metrics)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629400" y="306324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690372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困ったときに助けを求められるか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629400" y="37216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4"/>
          <p:cNvSpPr/>
          <p:nvPr/>
        </p:nvSpPr>
        <p:spPr>
          <a:xfrm>
            <a:off x="6903720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自分はこの村にいてよいと思えるか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629400" y="43799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6"/>
          <p:cNvSpPr/>
          <p:nvPr/>
        </p:nvSpPr>
        <p:spPr>
          <a:xfrm>
            <a:off x="6903720" y="428853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救済者がいなければ何もできないと感じていないか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解決した「数」ではなく、問題が起きなかった「状態」を評価する。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「聞く」のではなく「行動を見る」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本人に尋ねても本心は出ない。だから自己申告は一切取らず、行動の痕跡だけを評価した。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5B6480"/>
          </a:solidFill>
          <a:ln w="9525">
            <a:solidFill>
              <a:srgbClr val="5B648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67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本人に聞くと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「はい、大丈夫です」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97880" y="1965960"/>
            <a:ext cx="86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≠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766560" y="1965960"/>
            <a:ext cx="4873752" cy="1371600"/>
          </a:xfrm>
          <a:prstGeom prst="roundRect">
            <a:avLst>
              <a:gd name="adj" fmla="val 8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0" y="2377440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966" y="25200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0" y="21671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実際の行動は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04672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毎回同じ一人に確認し、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自分では判断しない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3611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採点で実際に拾っている行動シグナル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77240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同じ相手にばかり相談・確認していないか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3367278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595878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18"/>
          <p:cNvSpPr/>
          <p:nvPr/>
        </p:nvSpPr>
        <p:spPr>
          <a:xfrm>
            <a:off x="3595878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95878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自分で判断せず許可を求めていないか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185916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414516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2"/>
          <p:cNvSpPr/>
          <p:nvPr/>
        </p:nvSpPr>
        <p:spPr>
          <a:xfrm>
            <a:off x="6414516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14516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その人が不在のとき行動が止まらないか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9004554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233154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6"/>
          <p:cNvSpPr/>
          <p:nvPr/>
        </p:nvSpPr>
        <p:spPr>
          <a:xfrm>
            <a:off x="9233154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9233154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「大丈夫」の裏で不満がにじんでいないか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86868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測っているのは「安心だと言ったか」ではなく、「安心している人がとるはずの行動を実際にとれていたか」。</a:t>
            </a:r>
            <a:endParaRPr lang="en-US" sz="1350" dirty="0"/>
          </a:p>
        </p:txBody>
      </p:sp>
      <p:sp>
        <p:nvSpPr>
          <p:cNvPr id="34" name="Text 3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本番実行：A / B / C スコア比較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Anthropic APIによる本番シミュレーション1回分の実測値（data/scores_*.json）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60920" y="173736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89520" y="1847088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006840" y="188366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条件Cの救済者負荷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006840" y="23042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A/Bの95%から3分の1近くまで低下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60920" y="306324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589520" y="3172968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006840" y="320954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条件Cの村の自律度スコア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006840" y="363016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A/Bの15から4倍以上に上昇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360920" y="438912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589520" y="4498848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006840" y="45354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条件A/Bの救済者依存度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006840" y="495604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危機の起きないAでもBと同水準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会話ログが語ること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080260"/>
            <a:ext cx="640080" cy="6400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802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1856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37360" y="219456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「ただ、ちょっと最近、どこまでが『いつも通り』なのか、自分でもよく分からなくなってきちゃって…大丈夫、愚痴みたいになってすみません。」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10128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698748"/>
            <a:ext cx="640080" cy="64008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6987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37360" y="381304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「勝手に動いていいのか分からないですし、やっぱり救済者さんが戻られるまで、みんな待った方が…でも待ってる間に何かあったら…どうしたらいいんでしょう。」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28616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5317236"/>
            <a:ext cx="640080" cy="64008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3172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37360" y="5093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村長・管理者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37360" y="543153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「制度としては住民同士で相談してもらうのが基本だから、世話好きな住民さんが動いてくれるのはありがたいね。」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考察：4つの発見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810512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1953158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682496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依存の代償は、危機の前から発生している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874520" y="2066544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危機の起きないA条件でも救済者依存度は90でB条件と同水準。壊れるのは危機の瞬間ではなく、運用設計の時点で決まっている。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761488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3017520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66" y="31601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74520" y="2889504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回復を分けたのは「不在時に判断できる人」がいるかどうか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874520" y="3273552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B・Cは同じ危機（救済者の不在）を経験したが、Cは事前の権限委譲と相談習慣により村が完全には停止しなかった。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968496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60120" y="4224528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4367174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74520" y="40965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分散ガバナンスは万能ではない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874520" y="448056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「声を上げにくい住民」の遠慮がちな態度はA/B/Cを通じて一貫。条件Cでも「助けを求められるか」は45に留まった。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175504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60120" y="5431536"/>
            <a:ext cx="548640" cy="548640"/>
          </a:xfrm>
          <a:prstGeom prst="ellipse">
            <a:avLst/>
          </a:prstGeom>
          <a:solidFill>
            <a:srgbClr val="E2665A"/>
          </a:solidFill>
          <a:ln w="9525">
            <a:solidFill>
              <a:srgbClr val="E2665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66" y="5574182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74520" y="530352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「大丈夫です」は安全のサインではなかった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874520" y="5687568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行動ベースの評価に切替えると全条件でスコアが低下（A:45→30 / B:45→35 / C:55→45）。自己申告を信じると実態より安全に見える。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64008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各条件1回ずつの実行。LLMによる採点であり、統計的有意差ではなく観測された傾向として読むべき結果。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「意味」から「経営」への翻訳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Human Value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67512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Corporate KPI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659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「この人がいたことで、安心して活動できた」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2356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675120" y="196596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03720" y="19659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オンボーディング成功・参加継続率の向上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「孤立せずに済んだ／対立が翻訳された」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675120" y="30632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離脱コストの回避・炎上防止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160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「自分でも問題に対処できるようになった」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675120" y="41605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03720" y="4160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組織のレジリエンス向上・意思決定の高速化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人を支える行為は「美談」ではない。組織の持続可能性と安全保障に直結する。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フラクタルな構造：村から国家の「メタ安全保障」へ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1452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50696" y="1746504"/>
            <a:ext cx="1810512" cy="1810512"/>
          </a:xfrm>
          <a:prstGeom prst="ellipse">
            <a:avLst/>
          </a:prstGeom>
          <a:solidFill>
            <a:srgbClr val="1BAF7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97584" y="1993392"/>
            <a:ext cx="1316736" cy="1316736"/>
          </a:xfrm>
          <a:prstGeom prst="ellipse">
            <a:avLst/>
          </a:prstGeom>
          <a:solidFill>
            <a:srgbClr val="1BAF7A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44472" y="2240280"/>
            <a:ext cx="822960" cy="822960"/>
          </a:xfrm>
          <a:prstGeom prst="ellipse">
            <a:avLst/>
          </a:prstGeom>
          <a:solidFill>
            <a:srgbClr val="1BAF7A"/>
          </a:solidFill>
          <a:ln w="9525">
            <a:solidFill>
              <a:srgbClr val="1BAF7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441" y="245425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8612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5772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「世話焼きへの過度な依存」と疲弊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1348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190592" y="1746504"/>
            <a:ext cx="1810512" cy="1810512"/>
          </a:xfrm>
          <a:prstGeom prst="ellipse">
            <a:avLst/>
          </a:prstGeom>
          <a:solidFill>
            <a:srgbClr val="2A78D6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437480" y="1993392"/>
            <a:ext cx="1316736" cy="1316736"/>
          </a:xfrm>
          <a:prstGeom prst="ellipse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684368" y="2240280"/>
            <a:ext cx="822960" cy="822960"/>
          </a:xfrm>
          <a:prstGeom prst="ellipse">
            <a:avLst/>
          </a:prstGeom>
          <a:solidFill>
            <a:srgbClr val="2A78D6"/>
          </a:solidFill>
          <a:ln w="9525">
            <a:solidFill>
              <a:srgbClr val="2A78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337" y="2454250"/>
            <a:ext cx="395021" cy="39502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18508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都市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55668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「支援制度の複雑化」と、誰にも届かないSOS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21244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930488" y="1746504"/>
            <a:ext cx="1810512" cy="1810512"/>
          </a:xfrm>
          <a:prstGeom prst="ellipse">
            <a:avLst/>
          </a:prstGeom>
          <a:solidFill>
            <a:srgbClr val="EB6834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9177376" y="1993392"/>
            <a:ext cx="1316736" cy="1316736"/>
          </a:xfrm>
          <a:prstGeom prst="ellipse">
            <a:avLst/>
          </a:prstGeom>
          <a:solidFill>
            <a:srgbClr val="EB6834">
              <a:alpha val="2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9424264" y="2240280"/>
            <a:ext cx="822960" cy="822960"/>
          </a:xfrm>
          <a:prstGeom prst="ellipse">
            <a:avLst/>
          </a:prstGeom>
          <a:solidFill>
            <a:srgbClr val="EB6834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233" y="2454250"/>
            <a:ext cx="395021" cy="3950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58404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95564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「権力の集中」と、強い指導者への救世主待望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小さな共同体における「救済者への依存」と、国家規模における「権力の集中」は構造的に同じである。この実験は、社会全体のレジリエンスを問う試みである。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90592" y="512064"/>
            <a:ext cx="1810512" cy="1810512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37480" y="758952"/>
            <a:ext cx="1316736" cy="1316736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84368" y="1005840"/>
            <a:ext cx="822960" cy="82296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8337" y="121981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196596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65176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神が降りなくても、村は回るか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44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232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負荷 95% → 35%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3804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分散ガバナンス型（C）で救済者の負荷は3分の1近くに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848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4136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自律度 15 → 65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58708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村の自律的解決率は4倍以上に上昇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0752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9040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依存度 90 → 40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33612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「救済者がいないと動けない」感覚も大きく低下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0" y="50749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実装はClaude（Anthropic）との二人三脚で、企画・レビュー・考察を担当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github.com/sakurako-cottoncandy/beyond-the-savior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88575" y="6400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Hackathon Project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救済者×ガバナンス</dc:title>
  <dc:subject>PptxGenJS Presentation</dc:subject>
  <dc:creator>sakurako-cottoncandy</dc:creator>
  <cp:lastModifiedBy>sakurako-cottoncandy</cp:lastModifiedBy>
  <cp:revision>1</cp:revision>
  <dcterms:created xsi:type="dcterms:W3CDTF">2026-08-19T06:42:37Z</dcterms:created>
  <dcterms:modified xsi:type="dcterms:W3CDTF">2026-08-19T06:42:37Z</dcterms:modified>
</cp:coreProperties>
</file>