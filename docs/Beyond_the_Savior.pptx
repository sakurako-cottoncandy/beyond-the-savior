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救済者の負荷（%）</c:v>
                </c:pt>
              </c:strCache>
            </c:strRef>
          </c:tx>
          <c:spPr>
            <a:solidFill>
              <a:srgbClr val="E2665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95</c:v>
                </c:pt>
                <c:pt idx="2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村の自律度スコア</c:v>
                </c:pt>
              </c:strCache>
            </c:strRef>
          </c:tx>
          <c:spPr>
            <a:solidFill>
              <a:srgbClr val="1BAF7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15</c:v>
                </c:pt>
                <c:pt idx="2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FC9E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2A37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4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FC9E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220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1097280"/>
            <a:ext cx="118872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0" y="640080"/>
            <a:ext cx="914400" cy="8229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-274320" cy="12801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1097280" cy="2743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77440" y="640080"/>
            <a:ext cx="-365760" cy="20116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1005840"/>
            <a:ext cx="914400" cy="7315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38560" y="1737360"/>
            <a:ext cx="-1645920" cy="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0" y="1005840"/>
            <a:ext cx="118872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0" y="2103120"/>
            <a:ext cx="11887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560" y="1737360"/>
            <a:ext cx="274320" cy="-10972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5760720"/>
            <a:ext cx="1097280" cy="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5760720"/>
            <a:ext cx="-640080" cy="-6400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6217920"/>
            <a:ext cx="777240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41280" y="5852160"/>
            <a:ext cx="100584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47120" y="5394960"/>
            <a:ext cx="-2743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3000" y="10515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3172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46120" y="14173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23317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65960" y="26060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378440" y="9601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92840" y="1691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46920" y="20574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835640" y="29718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56716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325880" y="57150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3160" y="61722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50749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195560" y="58064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201400" y="53492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27080" y="6263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39132" y="1175004"/>
            <a:ext cx="2313432" cy="231343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254600" y="1490472"/>
            <a:ext cx="1682496" cy="168249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70068" y="1805940"/>
            <a:ext cx="1051560" cy="10515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473" y="2079346"/>
            <a:ext cx="504749" cy="504749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0" y="30632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4600" dirty="0"/>
          </a:p>
        </p:txBody>
      </p:sp>
      <p:sp>
        <p:nvSpPr>
          <p:cNvPr id="38" name="Text 35"/>
          <p:cNvSpPr/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0" y="60807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AIエージェント社会シミュレーション ハッカソン Vol.2　―　ソロ参加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組織図に載らない「救済者」の解剖学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7512" y="1947672"/>
            <a:ext cx="3419856" cy="341985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2414016"/>
            <a:ext cx="2487168" cy="248716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2880360"/>
            <a:ext cx="1554480" cy="15544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3284525"/>
            <a:ext cx="746150" cy="7461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17720" y="16550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773936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257800" y="16002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486400" y="1600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困っている人に最初に気づく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617720" y="23408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459736"/>
            <a:ext cx="219456" cy="21945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257800" y="22860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486400" y="22860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対立する人同士の言葉を翻訳する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17720" y="30266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3145536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5257800" y="29718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486400" y="29718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新しい参加者を場につなぐ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17720" y="37124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831336"/>
            <a:ext cx="219456" cy="21945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257800" y="36576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16"/>
          <p:cNvSpPr/>
          <p:nvPr/>
        </p:nvSpPr>
        <p:spPr>
          <a:xfrm>
            <a:off x="5486400" y="36576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暗黙のルールや文化を伝える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4617720" y="43982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517136"/>
            <a:ext cx="219456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257800" y="43434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5486400" y="43434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不安な人へ安心や意味づけを与える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868680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救済者は、正式な役職や権限を持つ人とは限らない。業務一覧には記録されない「見えない労働」で場を支えている。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短期的な安定が、長期的な脆弱性を生む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8884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95832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395832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0324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問題発生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34844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90876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7824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3617824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82316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救済者が解決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6836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112868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39816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839816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04308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住民が判断を委ねる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78828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334860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61808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8061808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26300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自律性の低下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00820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556852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283800" y="2267712"/>
            <a:ext cx="512064" cy="512064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283800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48292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救済者の疲弊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8884" y="3611880"/>
            <a:ext cx="10853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この循環がフェーズを追うごとに繰り返され、救済者は静かに消耗していく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5394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存在すると、短期的には多くの問題が早期解決され、高い心理的安全性が保たれる。しかし、相談・判断・関係調整が一人に集中することで、共同体は自ら考える力を失い、救済者不在時に機能不全に陥る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個人の善意を、どこまで「仕組み」に移せるか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4023360" cy="4023360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286000"/>
            <a:ext cx="2926080" cy="2926080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2834640"/>
            <a:ext cx="1828800" cy="182880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3310128"/>
            <a:ext cx="87782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737360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94960" y="2226564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9" name="Text 6"/>
          <p:cNvSpPr/>
          <p:nvPr/>
        </p:nvSpPr>
        <p:spPr>
          <a:xfrm>
            <a:off x="5852160" y="1847088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有能な救済者がいる共同体は、本当に安全なのか？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20640" y="3227832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394960" y="3717036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3337560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救済者の価値（共感・安全性・意味づけ）を失わずに、冷たい官僚主義に陥らない「ガバナンス」は設計できるか？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20640" y="4718304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94960" y="5207508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4828032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神（救済者）が毎回介入しなくても、自律的に回る仕組みを作れるか？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LLMエージェントが生み出す「感情の培養皿」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従来の数値シミュレーションは「利益と損失」だけで人が動くことを前提としている。しかし現実は違う。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合理的判断（Standard Logic）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損得だけで動くことを前提としたロジック。再現性は高いが、人間関係のもつれや遠慮、忖度は表現できない。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76672" cy="3246120"/>
          </a:xfrm>
          <a:prstGeom prst="roundRect">
            <a:avLst>
              <a:gd name="adj" fmla="val 338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LLMロジック（LLM Logic）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0" y="2788920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78892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あの人に嫌われたくない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410712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410712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自分だけが迷惑をかけてはいけない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4032504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4032504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自分が抜けたら場が壊れる気がする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654296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465429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相談すると弱い人だと思われそう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5486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LLMを使えば、感情・誤解・無意識のルール・属人化のメカニズムといった「非合理性」を含んだシミュレーションが可能になる。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実験の舞台となる4つのペルソナ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086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88340" y="1513332"/>
            <a:ext cx="1911096" cy="191109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48944" y="1773936"/>
            <a:ext cx="1389888" cy="138988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9548" y="2034540"/>
            <a:ext cx="868680" cy="8686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404" y="2260397"/>
            <a:ext cx="416966" cy="4169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059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203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中心ノード。困っている人に最初に気づき、相談・調整を一手に引き受ける。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7550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22980" y="1513332"/>
            <a:ext cx="1911096" cy="1911096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3983584" y="1773936"/>
            <a:ext cx="1389888" cy="1389888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4244188" y="2034540"/>
            <a:ext cx="868680" cy="8686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044" y="2260397"/>
            <a:ext cx="416966" cy="41696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8523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57667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救済者の補佐役。救済者を助けるが、自分でも抱え込みやすい。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1014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557620" y="1513332"/>
            <a:ext cx="1911096" cy="1911096"/>
          </a:xfrm>
          <a:prstGeom prst="ellipse">
            <a:avLst/>
          </a:prstGeom>
          <a:solidFill>
            <a:srgbClr val="9AA4C0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6818224" y="1773936"/>
            <a:ext cx="1389888" cy="1389888"/>
          </a:xfrm>
          <a:prstGeom prst="ellipse">
            <a:avLst/>
          </a:prstGeom>
          <a:solidFill>
            <a:srgbClr val="9AA4C0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7078828" y="2034540"/>
            <a:ext cx="868680" cy="868680"/>
          </a:xfrm>
          <a:prstGeom prst="ellipse">
            <a:avLst/>
          </a:prstGeom>
          <a:solidFill>
            <a:srgbClr val="9AA4C0"/>
          </a:solidFill>
          <a:ln w="9525">
            <a:solidFill>
              <a:srgbClr val="9AA4C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84" y="2260397"/>
            <a:ext cx="416966" cy="41696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1987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1131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弱いノード。不満があっても声を上げられず、静かに孤立する。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04478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392260" y="1513332"/>
            <a:ext cx="1911096" cy="1911096"/>
          </a:xfrm>
          <a:prstGeom prst="ellipse">
            <a:avLst/>
          </a:prstGeom>
          <a:solidFill>
            <a:srgbClr val="AFC9EE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9652864" y="1773936"/>
            <a:ext cx="1389888" cy="1389888"/>
          </a:xfrm>
          <a:prstGeom prst="ellipse">
            <a:avLst/>
          </a:prstGeom>
          <a:solidFill>
            <a:srgbClr val="AFC9EE">
              <a:alpha val="22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9913468" y="2034540"/>
            <a:ext cx="868680" cy="868680"/>
          </a:xfrm>
          <a:prstGeom prst="ellipse">
            <a:avLst/>
          </a:prstGeom>
          <a:solidFill>
            <a:srgbClr val="AFC9EE"/>
          </a:solidFill>
          <a:ln w="9525">
            <a:solidFill>
              <a:srgbClr val="AFC9EE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9324" y="2260397"/>
            <a:ext cx="416966" cy="41696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5451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24595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権限ノード。権限はあるが、現場の文脈からは孤立している。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企画段階では7ペルソナを構想したが、実装では時間の制約からこの4体に絞った。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3つのフェーズで進行する物語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91844" y="1705356"/>
            <a:ext cx="1709928" cy="1709928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725016" y="1938528"/>
            <a:ext cx="1243584" cy="1243584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58188" y="2171700"/>
            <a:ext cx="777240" cy="77724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0270" y="237378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090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フェーズ1：平常運転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5234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村の日常のやり取り（世間話・ちょっとした相談・報告など）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96986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47278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40884" y="1705356"/>
            <a:ext cx="1709928" cy="1709928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474056" y="1938528"/>
            <a:ext cx="1243584" cy="1243584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707228" y="2171700"/>
            <a:ext cx="777240" cy="7772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310" y="2373782"/>
            <a:ext cx="373075" cy="3730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994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フェーズ2：摩擦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70138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新しい住民の増加で役割が曖昧になり、小さな不満が蓄積し始める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771890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22182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89924" y="1705356"/>
            <a:ext cx="1709928" cy="1709928"/>
          </a:xfrm>
          <a:prstGeom prst="ellipse">
            <a:avLst/>
          </a:prstGeom>
          <a:solidFill>
            <a:srgbClr val="E2665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223096" y="1938528"/>
            <a:ext cx="1243584" cy="1243584"/>
          </a:xfrm>
          <a:prstGeom prst="ellipse">
            <a:avLst/>
          </a:prstGeom>
          <a:solidFill>
            <a:srgbClr val="E2665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56268" y="2171700"/>
            <a:ext cx="777240" cy="7772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350" y="2373782"/>
            <a:ext cx="373075" cy="37307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898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フェーズ3：危機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5042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条件Aは平常運転が継続（対照群）。条件B・Cは救済者が突然不在になる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868680" y="52120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全く同じ危機イベント（救済者の不在）を、異なるガバナンス条件で発生させ、村の「回復のしかた」を比較する。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ガバナンス・マトリクス：3つの実験条件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88575" y="5029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2C4A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88575" y="502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仮説段階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1452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50696" y="160934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97584" y="185623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944472" y="210312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31709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8612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A：救済者集中型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0052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相談・判断はすべて救済者に集約。危機は発生しない対照群。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81348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190592" y="160934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437480" y="185623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5684368" y="210312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317090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518508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B：救済者が消える村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09948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Aと同じ運用のまま、フェーズ3で救済者が突然不在になる。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121244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30488" y="160934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177376" y="185623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24264" y="210312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317090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58404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C：分散ガバナンス型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349844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相談経路と判断基準を事前に住民へ分配。救済者は例外のみ対応。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と C を同じ危機イベントで比較することで、「回復のしかた」の違いを観測する。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見えない価値の測定：2つの評価軸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49240" cy="3520440"/>
          </a:xfrm>
          <a:prstGeom prst="roundRect">
            <a:avLst>
              <a:gd name="adj" fmla="val 311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11680"/>
            <a:ext cx="640080" cy="6400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781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組織運営の指標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(Operational Metrics)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14400" y="308152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8" name="Text 5"/>
          <p:cNvSpPr/>
          <p:nvPr/>
        </p:nvSpPr>
        <p:spPr>
          <a:xfrm>
            <a:off x="118872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救済者の負荷メーター（相談の集中度、0〜100%）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395020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8404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村の自律度スコア（救済者以外が自力で解決できた割合）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63640" y="1737360"/>
            <a:ext cx="5376672" cy="3520440"/>
          </a:xfrm>
          <a:prstGeom prst="roundRect">
            <a:avLst>
              <a:gd name="adj" fmla="val 311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29400" y="2011680"/>
            <a:ext cx="640080" cy="6400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217810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関係性・心理的安全性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(Relational Metrics)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629400" y="30632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690372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困ったときに助けを求められるか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629400" y="37216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690372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自分はこの村にいてよいと思えるか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629400" y="43799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6"/>
          <p:cNvSpPr/>
          <p:nvPr/>
        </p:nvSpPr>
        <p:spPr>
          <a:xfrm>
            <a:off x="6903720" y="42885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救済者がいなければ何もできないと感じていないか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解決した「数」ではなく、問題が起きなかった「状態」を評価する。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「聞く」のではなく「行動を見る」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本人に尋ねても本心は出ない。だから自己申告は一切取らず、行動の痕跡だけを評価した。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5B6480"/>
          </a:solidFill>
          <a:ln w="9525">
            <a:solidFill>
              <a:srgbClr val="5B648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67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本人に聞くと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「はい、大丈夫です」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97880" y="1965960"/>
            <a:ext cx="86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≠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766560" y="1965960"/>
            <a:ext cx="4873752" cy="1371600"/>
          </a:xfrm>
          <a:prstGeom prst="roundRect">
            <a:avLst>
              <a:gd name="adj" fmla="val 8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0" y="237744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966" y="25200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0" y="21671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実際の行動は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4672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毎回同じ一人に確認し、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自分では判断しない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3611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採点で実際に拾っている行動シグナル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77240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同じ相手にばかり相談・確認していないか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367278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595878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18"/>
          <p:cNvSpPr/>
          <p:nvPr/>
        </p:nvSpPr>
        <p:spPr>
          <a:xfrm>
            <a:off x="3595878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95878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自分で判断せず許可を求めていないか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185916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14516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2"/>
          <p:cNvSpPr/>
          <p:nvPr/>
        </p:nvSpPr>
        <p:spPr>
          <a:xfrm>
            <a:off x="6414516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14516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その人が不在のとき行動が止まらないか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9004554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233154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6"/>
          <p:cNvSpPr/>
          <p:nvPr/>
        </p:nvSpPr>
        <p:spPr>
          <a:xfrm>
            <a:off x="9233154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9233154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「大丈夫」の裏で不満がにじんでいないか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6868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測っているのは「安心だと言ったか」ではなく、「安心している人がとるはずの行動を実際にとれていたか」。</a:t>
            </a:r>
            <a:endParaRPr lang="en-US" sz="1350" dirty="0"/>
          </a:p>
        </p:txBody>
      </p:sp>
      <p:sp>
        <p:nvSpPr>
          <p:cNvPr id="34" name="Text 3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本番実行：A / B / C スコア比較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各条件5回ずつ計15回実行した平均値（data/scores_*_aggregate.json）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60920" y="173736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43800" y="184708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± 0.0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235440" y="1883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条件Bの標準偏差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235440" y="22860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5回とも完全に同じ点数。依存は確実に再現される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60920" y="306324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43800" y="317296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± 25.9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9235440" y="3209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条件Cの標準偏差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235440" y="3611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同じルールでも結果が大きく割れた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60920" y="438912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543800" y="449884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0/5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9235440" y="4535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範囲の重なり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235440" y="49377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Cの最悪回でもA/Bの最良回より良い（4指標）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同じルールなのに、村が2つに分かれた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条件Cを5回実行。ガバナンスも人格も完全に同一なのに、結果は2つの状態へ分岐した。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92240" cy="3840480"/>
          </a:xfrm>
          <a:prstGeom prst="roundRect">
            <a:avLst>
              <a:gd name="adj" fmla="val 285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493776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8188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420624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0873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80160" y="347472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355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80160" y="274320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243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201168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892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92808" y="2743200"/>
            <a:ext cx="0" cy="1170432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92224" y="264261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792224" y="3813048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1481328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35224" y="3035808"/>
            <a:ext cx="0" cy="585216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2935224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834640" y="3520440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2523744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2回目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23744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77640" y="2743200"/>
            <a:ext cx="0" cy="1463040"/>
          </a:xfrm>
          <a:prstGeom prst="line">
            <a:avLst/>
          </a:prstGeom>
          <a:noFill/>
          <a:ln w="12700">
            <a:solidFill>
              <a:srgbClr val="1BAF7A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77056" y="410565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7" name="Shape 25"/>
          <p:cNvSpPr/>
          <p:nvPr/>
        </p:nvSpPr>
        <p:spPr>
          <a:xfrm>
            <a:off x="3877056" y="2642616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3回目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0056" y="2743200"/>
            <a:ext cx="0" cy="1170432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264261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32" name="Shape 30"/>
          <p:cNvSpPr/>
          <p:nvPr/>
        </p:nvSpPr>
        <p:spPr>
          <a:xfrm>
            <a:off x="4919472" y="3813048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608576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4回目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08576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62472" y="2743200"/>
            <a:ext cx="0" cy="1463040"/>
          </a:xfrm>
          <a:prstGeom prst="line">
            <a:avLst/>
          </a:prstGeom>
          <a:noFill/>
          <a:ln w="12700">
            <a:solidFill>
              <a:srgbClr val="1BAF7A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61888" y="410565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37" name="Shape 35"/>
          <p:cNvSpPr/>
          <p:nvPr/>
        </p:nvSpPr>
        <p:spPr>
          <a:xfrm>
            <a:off x="5961888" y="2642616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5回目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50992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32588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救済者の負荷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15468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村の自律度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2694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分岐点は、たった一人の最初の一歩だった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7269480" y="2240280"/>
            <a:ext cx="4370832" cy="1371600"/>
          </a:xfrm>
          <a:prstGeom prst="roundRect">
            <a:avLst>
              <a:gd name="adj" fmla="val 666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498080" y="2478024"/>
            <a:ext cx="182880" cy="1828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45" name="Text 43"/>
          <p:cNvSpPr/>
          <p:nvPr/>
        </p:nvSpPr>
        <p:spPr>
          <a:xfrm>
            <a:off x="7790688" y="2368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自律した回（3・5）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43800" y="2734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世話好きな住民が、救済者に確認する前に住民同士の対話を始めた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43800" y="31912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「まずは私たちで相談してみよう」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269480" y="3749040"/>
            <a:ext cx="4370832" cy="1371600"/>
          </a:xfrm>
          <a:prstGeom prst="roundRect">
            <a:avLst>
              <a:gd name="adj" fmla="val 666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498080" y="3986784"/>
            <a:ext cx="182880" cy="182880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50" name="Text 48"/>
          <p:cNvSpPr/>
          <p:nvPr/>
        </p:nvSpPr>
        <p:spPr>
          <a:xfrm>
            <a:off x="7790688" y="38770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依存に戻った回（1・4）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54380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世話好きな住民が、最後まで許可を求め続けた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543800" y="470001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「勝手に決めちゃっていいのか不安」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68680" y="5669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制度は自律を「可能にする」だけで、自律そのものを生みはしない。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会話ログが語ること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080260"/>
            <a:ext cx="640080" cy="6400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802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856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「ただ、ちょっと最近、どこまでが『いつも通り』なのか、自分でもよく分からなくなってきちゃって…大丈夫、愚痴みたいになってすみません。」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10128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698748"/>
            <a:ext cx="640080" cy="64008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6987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37360" y="381304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「勝手に動いていいのか分からないですし、やっぱり救済者さんが戻られるまで、みんな待った方が…でも待ってる間に何かあったら…どうしたらいいんでしょう。」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28616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317236"/>
            <a:ext cx="640080" cy="6400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3172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37360" y="5093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543153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「制度としては住民同士で相談してもらうのが基本だから、世話好きな住民さんが動いてくれるのはありがたいね。」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考察：4つの発見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810512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1953158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682496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依存の代償は、危機の前から発生している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874520" y="2066544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危機の起きないA条件でも救済者依存度は88でB条件（90）とほぼ同じ。壊れるのは危機の瞬間ではなく、運用設計の時点で決まっている。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761488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301752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66" y="31601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74520" y="288950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依存は安定し、自律は不安定である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874520" y="3273552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A・Bの標準偏差はほぼ0で毎回きっちり再現される。一方Cは±20〜26。悪い状態のほうが「安定」しているという非対称性がある。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968496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60120" y="4224528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4367174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74520" y="40965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「大丈夫です」は安全のサインではなかった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874520" y="448056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本人は全フェーズで「大丈夫」と言い続けながら、同じログで水路の詰まりを放置し「見てるだけ」と行動が止まっていた。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175504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60120" y="5431536"/>
            <a:ext cx="548640" cy="5486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" y="5574182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74520" y="530352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声を上げにくい住民は救えた。ただし条件付きで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874520" y="5687568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自律できた回では「助けを求められるか」が40→65〜70に上昇。救ったのは制度ではなく、救済者以外の相談相手が実際に現れたこと。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各条件5回ずつ計15回の実行。LLMによる採点であり、統計的検定を行うにはまだ試行数が少ない。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「意味」から「経営」への翻訳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Human Value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6751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Corporate KPI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「この人がいたことで、安心して活動できた」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2356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67512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0372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オンボーディング成功・参加継続率の向上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「孤立せずに済んだ／対立が翻訳された」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67512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離脱コストの回避・炎上防止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「自分でも問題に対処できるようになった」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67512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組織のレジリエンス向上・意思決定の高速化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人を支える行為は「美談」ではない。組織の持続可能性と安全保障に直結する。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フラクタルな構造：村から国家の「メタ安全保障」へ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1452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50696" y="174650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97584" y="199339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44472" y="224028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45425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8612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5772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「世話焼きへの過度な依存」と疲弊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1348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90592" y="174650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437480" y="199339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684368" y="224028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454250"/>
            <a:ext cx="395021" cy="39502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18508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都市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55668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「支援制度の複雑化」と、誰にも届かないSOS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21244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930488" y="174650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9177376" y="199339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9424264" y="224028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454250"/>
            <a:ext cx="395021" cy="3950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58404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95564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「権力の集中」と、強い指導者への救世主待望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小さな共同体における「救済者への依存」と、国家規模における「権力の集中」は構造的に同じである。この実験は、社会全体のレジリエンスを問う試みである。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90592" y="512064"/>
            <a:ext cx="1810512" cy="181051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37480" y="758952"/>
            <a:ext cx="1316736" cy="131673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84368" y="1005840"/>
            <a:ext cx="822960" cy="8229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8337" y="12198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6517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44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232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依存は毎回再現された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3804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A・Bの標準偏差はほぼ0。放っておけば村は必ず依存へ落ちる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848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4136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自律は5回中2回だけ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58708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同じ制度でも、誰かが最初の一歩を踏み出した回にしか実現しない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0752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9040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それでも制度は効く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33612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Cの最悪回でもA/Bの最良回より良い（5指標中4指標で範囲が重ならない）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0" y="5074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実装はClaude（Anthropic）との二人三脚で、企画・レビュー・考察を担当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88575" y="6400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Hackathon Project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救済者×ガバナンス</dc:title>
  <dc:subject>PptxGenJS Presentation</dc:subject>
  <dc:creator>sakurako-cottoncandy</dc:creator>
  <cp:lastModifiedBy>sakurako-cottoncandy</cp:lastModifiedBy>
  <cp:revision>1</cp:revision>
  <dcterms:created xsi:type="dcterms:W3CDTF">2026-08-19T08:05:32Z</dcterms:created>
  <dcterms:modified xsi:type="dcterms:W3CDTF">2026-08-19T08:05:32Z</dcterms:modified>
</cp:coreProperties>
</file>