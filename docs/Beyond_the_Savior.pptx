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81528"/>
            <a:ext cx="128016" cy="128016"/>
          </a:xfrm>
          <a:prstGeom prst="ellipse">
            <a:avLst/>
          </a:prstGeom>
          <a:solidFill>
            <a:srgbClr val="5A8FD6"/>
          </a:solidFill>
          <a:ln/>
        </p:spPr>
      </p:sp>
      <p:sp>
        <p:nvSpPr>
          <p:cNvPr id="8" name="Text 5"/>
          <p:cNvSpPr/>
          <p:nvPr/>
        </p:nvSpPr>
        <p:spPr>
          <a:xfrm>
            <a:off x="1188720" y="297180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救済者の負荷メーター（相談の集中度、0〜100%）</a:t>
            </a:r>
            <a:endParaRPr lang="en-US" sz="1350" dirty="0"/>
          </a:p>
        </p:txBody>
      </p:sp>
      <p:sp>
        <p:nvSpPr>
          <p:cNvPr id="9" name="Shape 6"/>
          <p:cNvSpPr/>
          <p:nvPr/>
        </p:nvSpPr>
        <p:spPr>
          <a:xfrm>
            <a:off x="914400" y="3950208"/>
            <a:ext cx="128016" cy="128016"/>
          </a:xfrm>
          <a:prstGeom prst="ellipse">
            <a:avLst/>
          </a:prstGeom>
          <a:solidFill>
            <a:srgbClr val="5A8FD6"/>
          </a:solidFill>
          <a:ln/>
        </p:spPr>
      </p:sp>
      <p:sp>
        <p:nvSpPr>
          <p:cNvPr id="10" name="Text 7"/>
          <p:cNvSpPr/>
          <p:nvPr/>
        </p:nvSpPr>
        <p:spPr>
          <a:xfrm>
            <a:off x="1188720" y="384048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村の自律度スコア（救済者以外が自力で解決できた割合）</a:t>
            </a:r>
            <a:endParaRPr lang="en-US" sz="1350" dirty="0"/>
          </a:p>
        </p:txBody>
      </p:sp>
      <p:sp>
        <p:nvSpPr>
          <p:cNvPr id="11" name="Shape 8"/>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2" name="Shape 9"/>
          <p:cNvSpPr/>
          <p:nvPr/>
        </p:nvSpPr>
        <p:spPr>
          <a:xfrm>
            <a:off x="6629400" y="2011680"/>
            <a:ext cx="640080" cy="640080"/>
          </a:xfrm>
          <a:prstGeom prst="ellipse">
            <a:avLst/>
          </a:prstGeom>
          <a:solidFill>
            <a:srgbClr val="E8A33D"/>
          </a:solidFill>
          <a:ln w="9525">
            <a:solidFill>
              <a:srgbClr val="E8A33D"/>
            </a:solidFill>
            <a:prstDash val="solid"/>
          </a:ln>
        </p:spPr>
      </p:sp>
      <p:pic>
        <p:nvPicPr>
          <p:cNvPr id="13"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4" name="Text 10"/>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5" name="Shape 11"/>
          <p:cNvSpPr/>
          <p:nvPr/>
        </p:nvSpPr>
        <p:spPr>
          <a:xfrm>
            <a:off x="6629400" y="3063240"/>
            <a:ext cx="128016" cy="128016"/>
          </a:xfrm>
          <a:prstGeom prst="ellipse">
            <a:avLst/>
          </a:prstGeom>
          <a:solidFill>
            <a:srgbClr val="E8A33D"/>
          </a:solidFill>
          <a:ln/>
        </p:spPr>
      </p:sp>
      <p:sp>
        <p:nvSpPr>
          <p:cNvPr id="16" name="Text 12"/>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7" name="Shape 13"/>
          <p:cNvSpPr/>
          <p:nvPr/>
        </p:nvSpPr>
        <p:spPr>
          <a:xfrm>
            <a:off x="6629400" y="3721608"/>
            <a:ext cx="128016" cy="128016"/>
          </a:xfrm>
          <a:prstGeom prst="ellipse">
            <a:avLst/>
          </a:prstGeom>
          <a:solidFill>
            <a:srgbClr val="E8A33D"/>
          </a:solidFill>
          <a:ln/>
        </p:spPr>
      </p:sp>
      <p:sp>
        <p:nvSpPr>
          <p:cNvPr id="18" name="Text 14"/>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19" name="Shape 15"/>
          <p:cNvSpPr/>
          <p:nvPr/>
        </p:nvSpPr>
        <p:spPr>
          <a:xfrm>
            <a:off x="6629400" y="4379976"/>
            <a:ext cx="128016" cy="128016"/>
          </a:xfrm>
          <a:prstGeom prst="ellipse">
            <a:avLst/>
          </a:prstGeom>
          <a:solidFill>
            <a:srgbClr val="E8A33D"/>
          </a:solidFill>
          <a:ln/>
        </p:spPr>
      </p:sp>
      <p:sp>
        <p:nvSpPr>
          <p:cNvPr id="20" name="Text 16"/>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1" name="Text 17"/>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2"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本人に尋ねても本心は出ない。だから自己申告は一切取らず、行動の痕跡だけを評価した。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5回とも完全に同じ点数。依存は確実に再現される</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分岐点は、たった一人の最初の一歩だった</a:t>
            </a:r>
            <a:endParaRPr lang="en-US" sz="135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制度は自律を「可能にする」だけで、自律そのものを生みはしない。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世話好きな住民の「許可を求める度合い」だけを5段階に変え、各5回ずつ計25回実行した。</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押すほど良くなるが、L4で反転</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L3で分岐が消えた</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2/5だった自律が5回とも成功に。ばらつきも最小（幅10点）。「運が良ければ」を「確実に」へ変える閾値がある。</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L4は第二の救済者を生んだ</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独立度はL3より高いのに自律度は71→55。住民の待ち相手が救済者から世話好きな住民に移っただけだった。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効いていたのは「救済者に頼らないこと」ではなく、「他の住民を巻き込むこと」だった。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L1→L3の効果はSonnetで+18.0、Opus 5では−1.2。標準誤差の0.19倍で、効果はゼロと言ってよい。</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分岐という現象は再現した</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24回中23回がどちらかの塊に落ちた。村が2つの状態を持つこと自体はモデルをまたいで成立する。</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構造（2つの引き込み先がある）は頑健で、テコ（何を変えれば動くか）は脆かった。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介入から結果までを途中で切り、2段に分けて測った。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2700">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11.1pt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20.0pt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40.3pt</a:t>
            </a:r>
            <a:endParaRPr lang="en-US" sz="1000" dirty="0"/>
          </a:p>
        </p:txBody>
      </p:sp>
      <p:sp>
        <p:nvSpPr>
          <p:cNvPr id="33" name="Shape 31"/>
          <p:cNvSpPr/>
          <p:nvPr/>
        </p:nvSpPr>
        <p:spPr>
          <a:xfrm>
            <a:off x="5605272" y="4690872"/>
            <a:ext cx="950976" cy="0"/>
          </a:xfrm>
          <a:prstGeom prst="line">
            <a:avLst/>
          </a:prstGeom>
          <a:noFill/>
          <a:ln w="12700">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4.2pt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村全体を動かしたのは、介入の精度（A）ではなく、周囲への波及（B）だった。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50" dirty="0">
                <a:solidFill>
                  <a:srgbClr val="5B6480"/>
                </a:solidFill>
                <a:latin typeface="Yu Gothic" pitchFamily="34" charset="0"/>
                <a:ea typeface="Yu Gothic" pitchFamily="34" charset="-122"/>
                <a:cs typeface="Yu Gothic" pitchFamily="34" charset="-120"/>
              </a:rPr>
              <a:t>(A) キーパーソン本人の発言が指示どおり変わった幅　／　(B) それに応じて周囲の住民の挙動が変わった幅</a:t>
            </a:r>
            <a:endParaRPr lang="en-US" sz="95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Sonnet 4.5条件では、キーパーソン本人への介入の反映は小さかった（+11.1pt）のに、周囲の住民の挙動は大きく変化した（20.0pt）。Opus 5条件では逆に、本人はより指示どおり変化した（+40.3pt）のに、周囲の変化は小さかった（4.2pt）。村全体が動いたのは後者ではなく前者だった。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集団を動かしたのは介入の精度ではなく、変化が周囲へ波及するかどうかだった。2条件で波及の大きさが違った背景には、集団内の実効的な結合の強さの違いがあった可能性がある。ただし「結合構造」そのものは測っていない。測ったのは介入条件に対する他住民の波及感度である。</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依存の代償は、危機の前から発生している</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危機の起きないA条件でも救済者依存度は88でB条件（90）とほぼ同じ。壊れるのは危機の瞬間ではなく、運用設計の時点で決まっている。</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依存は安定し、自律は不安定である</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A・Bの標準偏差はほぼ0で毎回きっちり再現される。一方Cは±20〜26。悪い状態のほうが「安定」しているという非対称性がある。</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構造は頑健で、テコは脆かった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村が2つの状態に分かれること自体は別モデルでも再現した。しかし「何を変えれば動くか」は再現せず、モデル依存だった。</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フラクタルな構造：村から国家の「メタ安全保障」へ</a:t>
            </a:r>
            <a:endParaRPr lang="en-US" sz="3000" dirty="0"/>
          </a:p>
        </p:txBody>
      </p:sp>
      <p:sp>
        <p:nvSpPr>
          <p:cNvPr id="3" name="Shape 1"/>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50696" y="1746504"/>
            <a:ext cx="1810512" cy="1810512"/>
          </a:xfrm>
          <a:prstGeom prst="ellipse">
            <a:avLst/>
          </a:prstGeom>
          <a:solidFill>
            <a:srgbClr val="1BAF7A">
              <a:alpha val="12000"/>
            </a:srgbClr>
          </a:solidFill>
          <a:ln/>
        </p:spPr>
      </p:sp>
      <p:sp>
        <p:nvSpPr>
          <p:cNvPr id="5" name="Shape 3"/>
          <p:cNvSpPr/>
          <p:nvPr/>
        </p:nvSpPr>
        <p:spPr>
          <a:xfrm>
            <a:off x="1697584" y="1993392"/>
            <a:ext cx="1316736" cy="1316736"/>
          </a:xfrm>
          <a:prstGeom prst="ellipse">
            <a:avLst/>
          </a:prstGeom>
          <a:solidFill>
            <a:srgbClr val="1BAF7A">
              <a:alpha val="22000"/>
            </a:srgbClr>
          </a:solidFill>
          <a:ln/>
        </p:spPr>
      </p:sp>
      <p:sp>
        <p:nvSpPr>
          <p:cNvPr id="6" name="Shape 4"/>
          <p:cNvSpPr/>
          <p:nvPr/>
        </p:nvSpPr>
        <p:spPr>
          <a:xfrm>
            <a:off x="1944472" y="2240280"/>
            <a:ext cx="822960" cy="822960"/>
          </a:xfrm>
          <a:prstGeom prst="ellipse">
            <a:avLst/>
          </a:prstGeom>
          <a:solidFill>
            <a:srgbClr val="1BAF7A"/>
          </a:solidFill>
          <a:ln w="9525">
            <a:solidFill>
              <a:srgbClr val="1BAF7A"/>
            </a:solidFill>
            <a:prstDash val="solid"/>
          </a:ln>
        </p:spPr>
      </p:sp>
      <p:pic>
        <p:nvPicPr>
          <p:cNvPr id="7"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8" name="Text 5"/>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9" name="Text 6"/>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p:txBody>
      </p:sp>
      <p:sp>
        <p:nvSpPr>
          <p:cNvPr id="10" name="Shape 7"/>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190592" y="1746504"/>
            <a:ext cx="1810512" cy="1810512"/>
          </a:xfrm>
          <a:prstGeom prst="ellipse">
            <a:avLst/>
          </a:prstGeom>
          <a:solidFill>
            <a:srgbClr val="2A78D6">
              <a:alpha val="12000"/>
            </a:srgbClr>
          </a:solidFill>
          <a:ln/>
        </p:spPr>
      </p:sp>
      <p:sp>
        <p:nvSpPr>
          <p:cNvPr id="12" name="Shape 9"/>
          <p:cNvSpPr/>
          <p:nvPr/>
        </p:nvSpPr>
        <p:spPr>
          <a:xfrm>
            <a:off x="5437480" y="1993392"/>
            <a:ext cx="1316736" cy="1316736"/>
          </a:xfrm>
          <a:prstGeom prst="ellipse">
            <a:avLst/>
          </a:prstGeom>
          <a:solidFill>
            <a:srgbClr val="2A78D6">
              <a:alpha val="22000"/>
            </a:srgbClr>
          </a:solidFill>
          <a:ln/>
        </p:spPr>
      </p:sp>
      <p:sp>
        <p:nvSpPr>
          <p:cNvPr id="13" name="Shape 10"/>
          <p:cNvSpPr/>
          <p:nvPr/>
        </p:nvSpPr>
        <p:spPr>
          <a:xfrm>
            <a:off x="5684368" y="2240280"/>
            <a:ext cx="822960" cy="822960"/>
          </a:xfrm>
          <a:prstGeom prst="ellipse">
            <a:avLst/>
          </a:prstGeom>
          <a:solidFill>
            <a:srgbClr val="2A78D6"/>
          </a:solidFill>
          <a:ln w="9525">
            <a:solidFill>
              <a:srgbClr val="2A78D6"/>
            </a:solidFill>
            <a:prstDash val="solid"/>
          </a:ln>
        </p:spPr>
      </p:sp>
      <p:pic>
        <p:nvPicPr>
          <p:cNvPr id="14"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5" name="Text 11"/>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6" name="Text 12"/>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17" name="Shape 13"/>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8930488" y="1746504"/>
            <a:ext cx="1810512" cy="1810512"/>
          </a:xfrm>
          <a:prstGeom prst="ellipse">
            <a:avLst/>
          </a:prstGeom>
          <a:solidFill>
            <a:srgbClr val="EB6834">
              <a:alpha val="12000"/>
            </a:srgbClr>
          </a:solidFill>
          <a:ln/>
        </p:spPr>
      </p:sp>
      <p:sp>
        <p:nvSpPr>
          <p:cNvPr id="19" name="Shape 15"/>
          <p:cNvSpPr/>
          <p:nvPr/>
        </p:nvSpPr>
        <p:spPr>
          <a:xfrm>
            <a:off x="9177376" y="1993392"/>
            <a:ext cx="1316736" cy="1316736"/>
          </a:xfrm>
          <a:prstGeom prst="ellipse">
            <a:avLst/>
          </a:prstGeom>
          <a:solidFill>
            <a:srgbClr val="EB6834">
              <a:alpha val="22000"/>
            </a:srgbClr>
          </a:solidFill>
          <a:ln/>
        </p:spPr>
      </p:sp>
      <p:sp>
        <p:nvSpPr>
          <p:cNvPr id="20" name="Shape 16"/>
          <p:cNvSpPr/>
          <p:nvPr/>
        </p:nvSpPr>
        <p:spPr>
          <a:xfrm>
            <a:off x="9424264" y="2240280"/>
            <a:ext cx="822960" cy="822960"/>
          </a:xfrm>
          <a:prstGeom prst="ellipse">
            <a:avLst/>
          </a:prstGeom>
          <a:solidFill>
            <a:srgbClr val="EB6834"/>
          </a:solidFill>
          <a:ln w="9525">
            <a:solidFill>
              <a:srgbClr val="EB6834"/>
            </a:solidFill>
            <a:prstDash val="solid"/>
          </a:ln>
        </p:spPr>
      </p:sp>
      <p:pic>
        <p:nvPicPr>
          <p:cNvPr id="21"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2" name="Text 17"/>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3" name="Text 18"/>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4" name="Shape 19"/>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5" name="Text 20"/>
          <p:cNvSpPr/>
          <p:nvPr/>
        </p:nvSpPr>
        <p:spPr>
          <a:xfrm>
            <a:off x="868680" y="5166360"/>
            <a:ext cx="10515600" cy="9601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小さな共同体における「救済者への依存」と、国家規模における「権力の集中」は構造的に同じである。この実験は、社会全体のレジリエンスを問う試みである。</a:t>
            </a:r>
            <a:endParaRPr lang="en-US" sz="1350" dirty="0"/>
          </a:p>
        </p:txBody>
      </p:sp>
      <p:sp>
        <p:nvSpPr>
          <p:cNvPr id="26" name="Text 2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7" name="Text 2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同じ処方箋が、どの集団にも同じように効くわけではない。</a:t>
            </a:r>
            <a:endParaRPr lang="en-US" sz="1400" dirty="0"/>
          </a:p>
        </p:txBody>
      </p:sp>
      <p:sp>
        <p:nvSpPr>
          <p:cNvPr id="4" name="Shape 2"/>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787756" y="2112264"/>
            <a:ext cx="713232" cy="713232"/>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7" name="Text 4"/>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a:t>
            </a:r>
            <a:endParaRPr lang="en-US" sz="1500" dirty="0"/>
          </a:p>
        </p:txBody>
      </p:sp>
      <p:sp>
        <p:nvSpPr>
          <p:cNvPr id="8" name="Text 5"/>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9" name="Shape 6"/>
          <p:cNvSpPr/>
          <p:nvPr/>
        </p:nvSpPr>
        <p:spPr>
          <a:xfrm>
            <a:off x="778612" y="3246120"/>
            <a:ext cx="128016" cy="128016"/>
          </a:xfrm>
          <a:prstGeom prst="ellipse">
            <a:avLst/>
          </a:prstGeom>
          <a:solidFill>
            <a:srgbClr val="E8A33D"/>
          </a:solidFill>
          <a:ln/>
        </p:spPr>
      </p:sp>
      <p:sp>
        <p:nvSpPr>
          <p:cNvPr id="10" name="Text 7"/>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救済者への一点集中には構造的な合理性がある</a:t>
            </a:r>
            <a:endParaRPr lang="en-US" sz="1150" dirty="0"/>
          </a:p>
        </p:txBody>
      </p:sp>
      <p:sp>
        <p:nvSpPr>
          <p:cNvPr id="11" name="Shape 8"/>
          <p:cNvSpPr/>
          <p:nvPr/>
        </p:nvSpPr>
        <p:spPr>
          <a:xfrm>
            <a:off x="778612" y="3977640"/>
            <a:ext cx="128016" cy="128016"/>
          </a:xfrm>
          <a:prstGeom prst="ellipse">
            <a:avLst/>
          </a:prstGeom>
          <a:solidFill>
            <a:srgbClr val="E8A33D"/>
          </a:solidFill>
          <a:ln/>
        </p:spPr>
      </p:sp>
      <p:sp>
        <p:nvSpPr>
          <p:cNvPr id="12" name="Text 9"/>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「誰か一人を育てる／支える」が実際に最も効く打ち手になる</a:t>
            </a:r>
            <a:endParaRPr lang="en-US" sz="1150" dirty="0"/>
          </a:p>
        </p:txBody>
      </p:sp>
      <p:sp>
        <p:nvSpPr>
          <p:cNvPr id="13" name="Shape 10"/>
          <p:cNvSpPr/>
          <p:nvPr/>
        </p:nvSpPr>
        <p:spPr>
          <a:xfrm>
            <a:off x="778612" y="4709160"/>
            <a:ext cx="128016" cy="128016"/>
          </a:xfrm>
          <a:prstGeom prst="ellipse">
            <a:avLst/>
          </a:prstGeom>
          <a:solidFill>
            <a:srgbClr val="E8A33D"/>
          </a:solidFill>
          <a:ln/>
        </p:spPr>
      </p:sp>
      <p:sp>
        <p:nvSpPr>
          <p:cNvPr id="14" name="Text 11"/>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依存は怠慢ではなく、その集団で合理的だから起きている</a:t>
            </a:r>
            <a:endParaRPr lang="en-US" sz="1150" dirty="0"/>
          </a:p>
        </p:txBody>
      </p:sp>
      <p:sp>
        <p:nvSpPr>
          <p:cNvPr id="15" name="Shape 12"/>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6" name="Shape 13"/>
          <p:cNvSpPr/>
          <p:nvPr/>
        </p:nvSpPr>
        <p:spPr>
          <a:xfrm>
            <a:off x="6758788" y="2112264"/>
            <a:ext cx="713232" cy="713232"/>
          </a:xfrm>
          <a:prstGeom prst="ellipse">
            <a:avLst/>
          </a:prstGeom>
          <a:solidFill>
            <a:srgbClr val="5A8FD6"/>
          </a:solidFill>
          <a:ln w="9525">
            <a:solidFill>
              <a:srgbClr val="5A8FD6"/>
            </a:solidFill>
            <a:prstDash val="solid"/>
          </a:ln>
        </p:spPr>
      </p:sp>
      <p:pic>
        <p:nvPicPr>
          <p:cNvPr id="17"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18" name="Text 14"/>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a:t>
            </a:r>
            <a:endParaRPr lang="en-US" sz="1500" dirty="0"/>
          </a:p>
        </p:txBody>
      </p:sp>
      <p:sp>
        <p:nvSpPr>
          <p:cNvPr id="19" name="Text 15"/>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0" name="Shape 16"/>
          <p:cNvSpPr/>
          <p:nvPr/>
        </p:nvSpPr>
        <p:spPr>
          <a:xfrm>
            <a:off x="6749644" y="3246120"/>
            <a:ext cx="128016" cy="128016"/>
          </a:xfrm>
          <a:prstGeom prst="ellipse">
            <a:avLst/>
          </a:prstGeom>
          <a:solidFill>
            <a:srgbClr val="5A8FD6"/>
          </a:solidFill>
          <a:ln/>
        </p:spPr>
      </p:sp>
      <p:sp>
        <p:nvSpPr>
          <p:cNvPr id="21" name="Text 17"/>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キーパーソンを立てる施策が通用しない</a:t>
            </a:r>
            <a:endParaRPr lang="en-US" sz="1150" dirty="0"/>
          </a:p>
        </p:txBody>
      </p:sp>
      <p:sp>
        <p:nvSpPr>
          <p:cNvPr id="22" name="Shape 18"/>
          <p:cNvSpPr/>
          <p:nvPr/>
        </p:nvSpPr>
        <p:spPr>
          <a:xfrm>
            <a:off x="6749644" y="3977640"/>
            <a:ext cx="128016" cy="128016"/>
          </a:xfrm>
          <a:prstGeom prst="ellipse">
            <a:avLst/>
          </a:prstGeom>
          <a:solidFill>
            <a:srgbClr val="5A8FD6"/>
          </a:solidFill>
          <a:ln/>
        </p:spPr>
      </p:sp>
      <p:sp>
        <p:nvSpPr>
          <p:cNvPr id="23" name="Text 19"/>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複数の参加経路や意思決定の仕組みが要る</a:t>
            </a:r>
            <a:endParaRPr lang="en-US" sz="1150" dirty="0"/>
          </a:p>
        </p:txBody>
      </p:sp>
      <p:sp>
        <p:nvSpPr>
          <p:cNvPr id="24" name="Shape 20"/>
          <p:cNvSpPr/>
          <p:nvPr/>
        </p:nvSpPr>
        <p:spPr>
          <a:xfrm>
            <a:off x="6749644" y="4709160"/>
            <a:ext cx="128016" cy="128016"/>
          </a:xfrm>
          <a:prstGeom prst="ellipse">
            <a:avLst/>
          </a:prstGeom>
          <a:solidFill>
            <a:srgbClr val="5A8FD6"/>
          </a:solidFill>
          <a:ln/>
        </p:spPr>
      </p:sp>
      <p:sp>
        <p:nvSpPr>
          <p:cNvPr id="25" name="Text 21"/>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変えるべきは人ではなく、制度と場のほう</a:t>
            </a:r>
            <a:endParaRPr lang="en-US" sz="1150" dirty="0"/>
          </a:p>
        </p:txBody>
      </p:sp>
      <p:sp>
        <p:nvSpPr>
          <p:cNvPr id="26" name="Shape 22"/>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7" name="Text 23"/>
          <p:cNvSpPr/>
          <p:nvPr/>
        </p:nvSpPr>
        <p:spPr>
          <a:xfrm>
            <a:off x="868680" y="5669280"/>
            <a:ext cx="10515600" cy="749808"/>
          </a:xfrm>
          <a:prstGeom prst="rect">
            <a:avLst/>
          </a:prstGeom>
          <a:noFill/>
          <a:ln/>
        </p:spPr>
        <p:txBody>
          <a:bodyPr wrap="square" lIns="0" tIns="0" rIns="0" bIns="0" rtlCol="0" anchor="ctr"/>
          <a:lstStyle/>
          <a:p>
            <a:pPr indent="0" marL="0">
              <a:buNone/>
            </a:pPr>
            <a:r>
              <a:rPr lang="en-US" sz="1350" b="1" dirty="0">
                <a:solidFill>
                  <a:srgbClr val="F4C878"/>
                </a:solidFill>
                <a:latin typeface="Yu Gothic" pitchFamily="34" charset="0"/>
                <a:ea typeface="Yu Gothic" pitchFamily="34" charset="-122"/>
                <a:cs typeface="Yu Gothic" pitchFamily="34" charset="-120"/>
              </a:rPr>
              <a:t>「救済者に依存するな」「権限を分散せよ」は、集団のタイプを見ないまま打つと、効く集団とまったく効かない集団に分かれる。</a:t>
            </a:r>
            <a:endParaRPr lang="en-US" sz="1350" dirty="0"/>
          </a:p>
        </p:txBody>
      </p:sp>
      <p:sp>
        <p:nvSpPr>
          <p:cNvPr id="28"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一人は変えられた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キーパーソン本人は指示どおりに動かせた（+40.3pt）</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でも集団は動かなかった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周囲への波及は4.2pt。村全体の自律度は−1.2で変わらず</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効くかは集団側で決まる</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介入の精度ではなく、変化が周囲へ伝わるかが分けていた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2026-08-20T01:36:22Z</dcterms:created>
  <dcterms:modified xsi:type="dcterms:W3CDTF">2026-08-20T01:36:22Z</dcterms:modified>
</cp:coreProperties>
</file>