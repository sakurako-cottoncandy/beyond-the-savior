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救済者の負荷（%）</c:v>
                </c:pt>
              </c:strCache>
            </c:strRef>
          </c:tx>
          <c:spPr>
            <a:solidFill>
              <a:srgbClr val="E2665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Sheet1!$B$2:$B$4</c:f>
              <c:numCache>
                <c:formatCode>General</c:formatCode>
                <c:ptCount val="3"/>
                <c:pt idx="0">
                  <c:v>93</c:v>
                </c:pt>
                <c:pt idx="1">
                  <c:v>95</c:v>
                </c:pt>
                <c:pt idx="2">
                  <c:v>53</c:v>
                </c:pt>
              </c:numCache>
            </c:numRef>
          </c:val>
        </c:ser>
        <c:ser>
          <c:idx val="1"/>
          <c:order val="1"/>
          <c:tx>
            <c:strRef>
              <c:f>Sheet1!$C$1</c:f>
              <c:strCache>
                <c:ptCount val="1"/>
                <c:pt idx="0">
                  <c:v>村の自律度スコア</c:v>
                </c:pt>
              </c:strCache>
            </c:strRef>
          </c:tx>
          <c:spPr>
            <a:solidFill>
              <a:srgbClr val="1BAF7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Sheet1!$C$2:$C$4</c:f>
              <c:numCache>
                <c:formatCode>General</c:formatCode>
                <c:ptCount val="3"/>
                <c:pt idx="0">
                  <c:v>17</c:v>
                </c:pt>
                <c:pt idx="1">
                  <c:v>15</c:v>
                </c:pt>
                <c:pt idx="2">
                  <c:v>53</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AFC9EE"/>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2A375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4C0"/>
                </a:solidFill>
                <a:latin typeface="Arial"/>
              </a:defRPr>
            </a:pPr>
            <a:endParaRPr lang="en-US"/>
          </a:p>
        </c:txPr>
        <c:crossAx val="2094734554"/>
        <c:crosses val="autoZero"/>
        <c:crossBetween val="between"/>
      </c:valAx>
      <c:spPr>
        <a:solidFill>
          <a:srgbClr val="0B1220">
            <a:alpha val="0"/>
          </a:srgbClr>
        </a:solidFill>
        <a:ln>
          <a:noFill/>
        </a:ln>
        <a:effectLst/>
      </c:spPr>
    </c:plotArea>
    <c:legend>
      <c:legendPos val="b"/>
      <c:overlay val="0"/>
      <c:txPr>
        <a:bodyPr/>
        <a:lstStyle/>
        <a:p>
          <a:pPr>
            <a:defRPr sz="1100">
              <a:solidFill>
                <a:srgbClr val="AFC9EE"/>
              </a:solidFill>
            </a:defRPr>
          </a:pPr>
          <a:endParaRPr lang="en-US"/>
        </a:p>
      </c:txPr>
    </c:legend>
    <c:plotVisOnly val="1"/>
    <c:dispBlanksAs val="span"/>
  </c:chart>
  <c:spPr>
    <a:solidFill>
      <a:srgbClr val="0B122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1188720" y="1097280"/>
            <a:ext cx="1188720" cy="-457200"/>
          </a:xfrm>
          <a:prstGeom prst="line">
            <a:avLst/>
          </a:prstGeom>
          <a:noFill/>
          <a:ln w="9525">
            <a:solidFill>
              <a:srgbClr val="E8A33D">
                <a:alpha val="45000"/>
              </a:srgbClr>
            </a:solidFill>
            <a:prstDash val="solid"/>
          </a:ln>
        </p:spPr>
      </p:sp>
      <p:sp>
        <p:nvSpPr>
          <p:cNvPr id="3" name="Shape 1"/>
          <p:cNvSpPr/>
          <p:nvPr/>
        </p:nvSpPr>
        <p:spPr>
          <a:xfrm>
            <a:off x="2377440" y="640080"/>
            <a:ext cx="914400" cy="822960"/>
          </a:xfrm>
          <a:prstGeom prst="line">
            <a:avLst/>
          </a:prstGeom>
          <a:noFill/>
          <a:ln w="9525">
            <a:solidFill>
              <a:srgbClr val="E8A33D">
                <a:alpha val="45000"/>
              </a:srgbClr>
            </a:solidFill>
            <a:prstDash val="solid"/>
          </a:ln>
        </p:spPr>
      </p:sp>
      <p:sp>
        <p:nvSpPr>
          <p:cNvPr id="4" name="Shape 2"/>
          <p:cNvSpPr/>
          <p:nvPr/>
        </p:nvSpPr>
        <p:spPr>
          <a:xfrm>
            <a:off x="1188720" y="1097280"/>
            <a:ext cx="-274320" cy="1280160"/>
          </a:xfrm>
          <a:prstGeom prst="line">
            <a:avLst/>
          </a:prstGeom>
          <a:noFill/>
          <a:ln w="9525">
            <a:solidFill>
              <a:srgbClr val="E8A33D">
                <a:alpha val="45000"/>
              </a:srgbClr>
            </a:solidFill>
            <a:prstDash val="solid"/>
          </a:ln>
        </p:spPr>
      </p:sp>
      <p:sp>
        <p:nvSpPr>
          <p:cNvPr id="5" name="Shape 3"/>
          <p:cNvSpPr/>
          <p:nvPr/>
        </p:nvSpPr>
        <p:spPr>
          <a:xfrm>
            <a:off x="914400" y="2377440"/>
            <a:ext cx="1097280" cy="274320"/>
          </a:xfrm>
          <a:prstGeom prst="line">
            <a:avLst/>
          </a:prstGeom>
          <a:noFill/>
          <a:ln w="9525">
            <a:solidFill>
              <a:srgbClr val="E8A33D">
                <a:alpha val="45000"/>
              </a:srgbClr>
            </a:solidFill>
            <a:prstDash val="solid"/>
          </a:ln>
        </p:spPr>
      </p:sp>
      <p:sp>
        <p:nvSpPr>
          <p:cNvPr id="6" name="Shape 4"/>
          <p:cNvSpPr/>
          <p:nvPr/>
        </p:nvSpPr>
        <p:spPr>
          <a:xfrm>
            <a:off x="2377440" y="640080"/>
            <a:ext cx="-365760" cy="2011680"/>
          </a:xfrm>
          <a:prstGeom prst="line">
            <a:avLst/>
          </a:prstGeom>
          <a:noFill/>
          <a:ln w="9525">
            <a:solidFill>
              <a:srgbClr val="E8A33D">
                <a:alpha val="45000"/>
              </a:srgbClr>
            </a:solidFill>
            <a:prstDash val="solid"/>
          </a:ln>
        </p:spPr>
      </p:sp>
      <p:sp>
        <p:nvSpPr>
          <p:cNvPr id="7" name="Shape 5"/>
          <p:cNvSpPr/>
          <p:nvPr/>
        </p:nvSpPr>
        <p:spPr>
          <a:xfrm>
            <a:off x="10424160" y="1005840"/>
            <a:ext cx="914400" cy="731520"/>
          </a:xfrm>
          <a:prstGeom prst="line">
            <a:avLst/>
          </a:prstGeom>
          <a:noFill/>
          <a:ln w="9525">
            <a:solidFill>
              <a:srgbClr val="E8A33D">
                <a:alpha val="45000"/>
              </a:srgbClr>
            </a:solidFill>
            <a:prstDash val="solid"/>
          </a:ln>
        </p:spPr>
      </p:sp>
      <p:sp>
        <p:nvSpPr>
          <p:cNvPr id="8" name="Shape 6"/>
          <p:cNvSpPr/>
          <p:nvPr/>
        </p:nvSpPr>
        <p:spPr>
          <a:xfrm>
            <a:off x="11338560" y="1737360"/>
            <a:ext cx="-1645920" cy="365760"/>
          </a:xfrm>
          <a:prstGeom prst="line">
            <a:avLst/>
          </a:prstGeom>
          <a:noFill/>
          <a:ln w="9525">
            <a:solidFill>
              <a:srgbClr val="E8A33D">
                <a:alpha val="45000"/>
              </a:srgbClr>
            </a:solidFill>
            <a:prstDash val="solid"/>
          </a:ln>
        </p:spPr>
      </p:sp>
      <p:sp>
        <p:nvSpPr>
          <p:cNvPr id="9" name="Shape 7"/>
          <p:cNvSpPr/>
          <p:nvPr/>
        </p:nvSpPr>
        <p:spPr>
          <a:xfrm>
            <a:off x="10424160" y="1005840"/>
            <a:ext cx="1188720" cy="-365760"/>
          </a:xfrm>
          <a:prstGeom prst="line">
            <a:avLst/>
          </a:prstGeom>
          <a:noFill/>
          <a:ln w="9525">
            <a:solidFill>
              <a:srgbClr val="E8A33D">
                <a:alpha val="45000"/>
              </a:srgbClr>
            </a:solidFill>
            <a:prstDash val="solid"/>
          </a:ln>
        </p:spPr>
      </p:sp>
      <p:sp>
        <p:nvSpPr>
          <p:cNvPr id="10" name="Shape 8"/>
          <p:cNvSpPr/>
          <p:nvPr/>
        </p:nvSpPr>
        <p:spPr>
          <a:xfrm>
            <a:off x="9692640" y="2103120"/>
            <a:ext cx="1188720" cy="914400"/>
          </a:xfrm>
          <a:prstGeom prst="line">
            <a:avLst/>
          </a:prstGeom>
          <a:noFill/>
          <a:ln w="9525">
            <a:solidFill>
              <a:srgbClr val="E8A33D">
                <a:alpha val="45000"/>
              </a:srgbClr>
            </a:solidFill>
            <a:prstDash val="solid"/>
          </a:ln>
        </p:spPr>
      </p:sp>
      <p:sp>
        <p:nvSpPr>
          <p:cNvPr id="11" name="Shape 9"/>
          <p:cNvSpPr/>
          <p:nvPr/>
        </p:nvSpPr>
        <p:spPr>
          <a:xfrm>
            <a:off x="11338560" y="1737360"/>
            <a:ext cx="274320" cy="-1097280"/>
          </a:xfrm>
          <a:prstGeom prst="line">
            <a:avLst/>
          </a:prstGeom>
          <a:noFill/>
          <a:ln w="9525">
            <a:solidFill>
              <a:srgbClr val="E8A33D">
                <a:alpha val="45000"/>
              </a:srgbClr>
            </a:solidFill>
            <a:prstDash val="solid"/>
          </a:ln>
        </p:spPr>
      </p:sp>
      <p:sp>
        <p:nvSpPr>
          <p:cNvPr id="12" name="Shape 10"/>
          <p:cNvSpPr/>
          <p:nvPr/>
        </p:nvSpPr>
        <p:spPr>
          <a:xfrm>
            <a:off x="1371600" y="5760720"/>
            <a:ext cx="1097280" cy="457200"/>
          </a:xfrm>
          <a:prstGeom prst="line">
            <a:avLst/>
          </a:prstGeom>
          <a:noFill/>
          <a:ln w="9525">
            <a:solidFill>
              <a:srgbClr val="E8A33D">
                <a:alpha val="45000"/>
              </a:srgbClr>
            </a:solidFill>
            <a:prstDash val="solid"/>
          </a:ln>
        </p:spPr>
      </p:sp>
      <p:sp>
        <p:nvSpPr>
          <p:cNvPr id="13" name="Shape 11"/>
          <p:cNvSpPr/>
          <p:nvPr/>
        </p:nvSpPr>
        <p:spPr>
          <a:xfrm>
            <a:off x="1371600" y="5760720"/>
            <a:ext cx="-640080" cy="-640080"/>
          </a:xfrm>
          <a:prstGeom prst="line">
            <a:avLst/>
          </a:prstGeom>
          <a:noFill/>
          <a:ln w="9525">
            <a:solidFill>
              <a:srgbClr val="E8A33D">
                <a:alpha val="45000"/>
              </a:srgbClr>
            </a:solidFill>
            <a:prstDash val="solid"/>
          </a:ln>
        </p:spPr>
      </p:sp>
      <p:sp>
        <p:nvSpPr>
          <p:cNvPr id="14" name="Shape 12"/>
          <p:cNvSpPr/>
          <p:nvPr/>
        </p:nvSpPr>
        <p:spPr>
          <a:xfrm>
            <a:off x="2468880" y="6217920"/>
            <a:ext cx="7772400" cy="-365760"/>
          </a:xfrm>
          <a:prstGeom prst="line">
            <a:avLst/>
          </a:prstGeom>
          <a:noFill/>
          <a:ln w="9525">
            <a:solidFill>
              <a:srgbClr val="E8A33D">
                <a:alpha val="45000"/>
              </a:srgbClr>
            </a:solidFill>
            <a:prstDash val="solid"/>
          </a:ln>
        </p:spPr>
      </p:sp>
      <p:sp>
        <p:nvSpPr>
          <p:cNvPr id="15" name="Shape 13"/>
          <p:cNvSpPr/>
          <p:nvPr/>
        </p:nvSpPr>
        <p:spPr>
          <a:xfrm>
            <a:off x="10241280" y="5852160"/>
            <a:ext cx="1005840" cy="-457200"/>
          </a:xfrm>
          <a:prstGeom prst="line">
            <a:avLst/>
          </a:prstGeom>
          <a:noFill/>
          <a:ln w="9525">
            <a:solidFill>
              <a:srgbClr val="E8A33D">
                <a:alpha val="45000"/>
              </a:srgbClr>
            </a:solidFill>
            <a:prstDash val="solid"/>
          </a:ln>
        </p:spPr>
      </p:sp>
      <p:sp>
        <p:nvSpPr>
          <p:cNvPr id="16" name="Shape 14"/>
          <p:cNvSpPr/>
          <p:nvPr/>
        </p:nvSpPr>
        <p:spPr>
          <a:xfrm>
            <a:off x="11247120" y="5394960"/>
            <a:ext cx="-274320" cy="914400"/>
          </a:xfrm>
          <a:prstGeom prst="line">
            <a:avLst/>
          </a:prstGeom>
          <a:noFill/>
          <a:ln w="9525">
            <a:solidFill>
              <a:srgbClr val="E8A33D">
                <a:alpha val="45000"/>
              </a:srgbClr>
            </a:solidFill>
            <a:prstDash val="solid"/>
          </a:ln>
        </p:spPr>
      </p:sp>
      <p:sp>
        <p:nvSpPr>
          <p:cNvPr id="17" name="Shape 15"/>
          <p:cNvSpPr/>
          <p:nvPr/>
        </p:nvSpPr>
        <p:spPr>
          <a:xfrm>
            <a:off x="1143000" y="1051560"/>
            <a:ext cx="91440" cy="91440"/>
          </a:xfrm>
          <a:prstGeom prst="ellipse">
            <a:avLst/>
          </a:prstGeom>
          <a:solidFill>
            <a:srgbClr val="F4C878">
              <a:alpha val="85000"/>
            </a:srgbClr>
          </a:solidFill>
          <a:ln/>
        </p:spPr>
      </p:sp>
      <p:sp>
        <p:nvSpPr>
          <p:cNvPr id="18" name="Shape 16"/>
          <p:cNvSpPr/>
          <p:nvPr/>
        </p:nvSpPr>
        <p:spPr>
          <a:xfrm>
            <a:off x="2331720" y="594360"/>
            <a:ext cx="91440" cy="91440"/>
          </a:xfrm>
          <a:prstGeom prst="ellipse">
            <a:avLst/>
          </a:prstGeom>
          <a:solidFill>
            <a:srgbClr val="F4C878">
              <a:alpha val="85000"/>
            </a:srgbClr>
          </a:solidFill>
          <a:ln/>
        </p:spPr>
      </p:sp>
      <p:sp>
        <p:nvSpPr>
          <p:cNvPr id="19" name="Shape 17"/>
          <p:cNvSpPr/>
          <p:nvPr/>
        </p:nvSpPr>
        <p:spPr>
          <a:xfrm>
            <a:off x="3246120" y="1417320"/>
            <a:ext cx="91440" cy="91440"/>
          </a:xfrm>
          <a:prstGeom prst="ellipse">
            <a:avLst/>
          </a:prstGeom>
          <a:solidFill>
            <a:srgbClr val="F4C878">
              <a:alpha val="85000"/>
            </a:srgbClr>
          </a:solidFill>
          <a:ln/>
        </p:spPr>
      </p:sp>
      <p:sp>
        <p:nvSpPr>
          <p:cNvPr id="20" name="Shape 18"/>
          <p:cNvSpPr/>
          <p:nvPr/>
        </p:nvSpPr>
        <p:spPr>
          <a:xfrm>
            <a:off x="868680" y="2331720"/>
            <a:ext cx="91440" cy="91440"/>
          </a:xfrm>
          <a:prstGeom prst="ellipse">
            <a:avLst/>
          </a:prstGeom>
          <a:solidFill>
            <a:srgbClr val="F4C878">
              <a:alpha val="85000"/>
            </a:srgbClr>
          </a:solidFill>
          <a:ln/>
        </p:spPr>
      </p:sp>
      <p:sp>
        <p:nvSpPr>
          <p:cNvPr id="21" name="Shape 19"/>
          <p:cNvSpPr/>
          <p:nvPr/>
        </p:nvSpPr>
        <p:spPr>
          <a:xfrm>
            <a:off x="1965960" y="2606040"/>
            <a:ext cx="91440" cy="91440"/>
          </a:xfrm>
          <a:prstGeom prst="ellipse">
            <a:avLst/>
          </a:prstGeom>
          <a:solidFill>
            <a:srgbClr val="F4C878">
              <a:alpha val="85000"/>
            </a:srgbClr>
          </a:solidFill>
          <a:ln/>
        </p:spPr>
      </p:sp>
      <p:sp>
        <p:nvSpPr>
          <p:cNvPr id="22" name="Shape 20"/>
          <p:cNvSpPr/>
          <p:nvPr/>
        </p:nvSpPr>
        <p:spPr>
          <a:xfrm>
            <a:off x="10378440" y="960120"/>
            <a:ext cx="91440" cy="91440"/>
          </a:xfrm>
          <a:prstGeom prst="ellipse">
            <a:avLst/>
          </a:prstGeom>
          <a:solidFill>
            <a:srgbClr val="F4C878">
              <a:alpha val="85000"/>
            </a:srgbClr>
          </a:solidFill>
          <a:ln/>
        </p:spPr>
      </p:sp>
      <p:sp>
        <p:nvSpPr>
          <p:cNvPr id="23" name="Shape 21"/>
          <p:cNvSpPr/>
          <p:nvPr/>
        </p:nvSpPr>
        <p:spPr>
          <a:xfrm>
            <a:off x="11292840" y="1691640"/>
            <a:ext cx="91440" cy="91440"/>
          </a:xfrm>
          <a:prstGeom prst="ellipse">
            <a:avLst/>
          </a:prstGeom>
          <a:solidFill>
            <a:srgbClr val="F4C878">
              <a:alpha val="85000"/>
            </a:srgbClr>
          </a:solidFill>
          <a:ln/>
        </p:spPr>
      </p:sp>
      <p:sp>
        <p:nvSpPr>
          <p:cNvPr id="24" name="Shape 22"/>
          <p:cNvSpPr/>
          <p:nvPr/>
        </p:nvSpPr>
        <p:spPr>
          <a:xfrm>
            <a:off x="9646920" y="2057400"/>
            <a:ext cx="91440" cy="91440"/>
          </a:xfrm>
          <a:prstGeom prst="ellipse">
            <a:avLst/>
          </a:prstGeom>
          <a:solidFill>
            <a:srgbClr val="F4C878">
              <a:alpha val="85000"/>
            </a:srgbClr>
          </a:solidFill>
          <a:ln/>
        </p:spPr>
      </p:sp>
      <p:sp>
        <p:nvSpPr>
          <p:cNvPr id="25" name="Shape 23"/>
          <p:cNvSpPr/>
          <p:nvPr/>
        </p:nvSpPr>
        <p:spPr>
          <a:xfrm>
            <a:off x="10835640" y="2971800"/>
            <a:ext cx="91440" cy="91440"/>
          </a:xfrm>
          <a:prstGeom prst="ellipse">
            <a:avLst/>
          </a:prstGeom>
          <a:solidFill>
            <a:srgbClr val="F4C878">
              <a:alpha val="85000"/>
            </a:srgbClr>
          </a:solidFill>
          <a:ln/>
        </p:spPr>
      </p:sp>
      <p:sp>
        <p:nvSpPr>
          <p:cNvPr id="26" name="Shape 24"/>
          <p:cNvSpPr/>
          <p:nvPr/>
        </p:nvSpPr>
        <p:spPr>
          <a:xfrm>
            <a:off x="11567160" y="594360"/>
            <a:ext cx="91440" cy="91440"/>
          </a:xfrm>
          <a:prstGeom prst="ellipse">
            <a:avLst/>
          </a:prstGeom>
          <a:solidFill>
            <a:srgbClr val="F4C878">
              <a:alpha val="85000"/>
            </a:srgbClr>
          </a:solidFill>
          <a:ln/>
        </p:spPr>
      </p:sp>
      <p:sp>
        <p:nvSpPr>
          <p:cNvPr id="27" name="Shape 25"/>
          <p:cNvSpPr/>
          <p:nvPr/>
        </p:nvSpPr>
        <p:spPr>
          <a:xfrm>
            <a:off x="1325880" y="5715000"/>
            <a:ext cx="91440" cy="91440"/>
          </a:xfrm>
          <a:prstGeom prst="ellipse">
            <a:avLst/>
          </a:prstGeom>
          <a:solidFill>
            <a:srgbClr val="F4C878">
              <a:alpha val="85000"/>
            </a:srgbClr>
          </a:solidFill>
          <a:ln/>
        </p:spPr>
      </p:sp>
      <p:sp>
        <p:nvSpPr>
          <p:cNvPr id="28" name="Shape 26"/>
          <p:cNvSpPr/>
          <p:nvPr/>
        </p:nvSpPr>
        <p:spPr>
          <a:xfrm>
            <a:off x="2423160" y="6172200"/>
            <a:ext cx="91440" cy="91440"/>
          </a:xfrm>
          <a:prstGeom prst="ellipse">
            <a:avLst/>
          </a:prstGeom>
          <a:solidFill>
            <a:srgbClr val="F4C878">
              <a:alpha val="85000"/>
            </a:srgbClr>
          </a:solidFill>
          <a:ln/>
        </p:spPr>
      </p:sp>
      <p:sp>
        <p:nvSpPr>
          <p:cNvPr id="29" name="Shape 27"/>
          <p:cNvSpPr/>
          <p:nvPr/>
        </p:nvSpPr>
        <p:spPr>
          <a:xfrm>
            <a:off x="685800" y="5074920"/>
            <a:ext cx="91440" cy="91440"/>
          </a:xfrm>
          <a:prstGeom prst="ellipse">
            <a:avLst/>
          </a:prstGeom>
          <a:solidFill>
            <a:srgbClr val="F4C878">
              <a:alpha val="85000"/>
            </a:srgbClr>
          </a:solidFill>
          <a:ln/>
        </p:spPr>
      </p:sp>
      <p:sp>
        <p:nvSpPr>
          <p:cNvPr id="30" name="Shape 28"/>
          <p:cNvSpPr/>
          <p:nvPr/>
        </p:nvSpPr>
        <p:spPr>
          <a:xfrm>
            <a:off x="10195560" y="5806440"/>
            <a:ext cx="91440" cy="91440"/>
          </a:xfrm>
          <a:prstGeom prst="ellipse">
            <a:avLst/>
          </a:prstGeom>
          <a:solidFill>
            <a:srgbClr val="F4C878">
              <a:alpha val="85000"/>
            </a:srgbClr>
          </a:solidFill>
          <a:ln/>
        </p:spPr>
      </p:sp>
      <p:sp>
        <p:nvSpPr>
          <p:cNvPr id="31" name="Shape 29"/>
          <p:cNvSpPr/>
          <p:nvPr/>
        </p:nvSpPr>
        <p:spPr>
          <a:xfrm>
            <a:off x="11201400" y="5349240"/>
            <a:ext cx="91440" cy="91440"/>
          </a:xfrm>
          <a:prstGeom prst="ellipse">
            <a:avLst/>
          </a:prstGeom>
          <a:solidFill>
            <a:srgbClr val="F4C878">
              <a:alpha val="85000"/>
            </a:srgbClr>
          </a:solidFill>
          <a:ln/>
        </p:spPr>
      </p:sp>
      <p:sp>
        <p:nvSpPr>
          <p:cNvPr id="32" name="Shape 30"/>
          <p:cNvSpPr/>
          <p:nvPr/>
        </p:nvSpPr>
        <p:spPr>
          <a:xfrm>
            <a:off x="10927080" y="6263640"/>
            <a:ext cx="91440" cy="91440"/>
          </a:xfrm>
          <a:prstGeom prst="ellipse">
            <a:avLst/>
          </a:prstGeom>
          <a:solidFill>
            <a:srgbClr val="F4C878">
              <a:alpha val="85000"/>
            </a:srgbClr>
          </a:solidFill>
          <a:ln/>
        </p:spPr>
      </p:sp>
      <p:sp>
        <p:nvSpPr>
          <p:cNvPr id="33" name="Shape 31"/>
          <p:cNvSpPr/>
          <p:nvPr/>
        </p:nvSpPr>
        <p:spPr>
          <a:xfrm>
            <a:off x="4939132" y="1175004"/>
            <a:ext cx="2313432" cy="2313432"/>
          </a:xfrm>
          <a:prstGeom prst="ellipse">
            <a:avLst/>
          </a:prstGeom>
          <a:solidFill>
            <a:srgbClr val="E8A33D">
              <a:alpha val="12000"/>
            </a:srgbClr>
          </a:solidFill>
          <a:ln/>
        </p:spPr>
      </p:sp>
      <p:sp>
        <p:nvSpPr>
          <p:cNvPr id="34" name="Shape 32"/>
          <p:cNvSpPr/>
          <p:nvPr/>
        </p:nvSpPr>
        <p:spPr>
          <a:xfrm>
            <a:off x="5254600" y="1490472"/>
            <a:ext cx="1682496" cy="1682496"/>
          </a:xfrm>
          <a:prstGeom prst="ellipse">
            <a:avLst/>
          </a:prstGeom>
          <a:solidFill>
            <a:srgbClr val="E8A33D">
              <a:alpha val="22000"/>
            </a:srgbClr>
          </a:solidFill>
          <a:ln/>
        </p:spPr>
      </p:sp>
      <p:sp>
        <p:nvSpPr>
          <p:cNvPr id="35" name="Shape 33"/>
          <p:cNvSpPr/>
          <p:nvPr/>
        </p:nvSpPr>
        <p:spPr>
          <a:xfrm>
            <a:off x="5570068" y="1805940"/>
            <a:ext cx="1051560" cy="1051560"/>
          </a:xfrm>
          <a:prstGeom prst="ellipse">
            <a:avLst/>
          </a:prstGeom>
          <a:solidFill>
            <a:srgbClr val="E8A33D"/>
          </a:solidFill>
          <a:ln w="9525">
            <a:solidFill>
              <a:srgbClr val="E8A33D"/>
            </a:solidFill>
            <a:prstDash val="solid"/>
          </a:ln>
        </p:spPr>
      </p:sp>
      <p:pic>
        <p:nvPicPr>
          <p:cNvPr id="36" name="Image 0" descr="preencoded.png">    </p:cNvPr>
          <p:cNvPicPr>
            <a:picLocks noChangeAspect="1"/>
          </p:cNvPicPr>
          <p:nvPr/>
        </p:nvPicPr>
        <p:blipFill>
          <a:blip r:embed="rId1"/>
          <a:stretch>
            <a:fillRect/>
          </a:stretch>
        </p:blipFill>
        <p:spPr>
          <a:xfrm>
            <a:off x="5843473" y="2079346"/>
            <a:ext cx="504749" cy="504749"/>
          </a:xfrm>
          <a:prstGeom prst="rect">
            <a:avLst/>
          </a:prstGeom>
        </p:spPr>
      </p:pic>
      <p:sp>
        <p:nvSpPr>
          <p:cNvPr id="37" name="Text 34"/>
          <p:cNvSpPr/>
          <p:nvPr/>
        </p:nvSpPr>
        <p:spPr>
          <a:xfrm>
            <a:off x="0" y="306324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Yu Gothic" pitchFamily="34" charset="0"/>
                <a:ea typeface="Yu Gothic" pitchFamily="34" charset="-122"/>
                <a:cs typeface="Yu Gothic" pitchFamily="34" charset="-120"/>
              </a:rPr>
              <a:t>救済者 × ガバナンス</a:t>
            </a:r>
            <a:endParaRPr lang="en-US" sz="4600" dirty="0"/>
          </a:p>
        </p:txBody>
      </p:sp>
      <p:sp>
        <p:nvSpPr>
          <p:cNvPr id="38" name="Text 35"/>
          <p:cNvSpPr/>
          <p:nvPr/>
        </p:nvSpPr>
        <p:spPr>
          <a:xfrm>
            <a:off x="0" y="3977640"/>
            <a:ext cx="12191695" cy="457200"/>
          </a:xfrm>
          <a:prstGeom prst="rect">
            <a:avLst/>
          </a:prstGeom>
          <a:noFill/>
          <a:ln/>
        </p:spPr>
        <p:txBody>
          <a:bodyPr wrap="square" lIns="0" tIns="0" rIns="0" bIns="0" rtlCol="0" anchor="ctr"/>
          <a:lstStyle/>
          <a:p>
            <a:pPr algn="ctr" indent="0" marL="0">
              <a:buNone/>
            </a:pPr>
            <a:r>
              <a:rPr lang="en-US" sz="1800" dirty="0">
                <a:solidFill>
                  <a:srgbClr val="AFC9EE"/>
                </a:solidFill>
                <a:latin typeface="Yu Gothic" pitchFamily="34" charset="0"/>
                <a:ea typeface="Yu Gothic" pitchFamily="34" charset="-122"/>
                <a:cs typeface="Yu Gothic" pitchFamily="34" charset="-120"/>
              </a:rPr>
              <a:t>神が降りなくても、村は回るか</a:t>
            </a:r>
            <a:endParaRPr lang="en-US" sz="1800" dirty="0"/>
          </a:p>
        </p:txBody>
      </p:sp>
      <p:sp>
        <p:nvSpPr>
          <p:cNvPr id="39" name="Text 36"/>
          <p:cNvSpPr/>
          <p:nvPr/>
        </p:nvSpPr>
        <p:spPr>
          <a:xfrm>
            <a:off x="0" y="608076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AIエージェント社会シミュレーション ハッカソン Vol.2　―　ソロ参加</a:t>
            </a:r>
            <a:endParaRPr lang="en-US" sz="1200" dirty="0"/>
          </a:p>
        </p:txBody>
      </p:sp>
      <p:sp>
        <p:nvSpPr>
          <p:cNvPr id="40" name="Text 37"/>
          <p:cNvSpPr/>
          <p:nvPr/>
        </p:nvSpPr>
        <p:spPr>
          <a:xfrm>
            <a:off x="0" y="6400800"/>
            <a:ext cx="12191695" cy="274320"/>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github.com/sakurako-cottoncandy/beyond-the-savior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組織図に載らない「救済者」の解剖学</a:t>
            </a:r>
            <a:endParaRPr lang="en-US" sz="3000" dirty="0"/>
          </a:p>
        </p:txBody>
      </p:sp>
      <p:sp>
        <p:nvSpPr>
          <p:cNvPr id="3" name="Shape 1"/>
          <p:cNvSpPr/>
          <p:nvPr/>
        </p:nvSpPr>
        <p:spPr>
          <a:xfrm>
            <a:off x="667512" y="1947672"/>
            <a:ext cx="3419856" cy="3419856"/>
          </a:xfrm>
          <a:prstGeom prst="ellipse">
            <a:avLst/>
          </a:prstGeom>
          <a:solidFill>
            <a:srgbClr val="E8A33D">
              <a:alpha val="12000"/>
            </a:srgbClr>
          </a:solidFill>
          <a:ln/>
        </p:spPr>
      </p:sp>
      <p:sp>
        <p:nvSpPr>
          <p:cNvPr id="4" name="Shape 2"/>
          <p:cNvSpPr/>
          <p:nvPr/>
        </p:nvSpPr>
        <p:spPr>
          <a:xfrm>
            <a:off x="1133856" y="2414016"/>
            <a:ext cx="2487168" cy="2487168"/>
          </a:xfrm>
          <a:prstGeom prst="ellipse">
            <a:avLst/>
          </a:prstGeom>
          <a:solidFill>
            <a:srgbClr val="E8A33D">
              <a:alpha val="22000"/>
            </a:srgbClr>
          </a:solidFill>
          <a:ln/>
        </p:spPr>
      </p:sp>
      <p:sp>
        <p:nvSpPr>
          <p:cNvPr id="5" name="Shape 3"/>
          <p:cNvSpPr/>
          <p:nvPr/>
        </p:nvSpPr>
        <p:spPr>
          <a:xfrm>
            <a:off x="1600200" y="2880360"/>
            <a:ext cx="1554480" cy="1554480"/>
          </a:xfrm>
          <a:prstGeom prst="ellipse">
            <a:avLst/>
          </a:prstGeom>
          <a:solidFill>
            <a:srgbClr val="E8A33D"/>
          </a:solidFill>
          <a:ln w="9525">
            <a:solidFill>
              <a:srgbClr val="E8A33D"/>
            </a:solidFill>
            <a:prstDash val="solid"/>
          </a:ln>
        </p:spPr>
      </p:sp>
      <p:pic>
        <p:nvPicPr>
          <p:cNvPr id="6" name="Image 0" descr="preencoded.png">    </p:cNvPr>
          <p:cNvPicPr>
            <a:picLocks noChangeAspect="1"/>
          </p:cNvPicPr>
          <p:nvPr/>
        </p:nvPicPr>
        <p:blipFill>
          <a:blip r:embed="rId1"/>
          <a:stretch>
            <a:fillRect/>
          </a:stretch>
        </p:blipFill>
        <p:spPr>
          <a:xfrm>
            <a:off x="2004365" y="3284525"/>
            <a:ext cx="746150" cy="746150"/>
          </a:xfrm>
          <a:prstGeom prst="rect">
            <a:avLst/>
          </a:prstGeom>
        </p:spPr>
      </p:pic>
      <p:sp>
        <p:nvSpPr>
          <p:cNvPr id="7" name="Text 4"/>
          <p:cNvSpPr/>
          <p:nvPr/>
        </p:nvSpPr>
        <p:spPr>
          <a:xfrm>
            <a:off x="1463040" y="4434840"/>
            <a:ext cx="1828800" cy="365760"/>
          </a:xfrm>
          <a:prstGeom prst="rect">
            <a:avLst/>
          </a:prstGeom>
          <a:noFill/>
          <a:ln/>
        </p:spPr>
        <p:txBody>
          <a:bodyPr wrap="square" lIns="0" tIns="0" rIns="0" bIns="0" rtlCol="0" anchor="ctr"/>
          <a:lstStyle/>
          <a:p>
            <a:pPr algn="ctr" indent="0" marL="0">
              <a:buNone/>
            </a:pPr>
            <a:r>
              <a:rPr lang="en-US" sz="1400" b="1" dirty="0">
                <a:solidFill>
                  <a:srgbClr val="F4C878"/>
                </a:solidFill>
                <a:latin typeface="Yu Gothic" pitchFamily="34" charset="0"/>
                <a:ea typeface="Yu Gothic" pitchFamily="34" charset="-122"/>
                <a:cs typeface="Yu Gothic" pitchFamily="34" charset="-120"/>
              </a:rPr>
              <a:t>救済者</a:t>
            </a:r>
            <a:endParaRPr lang="en-US" sz="1400" dirty="0"/>
          </a:p>
        </p:txBody>
      </p:sp>
      <p:sp>
        <p:nvSpPr>
          <p:cNvPr id="8" name="Shape 5"/>
          <p:cNvSpPr/>
          <p:nvPr/>
        </p:nvSpPr>
        <p:spPr>
          <a:xfrm>
            <a:off x="4617720" y="1655064"/>
            <a:ext cx="457200" cy="457200"/>
          </a:xfrm>
          <a:prstGeom prst="ellipse">
            <a:avLst/>
          </a:prstGeom>
          <a:solidFill>
            <a:srgbClr val="1C2C4A"/>
          </a:solidFill>
          <a:ln w="9525">
            <a:solidFill>
              <a:srgbClr val="1C2C4A"/>
            </a:solidFill>
            <a:prstDash val="solid"/>
          </a:ln>
        </p:spPr>
      </p:sp>
      <p:pic>
        <p:nvPicPr>
          <p:cNvPr id="9" name="Image 1" descr="preencoded.png">    </p:cNvPr>
          <p:cNvPicPr>
            <a:picLocks noChangeAspect="1"/>
          </p:cNvPicPr>
          <p:nvPr/>
        </p:nvPicPr>
        <p:blipFill>
          <a:blip r:embed="rId2"/>
          <a:stretch>
            <a:fillRect/>
          </a:stretch>
        </p:blipFill>
        <p:spPr>
          <a:xfrm>
            <a:off x="4736592" y="1773936"/>
            <a:ext cx="219456" cy="219456"/>
          </a:xfrm>
          <a:prstGeom prst="rect">
            <a:avLst/>
          </a:prstGeom>
        </p:spPr>
      </p:pic>
      <p:sp>
        <p:nvSpPr>
          <p:cNvPr id="10" name="Shape 6"/>
          <p:cNvSpPr/>
          <p:nvPr/>
        </p:nvSpPr>
        <p:spPr>
          <a:xfrm>
            <a:off x="5257800" y="16002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1" name="Text 7"/>
          <p:cNvSpPr/>
          <p:nvPr/>
        </p:nvSpPr>
        <p:spPr>
          <a:xfrm>
            <a:off x="5486400" y="16002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困っている人に最初に気づく</a:t>
            </a:r>
            <a:endParaRPr lang="en-US" sz="1500" dirty="0"/>
          </a:p>
        </p:txBody>
      </p:sp>
      <p:sp>
        <p:nvSpPr>
          <p:cNvPr id="12" name="Shape 8"/>
          <p:cNvSpPr/>
          <p:nvPr/>
        </p:nvSpPr>
        <p:spPr>
          <a:xfrm>
            <a:off x="4617720" y="2340864"/>
            <a:ext cx="457200" cy="457200"/>
          </a:xfrm>
          <a:prstGeom prst="ellipse">
            <a:avLst/>
          </a:prstGeom>
          <a:solidFill>
            <a:srgbClr val="1C2C4A"/>
          </a:solidFill>
          <a:ln w="9525">
            <a:solidFill>
              <a:srgbClr val="1C2C4A"/>
            </a:solidFill>
            <a:prstDash val="solid"/>
          </a:ln>
        </p:spPr>
      </p:sp>
      <p:pic>
        <p:nvPicPr>
          <p:cNvPr id="13" name="Image 2" descr="preencoded.png">    </p:cNvPr>
          <p:cNvPicPr>
            <a:picLocks noChangeAspect="1"/>
          </p:cNvPicPr>
          <p:nvPr/>
        </p:nvPicPr>
        <p:blipFill>
          <a:blip r:embed="rId3"/>
          <a:stretch>
            <a:fillRect/>
          </a:stretch>
        </p:blipFill>
        <p:spPr>
          <a:xfrm>
            <a:off x="4736592" y="2459736"/>
            <a:ext cx="219456" cy="219456"/>
          </a:xfrm>
          <a:prstGeom prst="rect">
            <a:avLst/>
          </a:prstGeom>
        </p:spPr>
      </p:pic>
      <p:sp>
        <p:nvSpPr>
          <p:cNvPr id="14" name="Shape 9"/>
          <p:cNvSpPr/>
          <p:nvPr/>
        </p:nvSpPr>
        <p:spPr>
          <a:xfrm>
            <a:off x="5257800" y="22860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5" name="Text 10"/>
          <p:cNvSpPr/>
          <p:nvPr/>
        </p:nvSpPr>
        <p:spPr>
          <a:xfrm>
            <a:off x="5486400" y="22860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対立する人同士の言葉を翻訳する</a:t>
            </a:r>
            <a:endParaRPr lang="en-US" sz="1500" dirty="0"/>
          </a:p>
        </p:txBody>
      </p:sp>
      <p:sp>
        <p:nvSpPr>
          <p:cNvPr id="16" name="Shape 11"/>
          <p:cNvSpPr/>
          <p:nvPr/>
        </p:nvSpPr>
        <p:spPr>
          <a:xfrm>
            <a:off x="4617720" y="3026664"/>
            <a:ext cx="457200" cy="457200"/>
          </a:xfrm>
          <a:prstGeom prst="ellipse">
            <a:avLst/>
          </a:prstGeom>
          <a:solidFill>
            <a:srgbClr val="1C2C4A"/>
          </a:solidFill>
          <a:ln w="9525">
            <a:solidFill>
              <a:srgbClr val="1C2C4A"/>
            </a:solidFill>
            <a:prstDash val="solid"/>
          </a:ln>
        </p:spPr>
      </p:sp>
      <p:pic>
        <p:nvPicPr>
          <p:cNvPr id="17" name="Image 3" descr="preencoded.png">    </p:cNvPr>
          <p:cNvPicPr>
            <a:picLocks noChangeAspect="1"/>
          </p:cNvPicPr>
          <p:nvPr/>
        </p:nvPicPr>
        <p:blipFill>
          <a:blip r:embed="rId4"/>
          <a:stretch>
            <a:fillRect/>
          </a:stretch>
        </p:blipFill>
        <p:spPr>
          <a:xfrm>
            <a:off x="4736592" y="3145536"/>
            <a:ext cx="219456" cy="219456"/>
          </a:xfrm>
          <a:prstGeom prst="rect">
            <a:avLst/>
          </a:prstGeom>
        </p:spPr>
      </p:pic>
      <p:sp>
        <p:nvSpPr>
          <p:cNvPr id="18" name="Shape 12"/>
          <p:cNvSpPr/>
          <p:nvPr/>
        </p:nvSpPr>
        <p:spPr>
          <a:xfrm>
            <a:off x="5257800" y="29718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9" name="Text 13"/>
          <p:cNvSpPr/>
          <p:nvPr/>
        </p:nvSpPr>
        <p:spPr>
          <a:xfrm>
            <a:off x="5486400" y="29718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新しい参加者を場につなぐ</a:t>
            </a:r>
            <a:endParaRPr lang="en-US" sz="1500" dirty="0"/>
          </a:p>
        </p:txBody>
      </p:sp>
      <p:sp>
        <p:nvSpPr>
          <p:cNvPr id="20" name="Shape 14"/>
          <p:cNvSpPr/>
          <p:nvPr/>
        </p:nvSpPr>
        <p:spPr>
          <a:xfrm>
            <a:off x="4617720" y="3712464"/>
            <a:ext cx="457200" cy="457200"/>
          </a:xfrm>
          <a:prstGeom prst="ellipse">
            <a:avLst/>
          </a:prstGeom>
          <a:solidFill>
            <a:srgbClr val="1C2C4A"/>
          </a:solidFill>
          <a:ln w="9525">
            <a:solidFill>
              <a:srgbClr val="1C2C4A"/>
            </a:solidFill>
            <a:prstDash val="solid"/>
          </a:ln>
        </p:spPr>
      </p:sp>
      <p:pic>
        <p:nvPicPr>
          <p:cNvPr id="21" name="Image 4" descr="preencoded.png">    </p:cNvPr>
          <p:cNvPicPr>
            <a:picLocks noChangeAspect="1"/>
          </p:cNvPicPr>
          <p:nvPr/>
        </p:nvPicPr>
        <p:blipFill>
          <a:blip r:embed="rId5"/>
          <a:stretch>
            <a:fillRect/>
          </a:stretch>
        </p:blipFill>
        <p:spPr>
          <a:xfrm>
            <a:off x="4736592" y="3831336"/>
            <a:ext cx="219456" cy="219456"/>
          </a:xfrm>
          <a:prstGeom prst="rect">
            <a:avLst/>
          </a:prstGeom>
        </p:spPr>
      </p:pic>
      <p:sp>
        <p:nvSpPr>
          <p:cNvPr id="22" name="Shape 15"/>
          <p:cNvSpPr/>
          <p:nvPr/>
        </p:nvSpPr>
        <p:spPr>
          <a:xfrm>
            <a:off x="5257800" y="36576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3" name="Text 16"/>
          <p:cNvSpPr/>
          <p:nvPr/>
        </p:nvSpPr>
        <p:spPr>
          <a:xfrm>
            <a:off x="5486400" y="36576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暗黙のルールや文化を伝える</a:t>
            </a:r>
            <a:endParaRPr lang="en-US" sz="1500" dirty="0"/>
          </a:p>
        </p:txBody>
      </p:sp>
      <p:sp>
        <p:nvSpPr>
          <p:cNvPr id="24" name="Shape 17"/>
          <p:cNvSpPr/>
          <p:nvPr/>
        </p:nvSpPr>
        <p:spPr>
          <a:xfrm>
            <a:off x="4617720" y="4398264"/>
            <a:ext cx="457200" cy="457200"/>
          </a:xfrm>
          <a:prstGeom prst="ellipse">
            <a:avLst/>
          </a:prstGeom>
          <a:solidFill>
            <a:srgbClr val="1C2C4A"/>
          </a:solidFill>
          <a:ln w="9525">
            <a:solidFill>
              <a:srgbClr val="1C2C4A"/>
            </a:solidFill>
            <a:prstDash val="solid"/>
          </a:ln>
        </p:spPr>
      </p:sp>
      <p:pic>
        <p:nvPicPr>
          <p:cNvPr id="25" name="Image 5" descr="preencoded.png">    </p:cNvPr>
          <p:cNvPicPr>
            <a:picLocks noChangeAspect="1"/>
          </p:cNvPicPr>
          <p:nvPr/>
        </p:nvPicPr>
        <p:blipFill>
          <a:blip r:embed="rId6"/>
          <a:stretch>
            <a:fillRect/>
          </a:stretch>
        </p:blipFill>
        <p:spPr>
          <a:xfrm>
            <a:off x="4736592" y="4517136"/>
            <a:ext cx="219456" cy="219456"/>
          </a:xfrm>
          <a:prstGeom prst="rect">
            <a:avLst/>
          </a:prstGeom>
        </p:spPr>
      </p:pic>
      <p:sp>
        <p:nvSpPr>
          <p:cNvPr id="26" name="Shape 18"/>
          <p:cNvSpPr/>
          <p:nvPr/>
        </p:nvSpPr>
        <p:spPr>
          <a:xfrm>
            <a:off x="5257800" y="43434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7" name="Text 19"/>
          <p:cNvSpPr/>
          <p:nvPr/>
        </p:nvSpPr>
        <p:spPr>
          <a:xfrm>
            <a:off x="5486400" y="43434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不安な人へ安心や意味づけを与える</a:t>
            </a:r>
            <a:endParaRPr lang="en-US" sz="1500" dirty="0"/>
          </a:p>
        </p:txBody>
      </p:sp>
      <p:sp>
        <p:nvSpPr>
          <p:cNvPr id="28" name="Shape 20"/>
          <p:cNvSpPr/>
          <p:nvPr/>
        </p:nvSpPr>
        <p:spPr>
          <a:xfrm>
            <a:off x="548640" y="562356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29" name="Text 21"/>
          <p:cNvSpPr/>
          <p:nvPr/>
        </p:nvSpPr>
        <p:spPr>
          <a:xfrm>
            <a:off x="868680" y="5623560"/>
            <a:ext cx="10515600" cy="7772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救済者は、正式な役職や権限を持つ人とは限らない。業務一覧には記録されない「見えない労働」で場を支えている。</a:t>
            </a:r>
            <a:endParaRPr lang="en-US" sz="1400" dirty="0"/>
          </a:p>
        </p:txBody>
      </p:sp>
      <p:sp>
        <p:nvSpPr>
          <p:cNvPr id="30"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短期的な安定が、長期的な脆弱性を生む</a:t>
            </a:r>
            <a:endParaRPr lang="en-US" sz="3000" dirty="0"/>
          </a:p>
        </p:txBody>
      </p:sp>
      <p:sp>
        <p:nvSpPr>
          <p:cNvPr id="3" name="Shape 1"/>
          <p:cNvSpPr/>
          <p:nvPr/>
        </p:nvSpPr>
        <p:spPr>
          <a:xfrm>
            <a:off x="668884"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395832" y="2267712"/>
            <a:ext cx="512064" cy="512064"/>
          </a:xfrm>
          <a:prstGeom prst="ellipse">
            <a:avLst/>
          </a:prstGeom>
          <a:solidFill>
            <a:srgbClr val="E8A33D"/>
          </a:solidFill>
          <a:ln/>
        </p:spPr>
      </p:sp>
      <p:sp>
        <p:nvSpPr>
          <p:cNvPr id="5" name="Text 3"/>
          <p:cNvSpPr/>
          <p:nvPr/>
        </p:nvSpPr>
        <p:spPr>
          <a:xfrm>
            <a:off x="1395832"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1</a:t>
            </a:r>
            <a:endParaRPr lang="en-US" sz="1800" dirty="0"/>
          </a:p>
        </p:txBody>
      </p:sp>
      <p:sp>
        <p:nvSpPr>
          <p:cNvPr id="6" name="Text 4"/>
          <p:cNvSpPr/>
          <p:nvPr/>
        </p:nvSpPr>
        <p:spPr>
          <a:xfrm>
            <a:off x="760324"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問題発生</a:t>
            </a:r>
            <a:endParaRPr lang="en-US" sz="1300" dirty="0"/>
          </a:p>
        </p:txBody>
      </p:sp>
      <p:sp>
        <p:nvSpPr>
          <p:cNvPr id="7" name="Text 5"/>
          <p:cNvSpPr/>
          <p:nvPr/>
        </p:nvSpPr>
        <p:spPr>
          <a:xfrm>
            <a:off x="2634844"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8" name="Shape 6"/>
          <p:cNvSpPr/>
          <p:nvPr/>
        </p:nvSpPr>
        <p:spPr>
          <a:xfrm>
            <a:off x="2890876"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3617824" y="2267712"/>
            <a:ext cx="512064" cy="512064"/>
          </a:xfrm>
          <a:prstGeom prst="ellipse">
            <a:avLst/>
          </a:prstGeom>
          <a:solidFill>
            <a:srgbClr val="E8A33D"/>
          </a:solidFill>
          <a:ln/>
        </p:spPr>
      </p:sp>
      <p:sp>
        <p:nvSpPr>
          <p:cNvPr id="10" name="Text 8"/>
          <p:cNvSpPr/>
          <p:nvPr/>
        </p:nvSpPr>
        <p:spPr>
          <a:xfrm>
            <a:off x="3617824"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2</a:t>
            </a:r>
            <a:endParaRPr lang="en-US" sz="1800" dirty="0"/>
          </a:p>
        </p:txBody>
      </p:sp>
      <p:sp>
        <p:nvSpPr>
          <p:cNvPr id="11" name="Text 9"/>
          <p:cNvSpPr/>
          <p:nvPr/>
        </p:nvSpPr>
        <p:spPr>
          <a:xfrm>
            <a:off x="2982316"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救済者が解決</a:t>
            </a:r>
            <a:endParaRPr lang="en-US" sz="1300" dirty="0"/>
          </a:p>
        </p:txBody>
      </p:sp>
      <p:sp>
        <p:nvSpPr>
          <p:cNvPr id="12" name="Text 10"/>
          <p:cNvSpPr/>
          <p:nvPr/>
        </p:nvSpPr>
        <p:spPr>
          <a:xfrm>
            <a:off x="4856836"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3" name="Shape 11"/>
          <p:cNvSpPr/>
          <p:nvPr/>
        </p:nvSpPr>
        <p:spPr>
          <a:xfrm>
            <a:off x="5112868"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5839816" y="2267712"/>
            <a:ext cx="512064" cy="512064"/>
          </a:xfrm>
          <a:prstGeom prst="ellipse">
            <a:avLst/>
          </a:prstGeom>
          <a:solidFill>
            <a:srgbClr val="E8A33D"/>
          </a:solidFill>
          <a:ln/>
        </p:spPr>
      </p:sp>
      <p:sp>
        <p:nvSpPr>
          <p:cNvPr id="15" name="Text 13"/>
          <p:cNvSpPr/>
          <p:nvPr/>
        </p:nvSpPr>
        <p:spPr>
          <a:xfrm>
            <a:off x="5839816"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3</a:t>
            </a:r>
            <a:endParaRPr lang="en-US" sz="1800" dirty="0"/>
          </a:p>
        </p:txBody>
      </p:sp>
      <p:sp>
        <p:nvSpPr>
          <p:cNvPr id="16" name="Text 14"/>
          <p:cNvSpPr/>
          <p:nvPr/>
        </p:nvSpPr>
        <p:spPr>
          <a:xfrm>
            <a:off x="5204308"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住民が判断を委ねる</a:t>
            </a:r>
            <a:endParaRPr lang="en-US" sz="1300" dirty="0"/>
          </a:p>
        </p:txBody>
      </p:sp>
      <p:sp>
        <p:nvSpPr>
          <p:cNvPr id="17" name="Text 15"/>
          <p:cNvSpPr/>
          <p:nvPr/>
        </p:nvSpPr>
        <p:spPr>
          <a:xfrm>
            <a:off x="7078828"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8" name="Shape 16"/>
          <p:cNvSpPr/>
          <p:nvPr/>
        </p:nvSpPr>
        <p:spPr>
          <a:xfrm>
            <a:off x="7334860"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9" name="Shape 17"/>
          <p:cNvSpPr/>
          <p:nvPr/>
        </p:nvSpPr>
        <p:spPr>
          <a:xfrm>
            <a:off x="8061808" y="2267712"/>
            <a:ext cx="512064" cy="512064"/>
          </a:xfrm>
          <a:prstGeom prst="ellipse">
            <a:avLst/>
          </a:prstGeom>
          <a:solidFill>
            <a:srgbClr val="E8A33D"/>
          </a:solidFill>
          <a:ln/>
        </p:spPr>
      </p:sp>
      <p:sp>
        <p:nvSpPr>
          <p:cNvPr id="20" name="Text 18"/>
          <p:cNvSpPr/>
          <p:nvPr/>
        </p:nvSpPr>
        <p:spPr>
          <a:xfrm>
            <a:off x="8061808"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4</a:t>
            </a:r>
            <a:endParaRPr lang="en-US" sz="1800" dirty="0"/>
          </a:p>
        </p:txBody>
      </p:sp>
      <p:sp>
        <p:nvSpPr>
          <p:cNvPr id="21" name="Text 19"/>
          <p:cNvSpPr/>
          <p:nvPr/>
        </p:nvSpPr>
        <p:spPr>
          <a:xfrm>
            <a:off x="7426300"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自律性の低下</a:t>
            </a:r>
            <a:endParaRPr lang="en-US" sz="1300" dirty="0"/>
          </a:p>
        </p:txBody>
      </p:sp>
      <p:sp>
        <p:nvSpPr>
          <p:cNvPr id="22" name="Text 20"/>
          <p:cNvSpPr/>
          <p:nvPr/>
        </p:nvSpPr>
        <p:spPr>
          <a:xfrm>
            <a:off x="9300820"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23" name="Shape 21"/>
          <p:cNvSpPr/>
          <p:nvPr/>
        </p:nvSpPr>
        <p:spPr>
          <a:xfrm>
            <a:off x="9556852"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24" name="Shape 22"/>
          <p:cNvSpPr/>
          <p:nvPr/>
        </p:nvSpPr>
        <p:spPr>
          <a:xfrm>
            <a:off x="10283800" y="2267712"/>
            <a:ext cx="512064" cy="512064"/>
          </a:xfrm>
          <a:prstGeom prst="ellipse">
            <a:avLst/>
          </a:prstGeom>
          <a:solidFill>
            <a:srgbClr val="E2665A"/>
          </a:solidFill>
          <a:ln/>
        </p:spPr>
      </p:sp>
      <p:sp>
        <p:nvSpPr>
          <p:cNvPr id="25" name="Text 23"/>
          <p:cNvSpPr/>
          <p:nvPr/>
        </p:nvSpPr>
        <p:spPr>
          <a:xfrm>
            <a:off x="10283800"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5</a:t>
            </a:r>
            <a:endParaRPr lang="en-US" sz="1800" dirty="0"/>
          </a:p>
        </p:txBody>
      </p:sp>
      <p:sp>
        <p:nvSpPr>
          <p:cNvPr id="26" name="Text 24"/>
          <p:cNvSpPr/>
          <p:nvPr/>
        </p:nvSpPr>
        <p:spPr>
          <a:xfrm>
            <a:off x="9648292"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救済者の疲弊</a:t>
            </a:r>
            <a:endParaRPr lang="en-US" sz="1300" dirty="0"/>
          </a:p>
        </p:txBody>
      </p:sp>
      <p:sp>
        <p:nvSpPr>
          <p:cNvPr id="27" name="Text 25"/>
          <p:cNvSpPr/>
          <p:nvPr/>
        </p:nvSpPr>
        <p:spPr>
          <a:xfrm>
            <a:off x="668884" y="3611880"/>
            <a:ext cx="10853928" cy="36576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この循環がフェーズを追うごとに繰り返され、救済者は静かに消耗していく</a:t>
            </a:r>
            <a:endParaRPr lang="en-US" sz="1200" dirty="0"/>
          </a:p>
        </p:txBody>
      </p:sp>
      <p:sp>
        <p:nvSpPr>
          <p:cNvPr id="28" name="Shape 26"/>
          <p:cNvSpPr/>
          <p:nvPr/>
        </p:nvSpPr>
        <p:spPr>
          <a:xfrm>
            <a:off x="548640" y="5394960"/>
            <a:ext cx="11091672" cy="1005840"/>
          </a:xfrm>
          <a:prstGeom prst="roundRect">
            <a:avLst>
              <a:gd name="adj" fmla="val 9091"/>
            </a:avLst>
          </a:prstGeom>
          <a:solidFill>
            <a:srgbClr val="1C2C4A"/>
          </a:solidFill>
          <a:ln/>
          <a:effectLst>
            <a:outerShdw sx="100000" sy="100000" kx="0" ky="0" algn="bl" rotWithShape="0" blurRad="101600" dist="38100" dir="5400000">
              <a:srgbClr val="000000">
                <a:alpha val="35000"/>
              </a:srgbClr>
            </a:outerShdw>
          </a:effectLst>
        </p:spPr>
      </p:sp>
      <p:sp>
        <p:nvSpPr>
          <p:cNvPr id="29" name="Text 27"/>
          <p:cNvSpPr/>
          <p:nvPr/>
        </p:nvSpPr>
        <p:spPr>
          <a:xfrm>
            <a:off x="868680" y="5394960"/>
            <a:ext cx="10515600" cy="10058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が存在すると、短期的には多くの問題が早期解決され、高い心理的安全性が保たれる。しかし、相談・判断・関係調整が一人に集中することで、共同体は自ら考える力を失い、救済者不在時に機能不全に陥る。</a:t>
            </a:r>
            <a:endParaRPr lang="en-US" sz="1400" dirty="0"/>
          </a:p>
        </p:txBody>
      </p:sp>
      <p:sp>
        <p:nvSpPr>
          <p:cNvPr id="30" name="Text 2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個人の善意を、どこまで「仕組み」に移せるか</a:t>
            </a:r>
            <a:endParaRPr lang="en-US" sz="3000" dirty="0"/>
          </a:p>
        </p:txBody>
      </p:sp>
      <p:sp>
        <p:nvSpPr>
          <p:cNvPr id="3" name="Shape 1"/>
          <p:cNvSpPr/>
          <p:nvPr/>
        </p:nvSpPr>
        <p:spPr>
          <a:xfrm>
            <a:off x="731520" y="1737360"/>
            <a:ext cx="4023360" cy="4023360"/>
          </a:xfrm>
          <a:prstGeom prst="ellipse">
            <a:avLst/>
          </a:prstGeom>
          <a:solidFill>
            <a:srgbClr val="5A8FD6">
              <a:alpha val="12000"/>
            </a:srgbClr>
          </a:solidFill>
          <a:ln/>
        </p:spPr>
      </p:sp>
      <p:sp>
        <p:nvSpPr>
          <p:cNvPr id="4" name="Shape 2"/>
          <p:cNvSpPr/>
          <p:nvPr/>
        </p:nvSpPr>
        <p:spPr>
          <a:xfrm>
            <a:off x="1280160" y="2286000"/>
            <a:ext cx="2926080" cy="2926080"/>
          </a:xfrm>
          <a:prstGeom prst="ellipse">
            <a:avLst/>
          </a:prstGeom>
          <a:solidFill>
            <a:srgbClr val="5A8FD6">
              <a:alpha val="22000"/>
            </a:srgbClr>
          </a:solidFill>
          <a:ln/>
        </p:spPr>
      </p:sp>
      <p:sp>
        <p:nvSpPr>
          <p:cNvPr id="5" name="Shape 3"/>
          <p:cNvSpPr/>
          <p:nvPr/>
        </p:nvSpPr>
        <p:spPr>
          <a:xfrm>
            <a:off x="1828800" y="2834640"/>
            <a:ext cx="1828800" cy="1828800"/>
          </a:xfrm>
          <a:prstGeom prst="ellipse">
            <a:avLst/>
          </a:prstGeom>
          <a:solidFill>
            <a:srgbClr val="5A8FD6"/>
          </a:solidFill>
          <a:ln w="9525">
            <a:solidFill>
              <a:srgbClr val="5A8FD6"/>
            </a:solidFill>
            <a:prstDash val="solid"/>
          </a:ln>
        </p:spPr>
      </p:sp>
      <p:pic>
        <p:nvPicPr>
          <p:cNvPr id="6" name="Image 0" descr="preencoded.png">    </p:cNvPr>
          <p:cNvPicPr>
            <a:picLocks noChangeAspect="1"/>
          </p:cNvPicPr>
          <p:nvPr/>
        </p:nvPicPr>
        <p:blipFill>
          <a:blip r:embed="rId1"/>
          <a:stretch>
            <a:fillRect/>
          </a:stretch>
        </p:blipFill>
        <p:spPr>
          <a:xfrm>
            <a:off x="2304288" y="3310128"/>
            <a:ext cx="877824" cy="877824"/>
          </a:xfrm>
          <a:prstGeom prst="rect">
            <a:avLst/>
          </a:prstGeom>
        </p:spPr>
      </p:pic>
      <p:sp>
        <p:nvSpPr>
          <p:cNvPr id="7" name="Shape 4"/>
          <p:cNvSpPr/>
          <p:nvPr/>
        </p:nvSpPr>
        <p:spPr>
          <a:xfrm>
            <a:off x="5120640" y="1737360"/>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8" name="Shape 5"/>
          <p:cNvSpPr/>
          <p:nvPr/>
        </p:nvSpPr>
        <p:spPr>
          <a:xfrm>
            <a:off x="5394960" y="2226564"/>
            <a:ext cx="256032" cy="256032"/>
          </a:xfrm>
          <a:prstGeom prst="ellipse">
            <a:avLst/>
          </a:prstGeom>
          <a:solidFill>
            <a:srgbClr val="5A8FD6"/>
          </a:solidFill>
          <a:ln/>
        </p:spPr>
      </p:sp>
      <p:sp>
        <p:nvSpPr>
          <p:cNvPr id="9" name="Text 6"/>
          <p:cNvSpPr/>
          <p:nvPr/>
        </p:nvSpPr>
        <p:spPr>
          <a:xfrm>
            <a:off x="5852160" y="1847088"/>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有能な救済者がいる共同体は、本当に安全なのか？</a:t>
            </a:r>
            <a:endParaRPr lang="en-US" sz="1500" dirty="0"/>
          </a:p>
        </p:txBody>
      </p:sp>
      <p:sp>
        <p:nvSpPr>
          <p:cNvPr id="10" name="Shape 7"/>
          <p:cNvSpPr/>
          <p:nvPr/>
        </p:nvSpPr>
        <p:spPr>
          <a:xfrm>
            <a:off x="5120640" y="3227832"/>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5394960" y="3717036"/>
            <a:ext cx="256032" cy="256032"/>
          </a:xfrm>
          <a:prstGeom prst="ellipse">
            <a:avLst/>
          </a:prstGeom>
          <a:solidFill>
            <a:srgbClr val="5A8FD6"/>
          </a:solidFill>
          <a:ln/>
        </p:spPr>
      </p:sp>
      <p:sp>
        <p:nvSpPr>
          <p:cNvPr id="12" name="Text 9"/>
          <p:cNvSpPr/>
          <p:nvPr/>
        </p:nvSpPr>
        <p:spPr>
          <a:xfrm>
            <a:off x="5852160" y="3337560"/>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救済者の価値（共感・安全性・意味づけ）を失わずに、冷たい官僚主義に陥らない「ガバナンス」は設計できるか？</a:t>
            </a:r>
            <a:endParaRPr lang="en-US" sz="1500" dirty="0"/>
          </a:p>
        </p:txBody>
      </p:sp>
      <p:sp>
        <p:nvSpPr>
          <p:cNvPr id="13" name="Shape 10"/>
          <p:cNvSpPr/>
          <p:nvPr/>
        </p:nvSpPr>
        <p:spPr>
          <a:xfrm>
            <a:off x="5120640" y="4718304"/>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394960" y="5207508"/>
            <a:ext cx="256032" cy="256032"/>
          </a:xfrm>
          <a:prstGeom prst="ellipse">
            <a:avLst/>
          </a:prstGeom>
          <a:solidFill>
            <a:srgbClr val="5A8FD6"/>
          </a:solidFill>
          <a:ln/>
        </p:spPr>
      </p:sp>
      <p:sp>
        <p:nvSpPr>
          <p:cNvPr id="15" name="Text 12"/>
          <p:cNvSpPr/>
          <p:nvPr/>
        </p:nvSpPr>
        <p:spPr>
          <a:xfrm>
            <a:off x="5852160" y="4828032"/>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神（救済者）が毎回介入しなくても、自律的に回る仕組みを作れるか？</a:t>
            </a:r>
            <a:endParaRPr lang="en-US" sz="1500" dirty="0"/>
          </a:p>
        </p:txBody>
      </p:sp>
      <p:sp>
        <p:nvSpPr>
          <p:cNvPr id="16" name="Text 1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7" name="Text 1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LLMエージェントが生み出す「感情の培養皿」</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従来の数値シミュレーションは「利益と損失」だけで人が動くことを前提としている。しかし現実は違う。</a:t>
            </a:r>
            <a:endParaRPr lang="en-US" sz="1400" dirty="0"/>
          </a:p>
        </p:txBody>
      </p:sp>
      <p:sp>
        <p:nvSpPr>
          <p:cNvPr id="4" name="Shape 2"/>
          <p:cNvSpPr/>
          <p:nvPr/>
        </p:nvSpPr>
        <p:spPr>
          <a:xfrm>
            <a:off x="548640" y="1965960"/>
            <a:ext cx="5349240" cy="3246120"/>
          </a:xfrm>
          <a:prstGeom prst="roundRect">
            <a:avLst>
              <a:gd name="adj" fmla="val 338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868680" y="2240280"/>
            <a:ext cx="4754880" cy="365760"/>
          </a:xfrm>
          <a:prstGeom prst="rect">
            <a:avLst/>
          </a:prstGeom>
          <a:noFill/>
          <a:ln/>
        </p:spPr>
        <p:txBody>
          <a:bodyPr wrap="square" lIns="0" tIns="0" rIns="0" bIns="0" rtlCol="0" anchor="ctr"/>
          <a:lstStyle/>
          <a:p>
            <a:pPr indent="0" marL="0">
              <a:buNone/>
            </a:pPr>
            <a:r>
              <a:rPr lang="en-US" sz="1600" b="1" dirty="0">
                <a:solidFill>
                  <a:srgbClr val="5A8FD6"/>
                </a:solidFill>
                <a:latin typeface="Yu Gothic" pitchFamily="34" charset="0"/>
                <a:ea typeface="Yu Gothic" pitchFamily="34" charset="-122"/>
                <a:cs typeface="Yu Gothic" pitchFamily="34" charset="-120"/>
              </a:rPr>
              <a:t>合理的判断（Standard Logic）</a:t>
            </a:r>
            <a:endParaRPr lang="en-US" sz="1600" dirty="0"/>
          </a:p>
        </p:txBody>
      </p:sp>
      <p:sp>
        <p:nvSpPr>
          <p:cNvPr id="6" name="Text 4"/>
          <p:cNvSpPr/>
          <p:nvPr/>
        </p:nvSpPr>
        <p:spPr>
          <a:xfrm>
            <a:off x="868680" y="2743200"/>
            <a:ext cx="4754880" cy="1280160"/>
          </a:xfrm>
          <a:prstGeom prst="rect">
            <a:avLst/>
          </a:prstGeom>
          <a:noFill/>
          <a:ln/>
        </p:spPr>
        <p:txBody>
          <a:bodyPr wrap="square" lIns="0" tIns="0" rIns="0" bIns="0" rtlCol="0" anchor="ctr"/>
          <a:lstStyle/>
          <a:p>
            <a:pPr indent="0" marL="0">
              <a:lnSpc>
                <a:spcPct val="130000"/>
              </a:lnSpc>
              <a:buNone/>
            </a:pPr>
            <a:r>
              <a:rPr lang="en-US" sz="1400" dirty="0">
                <a:solidFill>
                  <a:srgbClr val="AFC9EE"/>
                </a:solidFill>
                <a:latin typeface="Yu Gothic" pitchFamily="34" charset="0"/>
                <a:ea typeface="Yu Gothic" pitchFamily="34" charset="-122"/>
                <a:cs typeface="Yu Gothic" pitchFamily="34" charset="-120"/>
              </a:rPr>
              <a:t>損得だけで動くことを前提としたロジック。再現性は高いが、人間関係のもつれや遠慮、忖度は表現できない。</a:t>
            </a:r>
            <a:endParaRPr lang="en-US" sz="1400" dirty="0"/>
          </a:p>
        </p:txBody>
      </p:sp>
      <p:sp>
        <p:nvSpPr>
          <p:cNvPr id="7" name="Shape 5"/>
          <p:cNvSpPr/>
          <p:nvPr/>
        </p:nvSpPr>
        <p:spPr>
          <a:xfrm>
            <a:off x="6263640" y="1965960"/>
            <a:ext cx="5376672" cy="3246120"/>
          </a:xfrm>
          <a:prstGeom prst="roundRect">
            <a:avLst>
              <a:gd name="adj" fmla="val 3380"/>
            </a:avLst>
          </a:prstGeom>
          <a:solidFill>
            <a:srgbClr val="1C2C4A"/>
          </a:solidFill>
          <a:ln/>
          <a:effectLst>
            <a:outerShdw sx="100000" sy="100000" kx="0" ky="0" algn="bl" rotWithShape="0" blurRad="101600" dist="38100" dir="5400000">
              <a:srgbClr val="000000">
                <a:alpha val="35000"/>
              </a:srgbClr>
            </a:outerShdw>
          </a:effectLst>
        </p:spPr>
      </p:sp>
      <p:sp>
        <p:nvSpPr>
          <p:cNvPr id="8" name="Text 6"/>
          <p:cNvSpPr/>
          <p:nvPr/>
        </p:nvSpPr>
        <p:spPr>
          <a:xfrm>
            <a:off x="6583680" y="2240280"/>
            <a:ext cx="4754880" cy="365760"/>
          </a:xfrm>
          <a:prstGeom prst="rect">
            <a:avLst/>
          </a:prstGeom>
          <a:noFill/>
          <a:ln/>
        </p:spPr>
        <p:txBody>
          <a:bodyPr wrap="square" lIns="0" tIns="0" rIns="0" bIns="0" rtlCol="0" anchor="ctr"/>
          <a:lstStyle/>
          <a:p>
            <a:pPr indent="0" marL="0">
              <a:buNone/>
            </a:pPr>
            <a:r>
              <a:rPr lang="en-US" sz="1600" b="1" dirty="0">
                <a:solidFill>
                  <a:srgbClr val="F4C878"/>
                </a:solidFill>
                <a:latin typeface="Yu Gothic" pitchFamily="34" charset="0"/>
                <a:ea typeface="Yu Gothic" pitchFamily="34" charset="-122"/>
                <a:cs typeface="Yu Gothic" pitchFamily="34" charset="-120"/>
              </a:rPr>
              <a:t>LLMロジック（LLM Logic）</a:t>
            </a:r>
            <a:endParaRPr lang="en-US" sz="1600" dirty="0"/>
          </a:p>
        </p:txBody>
      </p:sp>
      <p:sp>
        <p:nvSpPr>
          <p:cNvPr id="9" name="Shape 7"/>
          <p:cNvSpPr/>
          <p:nvPr/>
        </p:nvSpPr>
        <p:spPr>
          <a:xfrm>
            <a:off x="6583680" y="2788920"/>
            <a:ext cx="4754880" cy="530352"/>
          </a:xfrm>
          <a:prstGeom prst="roundRect">
            <a:avLst>
              <a:gd name="adj" fmla="val 50000"/>
            </a:avLst>
          </a:prstGeom>
          <a:solidFill>
            <a:srgbClr val="0B1220"/>
          </a:solidFill>
          <a:ln w="9525">
            <a:solidFill>
              <a:srgbClr val="E8A33D"/>
            </a:solidFill>
            <a:prstDash val="solid"/>
          </a:ln>
        </p:spPr>
      </p:sp>
      <p:sp>
        <p:nvSpPr>
          <p:cNvPr id="10" name="Text 8"/>
          <p:cNvSpPr/>
          <p:nvPr/>
        </p:nvSpPr>
        <p:spPr>
          <a:xfrm>
            <a:off x="6812280" y="2788920"/>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あの人に嫌われたくない</a:t>
            </a:r>
            <a:endParaRPr lang="en-US" sz="1300" dirty="0"/>
          </a:p>
        </p:txBody>
      </p:sp>
      <p:sp>
        <p:nvSpPr>
          <p:cNvPr id="11" name="Shape 9"/>
          <p:cNvSpPr/>
          <p:nvPr/>
        </p:nvSpPr>
        <p:spPr>
          <a:xfrm>
            <a:off x="6583680" y="3410712"/>
            <a:ext cx="4754880" cy="530352"/>
          </a:xfrm>
          <a:prstGeom prst="roundRect">
            <a:avLst>
              <a:gd name="adj" fmla="val 50000"/>
            </a:avLst>
          </a:prstGeom>
          <a:solidFill>
            <a:srgbClr val="0B1220"/>
          </a:solidFill>
          <a:ln w="9525">
            <a:solidFill>
              <a:srgbClr val="E8A33D"/>
            </a:solidFill>
            <a:prstDash val="solid"/>
          </a:ln>
        </p:spPr>
      </p:sp>
      <p:sp>
        <p:nvSpPr>
          <p:cNvPr id="12" name="Text 10"/>
          <p:cNvSpPr/>
          <p:nvPr/>
        </p:nvSpPr>
        <p:spPr>
          <a:xfrm>
            <a:off x="6812280" y="3410712"/>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自分だけが迷惑をかけてはいけない</a:t>
            </a:r>
            <a:endParaRPr lang="en-US" sz="1300" dirty="0"/>
          </a:p>
        </p:txBody>
      </p:sp>
      <p:sp>
        <p:nvSpPr>
          <p:cNvPr id="13" name="Shape 11"/>
          <p:cNvSpPr/>
          <p:nvPr/>
        </p:nvSpPr>
        <p:spPr>
          <a:xfrm>
            <a:off x="6583680" y="4032504"/>
            <a:ext cx="4754880" cy="530352"/>
          </a:xfrm>
          <a:prstGeom prst="roundRect">
            <a:avLst>
              <a:gd name="adj" fmla="val 50000"/>
            </a:avLst>
          </a:prstGeom>
          <a:solidFill>
            <a:srgbClr val="0B1220"/>
          </a:solidFill>
          <a:ln w="9525">
            <a:solidFill>
              <a:srgbClr val="E8A33D"/>
            </a:solidFill>
            <a:prstDash val="solid"/>
          </a:ln>
        </p:spPr>
      </p:sp>
      <p:sp>
        <p:nvSpPr>
          <p:cNvPr id="14" name="Text 12"/>
          <p:cNvSpPr/>
          <p:nvPr/>
        </p:nvSpPr>
        <p:spPr>
          <a:xfrm>
            <a:off x="6812280" y="4032504"/>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自分が抜けたら場が壊れる気がする</a:t>
            </a:r>
            <a:endParaRPr lang="en-US" sz="1300" dirty="0"/>
          </a:p>
        </p:txBody>
      </p:sp>
      <p:sp>
        <p:nvSpPr>
          <p:cNvPr id="15" name="Shape 13"/>
          <p:cNvSpPr/>
          <p:nvPr/>
        </p:nvSpPr>
        <p:spPr>
          <a:xfrm>
            <a:off x="6583680" y="4654296"/>
            <a:ext cx="4754880" cy="530352"/>
          </a:xfrm>
          <a:prstGeom prst="roundRect">
            <a:avLst>
              <a:gd name="adj" fmla="val 50000"/>
            </a:avLst>
          </a:prstGeom>
          <a:solidFill>
            <a:srgbClr val="0B1220"/>
          </a:solidFill>
          <a:ln w="9525">
            <a:solidFill>
              <a:srgbClr val="E8A33D"/>
            </a:solidFill>
            <a:prstDash val="solid"/>
          </a:ln>
        </p:spPr>
      </p:sp>
      <p:sp>
        <p:nvSpPr>
          <p:cNvPr id="16" name="Text 14"/>
          <p:cNvSpPr/>
          <p:nvPr/>
        </p:nvSpPr>
        <p:spPr>
          <a:xfrm>
            <a:off x="6812280" y="4654296"/>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相談すると弱い人だと思われそう</a:t>
            </a:r>
            <a:endParaRPr lang="en-US" sz="1300" dirty="0"/>
          </a:p>
        </p:txBody>
      </p:sp>
      <p:sp>
        <p:nvSpPr>
          <p:cNvPr id="17" name="Shape 15"/>
          <p:cNvSpPr/>
          <p:nvPr/>
        </p:nvSpPr>
        <p:spPr>
          <a:xfrm>
            <a:off x="548640" y="5486400"/>
            <a:ext cx="11091672" cy="914400"/>
          </a:xfrm>
          <a:prstGeom prst="roundRect">
            <a:avLst>
              <a:gd name="adj" fmla="val 10000"/>
            </a:avLst>
          </a:prstGeom>
          <a:solidFill>
            <a:srgbClr val="16213A"/>
          </a:solidFill>
          <a:ln/>
          <a:effectLst>
            <a:outerShdw sx="100000" sy="100000" kx="0" ky="0" algn="bl" rotWithShape="0" blurRad="101600" dist="38100" dir="5400000">
              <a:srgbClr val="000000">
                <a:alpha val="35000"/>
              </a:srgbClr>
            </a:outerShdw>
          </a:effectLst>
        </p:spPr>
      </p:sp>
      <p:sp>
        <p:nvSpPr>
          <p:cNvPr id="18" name="Text 16"/>
          <p:cNvSpPr/>
          <p:nvPr/>
        </p:nvSpPr>
        <p:spPr>
          <a:xfrm>
            <a:off x="868680" y="5486400"/>
            <a:ext cx="10515600" cy="914400"/>
          </a:xfrm>
          <a:prstGeom prst="rect">
            <a:avLst/>
          </a:prstGeom>
          <a:noFill/>
          <a:ln/>
        </p:spPr>
        <p:txBody>
          <a:bodyPr wrap="square" lIns="0" tIns="0" rIns="0" bIns="0" rtlCol="0" anchor="ctr"/>
          <a:lstStyle/>
          <a:p>
            <a:pPr indent="0" marL="0">
              <a:buNone/>
            </a:pPr>
            <a:r>
              <a:rPr lang="en-US" sz="1400" dirty="0">
                <a:solidFill>
                  <a:srgbClr val="FFFFFF"/>
                </a:solidFill>
                <a:latin typeface="Yu Gothic" pitchFamily="34" charset="0"/>
                <a:ea typeface="Yu Gothic" pitchFamily="34" charset="-122"/>
                <a:cs typeface="Yu Gothic" pitchFamily="34" charset="-120"/>
              </a:rPr>
              <a:t>LLMを使えば、感情・誤解・無意識のルール・属人化のメカニズムといった「非合理性」を含んだシミュレーションが可能になる。</a:t>
            </a:r>
            <a:endParaRPr lang="en-US" sz="1400" dirty="0"/>
          </a:p>
        </p:txBody>
      </p:sp>
      <p:sp>
        <p:nvSpPr>
          <p:cNvPr id="19" name="Text 1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実験の舞台となる4つのペルソナ</a:t>
            </a:r>
            <a:endParaRPr lang="en-US" sz="3000" dirty="0"/>
          </a:p>
        </p:txBody>
      </p:sp>
      <p:sp>
        <p:nvSpPr>
          <p:cNvPr id="3" name="Shape 1"/>
          <p:cNvSpPr/>
          <p:nvPr/>
        </p:nvSpPr>
        <p:spPr>
          <a:xfrm>
            <a:off x="54086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88340" y="1513332"/>
            <a:ext cx="1911096" cy="1911096"/>
          </a:xfrm>
          <a:prstGeom prst="ellipse">
            <a:avLst/>
          </a:prstGeom>
          <a:solidFill>
            <a:srgbClr val="E8A33D">
              <a:alpha val="12000"/>
            </a:srgbClr>
          </a:solidFill>
          <a:ln/>
        </p:spPr>
      </p:sp>
      <p:sp>
        <p:nvSpPr>
          <p:cNvPr id="5" name="Shape 3"/>
          <p:cNvSpPr/>
          <p:nvPr/>
        </p:nvSpPr>
        <p:spPr>
          <a:xfrm>
            <a:off x="1148944" y="1773936"/>
            <a:ext cx="1389888" cy="1389888"/>
          </a:xfrm>
          <a:prstGeom prst="ellipse">
            <a:avLst/>
          </a:prstGeom>
          <a:solidFill>
            <a:srgbClr val="E8A33D">
              <a:alpha val="22000"/>
            </a:srgbClr>
          </a:solidFill>
          <a:ln/>
        </p:spPr>
      </p:sp>
      <p:sp>
        <p:nvSpPr>
          <p:cNvPr id="6" name="Shape 4"/>
          <p:cNvSpPr/>
          <p:nvPr/>
        </p:nvSpPr>
        <p:spPr>
          <a:xfrm>
            <a:off x="1409548" y="2034540"/>
            <a:ext cx="868680" cy="868680"/>
          </a:xfrm>
          <a:prstGeom prst="ellipse">
            <a:avLst/>
          </a:prstGeom>
          <a:solidFill>
            <a:srgbClr val="E8A33D"/>
          </a:solidFill>
          <a:ln w="9525">
            <a:solidFill>
              <a:srgbClr val="E8A33D"/>
            </a:solidFill>
            <a:prstDash val="solid"/>
          </a:ln>
        </p:spPr>
      </p:sp>
      <p:pic>
        <p:nvPicPr>
          <p:cNvPr id="7" name="Image 0" descr="preencoded.png">    </p:cNvPr>
          <p:cNvPicPr>
            <a:picLocks noChangeAspect="1"/>
          </p:cNvPicPr>
          <p:nvPr/>
        </p:nvPicPr>
        <p:blipFill>
          <a:blip r:embed="rId1"/>
          <a:stretch>
            <a:fillRect/>
          </a:stretch>
        </p:blipFill>
        <p:spPr>
          <a:xfrm>
            <a:off x="1635404" y="2260397"/>
            <a:ext cx="416966" cy="416966"/>
          </a:xfrm>
          <a:prstGeom prst="rect">
            <a:avLst/>
          </a:prstGeom>
        </p:spPr>
      </p:pic>
      <p:sp>
        <p:nvSpPr>
          <p:cNvPr id="8" name="Text 5"/>
          <p:cNvSpPr/>
          <p:nvPr/>
        </p:nvSpPr>
        <p:spPr>
          <a:xfrm>
            <a:off x="65059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救済者</a:t>
            </a:r>
            <a:endParaRPr lang="en-US" sz="1500" dirty="0"/>
          </a:p>
        </p:txBody>
      </p:sp>
      <p:sp>
        <p:nvSpPr>
          <p:cNvPr id="9" name="Text 6"/>
          <p:cNvSpPr/>
          <p:nvPr/>
        </p:nvSpPr>
        <p:spPr>
          <a:xfrm>
            <a:off x="74203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中心ノード。困っている人に最初に気づき、相談・調整を一手に引き受ける。</a:t>
            </a:r>
            <a:endParaRPr lang="en-US" sz="1200" dirty="0"/>
          </a:p>
        </p:txBody>
      </p:sp>
      <p:sp>
        <p:nvSpPr>
          <p:cNvPr id="10" name="Shape 7"/>
          <p:cNvSpPr/>
          <p:nvPr/>
        </p:nvSpPr>
        <p:spPr>
          <a:xfrm>
            <a:off x="337550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3722980" y="1513332"/>
            <a:ext cx="1911096" cy="1911096"/>
          </a:xfrm>
          <a:prstGeom prst="ellipse">
            <a:avLst/>
          </a:prstGeom>
          <a:solidFill>
            <a:srgbClr val="5A8FD6">
              <a:alpha val="12000"/>
            </a:srgbClr>
          </a:solidFill>
          <a:ln/>
        </p:spPr>
      </p:sp>
      <p:sp>
        <p:nvSpPr>
          <p:cNvPr id="12" name="Shape 9"/>
          <p:cNvSpPr/>
          <p:nvPr/>
        </p:nvSpPr>
        <p:spPr>
          <a:xfrm>
            <a:off x="3983584" y="1773936"/>
            <a:ext cx="1389888" cy="1389888"/>
          </a:xfrm>
          <a:prstGeom prst="ellipse">
            <a:avLst/>
          </a:prstGeom>
          <a:solidFill>
            <a:srgbClr val="5A8FD6">
              <a:alpha val="22000"/>
            </a:srgbClr>
          </a:solidFill>
          <a:ln/>
        </p:spPr>
      </p:sp>
      <p:sp>
        <p:nvSpPr>
          <p:cNvPr id="13" name="Shape 10"/>
          <p:cNvSpPr/>
          <p:nvPr/>
        </p:nvSpPr>
        <p:spPr>
          <a:xfrm>
            <a:off x="4244188" y="2034540"/>
            <a:ext cx="868680" cy="868680"/>
          </a:xfrm>
          <a:prstGeom prst="ellipse">
            <a:avLst/>
          </a:prstGeom>
          <a:solidFill>
            <a:srgbClr val="5A8FD6"/>
          </a:solidFill>
          <a:ln w="9525">
            <a:solidFill>
              <a:srgbClr val="5A8FD6"/>
            </a:solidFill>
            <a:prstDash val="solid"/>
          </a:ln>
        </p:spPr>
      </p:sp>
      <p:pic>
        <p:nvPicPr>
          <p:cNvPr id="14" name="Image 1" descr="preencoded.png">    </p:cNvPr>
          <p:cNvPicPr>
            <a:picLocks noChangeAspect="1"/>
          </p:cNvPicPr>
          <p:nvPr/>
        </p:nvPicPr>
        <p:blipFill>
          <a:blip r:embed="rId2"/>
          <a:stretch>
            <a:fillRect/>
          </a:stretch>
        </p:blipFill>
        <p:spPr>
          <a:xfrm>
            <a:off x="4470044" y="2260397"/>
            <a:ext cx="416966" cy="416966"/>
          </a:xfrm>
          <a:prstGeom prst="rect">
            <a:avLst/>
          </a:prstGeom>
        </p:spPr>
      </p:pic>
      <p:sp>
        <p:nvSpPr>
          <p:cNvPr id="15" name="Text 11"/>
          <p:cNvSpPr/>
          <p:nvPr/>
        </p:nvSpPr>
        <p:spPr>
          <a:xfrm>
            <a:off x="348523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世話好きな住民</a:t>
            </a:r>
            <a:endParaRPr lang="en-US" sz="1500" dirty="0"/>
          </a:p>
        </p:txBody>
      </p:sp>
      <p:sp>
        <p:nvSpPr>
          <p:cNvPr id="16" name="Text 12"/>
          <p:cNvSpPr/>
          <p:nvPr/>
        </p:nvSpPr>
        <p:spPr>
          <a:xfrm>
            <a:off x="357667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救済者の補佐役。救済者を助けるが、自分でも抱え込みやすい。</a:t>
            </a:r>
            <a:endParaRPr lang="en-US" sz="1200" dirty="0"/>
          </a:p>
        </p:txBody>
      </p:sp>
      <p:sp>
        <p:nvSpPr>
          <p:cNvPr id="17" name="Shape 13"/>
          <p:cNvSpPr/>
          <p:nvPr/>
        </p:nvSpPr>
        <p:spPr>
          <a:xfrm>
            <a:off x="621014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8" name="Shape 14"/>
          <p:cNvSpPr/>
          <p:nvPr/>
        </p:nvSpPr>
        <p:spPr>
          <a:xfrm>
            <a:off x="6557620" y="1513332"/>
            <a:ext cx="1911096" cy="1911096"/>
          </a:xfrm>
          <a:prstGeom prst="ellipse">
            <a:avLst/>
          </a:prstGeom>
          <a:solidFill>
            <a:srgbClr val="9AA4C0">
              <a:alpha val="12000"/>
            </a:srgbClr>
          </a:solidFill>
          <a:ln/>
        </p:spPr>
      </p:sp>
      <p:sp>
        <p:nvSpPr>
          <p:cNvPr id="19" name="Shape 15"/>
          <p:cNvSpPr/>
          <p:nvPr/>
        </p:nvSpPr>
        <p:spPr>
          <a:xfrm>
            <a:off x="6818224" y="1773936"/>
            <a:ext cx="1389888" cy="1389888"/>
          </a:xfrm>
          <a:prstGeom prst="ellipse">
            <a:avLst/>
          </a:prstGeom>
          <a:solidFill>
            <a:srgbClr val="9AA4C0">
              <a:alpha val="22000"/>
            </a:srgbClr>
          </a:solidFill>
          <a:ln/>
        </p:spPr>
      </p:sp>
      <p:sp>
        <p:nvSpPr>
          <p:cNvPr id="20" name="Shape 16"/>
          <p:cNvSpPr/>
          <p:nvPr/>
        </p:nvSpPr>
        <p:spPr>
          <a:xfrm>
            <a:off x="7078828" y="2034540"/>
            <a:ext cx="868680" cy="868680"/>
          </a:xfrm>
          <a:prstGeom prst="ellipse">
            <a:avLst/>
          </a:prstGeom>
          <a:solidFill>
            <a:srgbClr val="9AA4C0"/>
          </a:solidFill>
          <a:ln w="9525">
            <a:solidFill>
              <a:srgbClr val="9AA4C0"/>
            </a:solidFill>
            <a:prstDash val="solid"/>
          </a:ln>
        </p:spPr>
      </p:sp>
      <p:pic>
        <p:nvPicPr>
          <p:cNvPr id="21" name="Image 2" descr="preencoded.png">    </p:cNvPr>
          <p:cNvPicPr>
            <a:picLocks noChangeAspect="1"/>
          </p:cNvPicPr>
          <p:nvPr/>
        </p:nvPicPr>
        <p:blipFill>
          <a:blip r:embed="rId3"/>
          <a:stretch>
            <a:fillRect/>
          </a:stretch>
        </p:blipFill>
        <p:spPr>
          <a:xfrm>
            <a:off x="7304684" y="2260397"/>
            <a:ext cx="416966" cy="416966"/>
          </a:xfrm>
          <a:prstGeom prst="rect">
            <a:avLst/>
          </a:prstGeom>
        </p:spPr>
      </p:pic>
      <p:sp>
        <p:nvSpPr>
          <p:cNvPr id="22" name="Text 17"/>
          <p:cNvSpPr/>
          <p:nvPr/>
        </p:nvSpPr>
        <p:spPr>
          <a:xfrm>
            <a:off x="631987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声を上げにくい住民</a:t>
            </a:r>
            <a:endParaRPr lang="en-US" sz="1500" dirty="0"/>
          </a:p>
        </p:txBody>
      </p:sp>
      <p:sp>
        <p:nvSpPr>
          <p:cNvPr id="23" name="Text 18"/>
          <p:cNvSpPr/>
          <p:nvPr/>
        </p:nvSpPr>
        <p:spPr>
          <a:xfrm>
            <a:off x="641131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弱いノード。不満があっても声を上げられず、静かに孤立する。</a:t>
            </a:r>
            <a:endParaRPr lang="en-US" sz="1200" dirty="0"/>
          </a:p>
        </p:txBody>
      </p:sp>
      <p:sp>
        <p:nvSpPr>
          <p:cNvPr id="24" name="Shape 19"/>
          <p:cNvSpPr/>
          <p:nvPr/>
        </p:nvSpPr>
        <p:spPr>
          <a:xfrm>
            <a:off x="904478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25" name="Shape 20"/>
          <p:cNvSpPr/>
          <p:nvPr/>
        </p:nvSpPr>
        <p:spPr>
          <a:xfrm>
            <a:off x="9392260" y="1513332"/>
            <a:ext cx="1911096" cy="1911096"/>
          </a:xfrm>
          <a:prstGeom prst="ellipse">
            <a:avLst/>
          </a:prstGeom>
          <a:solidFill>
            <a:srgbClr val="AFC9EE">
              <a:alpha val="12000"/>
            </a:srgbClr>
          </a:solidFill>
          <a:ln/>
        </p:spPr>
      </p:sp>
      <p:sp>
        <p:nvSpPr>
          <p:cNvPr id="26" name="Shape 21"/>
          <p:cNvSpPr/>
          <p:nvPr/>
        </p:nvSpPr>
        <p:spPr>
          <a:xfrm>
            <a:off x="9652864" y="1773936"/>
            <a:ext cx="1389888" cy="1389888"/>
          </a:xfrm>
          <a:prstGeom prst="ellipse">
            <a:avLst/>
          </a:prstGeom>
          <a:solidFill>
            <a:srgbClr val="AFC9EE">
              <a:alpha val="22000"/>
            </a:srgbClr>
          </a:solidFill>
          <a:ln/>
        </p:spPr>
      </p:sp>
      <p:sp>
        <p:nvSpPr>
          <p:cNvPr id="27" name="Shape 22"/>
          <p:cNvSpPr/>
          <p:nvPr/>
        </p:nvSpPr>
        <p:spPr>
          <a:xfrm>
            <a:off x="9913468" y="2034540"/>
            <a:ext cx="868680" cy="868680"/>
          </a:xfrm>
          <a:prstGeom prst="ellipse">
            <a:avLst/>
          </a:prstGeom>
          <a:solidFill>
            <a:srgbClr val="AFC9EE"/>
          </a:solidFill>
          <a:ln w="9525">
            <a:solidFill>
              <a:srgbClr val="AFC9EE"/>
            </a:solidFill>
            <a:prstDash val="solid"/>
          </a:ln>
        </p:spPr>
      </p:sp>
      <p:pic>
        <p:nvPicPr>
          <p:cNvPr id="28" name="Image 3" descr="preencoded.png">    </p:cNvPr>
          <p:cNvPicPr>
            <a:picLocks noChangeAspect="1"/>
          </p:cNvPicPr>
          <p:nvPr/>
        </p:nvPicPr>
        <p:blipFill>
          <a:blip r:embed="rId4"/>
          <a:stretch>
            <a:fillRect/>
          </a:stretch>
        </p:blipFill>
        <p:spPr>
          <a:xfrm>
            <a:off x="10139324" y="2260397"/>
            <a:ext cx="416966" cy="416966"/>
          </a:xfrm>
          <a:prstGeom prst="rect">
            <a:avLst/>
          </a:prstGeom>
        </p:spPr>
      </p:pic>
      <p:sp>
        <p:nvSpPr>
          <p:cNvPr id="29" name="Text 23"/>
          <p:cNvSpPr/>
          <p:nvPr/>
        </p:nvSpPr>
        <p:spPr>
          <a:xfrm>
            <a:off x="915451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村長・管理者</a:t>
            </a:r>
            <a:endParaRPr lang="en-US" sz="1500" dirty="0"/>
          </a:p>
        </p:txBody>
      </p:sp>
      <p:sp>
        <p:nvSpPr>
          <p:cNvPr id="30" name="Text 24"/>
          <p:cNvSpPr/>
          <p:nvPr/>
        </p:nvSpPr>
        <p:spPr>
          <a:xfrm>
            <a:off x="924595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権限ノード。権限はあるが、現場の文脈からは孤立している。</a:t>
            </a:r>
            <a:endParaRPr lang="en-US" sz="1200" dirty="0"/>
          </a:p>
        </p:txBody>
      </p:sp>
      <p:sp>
        <p:nvSpPr>
          <p:cNvPr id="31" name="Text 25"/>
          <p:cNvSpPr/>
          <p:nvPr/>
        </p:nvSpPr>
        <p:spPr>
          <a:xfrm>
            <a:off x="548640" y="5532120"/>
            <a:ext cx="11091672" cy="45720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企画段階では7ペルソナを構想したが、実装では時間の制約からこの4体に絞った。</a:t>
            </a:r>
            <a:endParaRPr lang="en-US" sz="1200" dirty="0"/>
          </a:p>
        </p:txBody>
      </p:sp>
      <p:sp>
        <p:nvSpPr>
          <p:cNvPr id="32"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3"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3つのフェーズで進行する物語</a:t>
            </a:r>
            <a:endParaRPr lang="en-US" sz="3000" dirty="0"/>
          </a:p>
        </p:txBody>
      </p:sp>
      <p:sp>
        <p:nvSpPr>
          <p:cNvPr id="3" name="Shape 1"/>
          <p:cNvSpPr/>
          <p:nvPr/>
        </p:nvSpPr>
        <p:spPr>
          <a:xfrm>
            <a:off x="72374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491844" y="1705356"/>
            <a:ext cx="1709928" cy="1709928"/>
          </a:xfrm>
          <a:prstGeom prst="ellipse">
            <a:avLst/>
          </a:prstGeom>
          <a:solidFill>
            <a:srgbClr val="5A8FD6">
              <a:alpha val="12000"/>
            </a:srgbClr>
          </a:solidFill>
          <a:ln/>
        </p:spPr>
      </p:sp>
      <p:sp>
        <p:nvSpPr>
          <p:cNvPr id="5" name="Shape 3"/>
          <p:cNvSpPr/>
          <p:nvPr/>
        </p:nvSpPr>
        <p:spPr>
          <a:xfrm>
            <a:off x="1725016" y="1938528"/>
            <a:ext cx="1243584" cy="1243584"/>
          </a:xfrm>
          <a:prstGeom prst="ellipse">
            <a:avLst/>
          </a:prstGeom>
          <a:solidFill>
            <a:srgbClr val="5A8FD6">
              <a:alpha val="22000"/>
            </a:srgbClr>
          </a:solidFill>
          <a:ln/>
        </p:spPr>
      </p:sp>
      <p:sp>
        <p:nvSpPr>
          <p:cNvPr id="6" name="Shape 4"/>
          <p:cNvSpPr/>
          <p:nvPr/>
        </p:nvSpPr>
        <p:spPr>
          <a:xfrm>
            <a:off x="1958188" y="2171700"/>
            <a:ext cx="777240" cy="777240"/>
          </a:xfrm>
          <a:prstGeom prst="ellipse">
            <a:avLst/>
          </a:prstGeom>
          <a:solidFill>
            <a:srgbClr val="5A8FD6"/>
          </a:solidFill>
          <a:ln w="9525">
            <a:solidFill>
              <a:srgbClr val="5A8FD6"/>
            </a:solidFill>
            <a:prstDash val="solid"/>
          </a:ln>
        </p:spPr>
      </p:sp>
      <p:pic>
        <p:nvPicPr>
          <p:cNvPr id="7" name="Image 0" descr="preencoded.png">    </p:cNvPr>
          <p:cNvPicPr>
            <a:picLocks noChangeAspect="1"/>
          </p:cNvPicPr>
          <p:nvPr/>
        </p:nvPicPr>
        <p:blipFill>
          <a:blip r:embed="rId1"/>
          <a:stretch>
            <a:fillRect/>
          </a:stretch>
        </p:blipFill>
        <p:spPr>
          <a:xfrm>
            <a:off x="2160270" y="2373782"/>
            <a:ext cx="373075" cy="373075"/>
          </a:xfrm>
          <a:prstGeom prst="rect">
            <a:avLst/>
          </a:prstGeom>
        </p:spPr>
      </p:pic>
      <p:sp>
        <p:nvSpPr>
          <p:cNvPr id="8" name="Text 5"/>
          <p:cNvSpPr/>
          <p:nvPr/>
        </p:nvSpPr>
        <p:spPr>
          <a:xfrm>
            <a:off x="86090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フェーズ1：平常運転</a:t>
            </a:r>
            <a:endParaRPr lang="en-US" sz="1500" dirty="0"/>
          </a:p>
        </p:txBody>
      </p:sp>
      <p:sp>
        <p:nvSpPr>
          <p:cNvPr id="9" name="Text 6"/>
          <p:cNvSpPr/>
          <p:nvPr/>
        </p:nvSpPr>
        <p:spPr>
          <a:xfrm>
            <a:off x="95234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村の日常のやり取り（世間話・ちょっとした相談・報告など）</a:t>
            </a:r>
            <a:endParaRPr lang="en-US" sz="1250" dirty="0"/>
          </a:p>
        </p:txBody>
      </p:sp>
      <p:sp>
        <p:nvSpPr>
          <p:cNvPr id="10" name="Text 7"/>
          <p:cNvSpPr/>
          <p:nvPr/>
        </p:nvSpPr>
        <p:spPr>
          <a:xfrm>
            <a:off x="396986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1" name="Shape 8"/>
          <p:cNvSpPr/>
          <p:nvPr/>
        </p:nvSpPr>
        <p:spPr>
          <a:xfrm>
            <a:off x="447278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2" name="Shape 9"/>
          <p:cNvSpPr/>
          <p:nvPr/>
        </p:nvSpPr>
        <p:spPr>
          <a:xfrm>
            <a:off x="5240884" y="1705356"/>
            <a:ext cx="1709928" cy="1709928"/>
          </a:xfrm>
          <a:prstGeom prst="ellipse">
            <a:avLst/>
          </a:prstGeom>
          <a:solidFill>
            <a:srgbClr val="E8A33D">
              <a:alpha val="12000"/>
            </a:srgbClr>
          </a:solidFill>
          <a:ln/>
        </p:spPr>
      </p:sp>
      <p:sp>
        <p:nvSpPr>
          <p:cNvPr id="13" name="Shape 10"/>
          <p:cNvSpPr/>
          <p:nvPr/>
        </p:nvSpPr>
        <p:spPr>
          <a:xfrm>
            <a:off x="5474056" y="1938528"/>
            <a:ext cx="1243584" cy="1243584"/>
          </a:xfrm>
          <a:prstGeom prst="ellipse">
            <a:avLst/>
          </a:prstGeom>
          <a:solidFill>
            <a:srgbClr val="E8A33D">
              <a:alpha val="22000"/>
            </a:srgbClr>
          </a:solidFill>
          <a:ln/>
        </p:spPr>
      </p:sp>
      <p:sp>
        <p:nvSpPr>
          <p:cNvPr id="14" name="Shape 11"/>
          <p:cNvSpPr/>
          <p:nvPr/>
        </p:nvSpPr>
        <p:spPr>
          <a:xfrm>
            <a:off x="5707228" y="2171700"/>
            <a:ext cx="777240" cy="777240"/>
          </a:xfrm>
          <a:prstGeom prst="ellipse">
            <a:avLst/>
          </a:prstGeom>
          <a:solidFill>
            <a:srgbClr val="E8A33D"/>
          </a:solidFill>
          <a:ln w="9525">
            <a:solidFill>
              <a:srgbClr val="E8A33D"/>
            </a:solidFill>
            <a:prstDash val="solid"/>
          </a:ln>
        </p:spPr>
      </p:sp>
      <p:pic>
        <p:nvPicPr>
          <p:cNvPr id="15" name="Image 1" descr="preencoded.png">    </p:cNvPr>
          <p:cNvPicPr>
            <a:picLocks noChangeAspect="1"/>
          </p:cNvPicPr>
          <p:nvPr/>
        </p:nvPicPr>
        <p:blipFill>
          <a:blip r:embed="rId2"/>
          <a:stretch>
            <a:fillRect/>
          </a:stretch>
        </p:blipFill>
        <p:spPr>
          <a:xfrm>
            <a:off x="5909310" y="2373782"/>
            <a:ext cx="373075" cy="373075"/>
          </a:xfrm>
          <a:prstGeom prst="rect">
            <a:avLst/>
          </a:prstGeom>
        </p:spPr>
      </p:pic>
      <p:sp>
        <p:nvSpPr>
          <p:cNvPr id="16" name="Text 12"/>
          <p:cNvSpPr/>
          <p:nvPr/>
        </p:nvSpPr>
        <p:spPr>
          <a:xfrm>
            <a:off x="460994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フェーズ2：摩擦</a:t>
            </a:r>
            <a:endParaRPr lang="en-US" sz="1500" dirty="0"/>
          </a:p>
        </p:txBody>
      </p:sp>
      <p:sp>
        <p:nvSpPr>
          <p:cNvPr id="17" name="Text 13"/>
          <p:cNvSpPr/>
          <p:nvPr/>
        </p:nvSpPr>
        <p:spPr>
          <a:xfrm>
            <a:off x="470138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新しい住民の増加で役割が曖昧になり、小さな不満が蓄積し始める</a:t>
            </a:r>
            <a:endParaRPr lang="en-US" sz="1250" dirty="0"/>
          </a:p>
        </p:txBody>
      </p:sp>
      <p:sp>
        <p:nvSpPr>
          <p:cNvPr id="18" name="Text 14"/>
          <p:cNvSpPr/>
          <p:nvPr/>
        </p:nvSpPr>
        <p:spPr>
          <a:xfrm>
            <a:off x="771890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9" name="Shape 15"/>
          <p:cNvSpPr/>
          <p:nvPr/>
        </p:nvSpPr>
        <p:spPr>
          <a:xfrm>
            <a:off x="822182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89924" y="1705356"/>
            <a:ext cx="1709928" cy="1709928"/>
          </a:xfrm>
          <a:prstGeom prst="ellipse">
            <a:avLst/>
          </a:prstGeom>
          <a:solidFill>
            <a:srgbClr val="E2665A">
              <a:alpha val="12000"/>
            </a:srgbClr>
          </a:solidFill>
          <a:ln/>
        </p:spPr>
      </p:sp>
      <p:sp>
        <p:nvSpPr>
          <p:cNvPr id="21" name="Shape 17"/>
          <p:cNvSpPr/>
          <p:nvPr/>
        </p:nvSpPr>
        <p:spPr>
          <a:xfrm>
            <a:off x="9223096" y="1938528"/>
            <a:ext cx="1243584" cy="1243584"/>
          </a:xfrm>
          <a:prstGeom prst="ellipse">
            <a:avLst/>
          </a:prstGeom>
          <a:solidFill>
            <a:srgbClr val="E2665A">
              <a:alpha val="22000"/>
            </a:srgbClr>
          </a:solidFill>
          <a:ln/>
        </p:spPr>
      </p:sp>
      <p:sp>
        <p:nvSpPr>
          <p:cNvPr id="22" name="Shape 18"/>
          <p:cNvSpPr/>
          <p:nvPr/>
        </p:nvSpPr>
        <p:spPr>
          <a:xfrm>
            <a:off x="9456268" y="2171700"/>
            <a:ext cx="777240" cy="777240"/>
          </a:xfrm>
          <a:prstGeom prst="ellipse">
            <a:avLst/>
          </a:prstGeom>
          <a:solidFill>
            <a:srgbClr val="E2665A"/>
          </a:solidFill>
          <a:ln w="9525">
            <a:solidFill>
              <a:srgbClr val="E2665A"/>
            </a:solidFill>
            <a:prstDash val="solid"/>
          </a:ln>
        </p:spPr>
      </p:sp>
      <p:pic>
        <p:nvPicPr>
          <p:cNvPr id="23" name="Image 2" descr="preencoded.png">    </p:cNvPr>
          <p:cNvPicPr>
            <a:picLocks noChangeAspect="1"/>
          </p:cNvPicPr>
          <p:nvPr/>
        </p:nvPicPr>
        <p:blipFill>
          <a:blip r:embed="rId3"/>
          <a:stretch>
            <a:fillRect/>
          </a:stretch>
        </p:blipFill>
        <p:spPr>
          <a:xfrm>
            <a:off x="9658350" y="2373782"/>
            <a:ext cx="373075" cy="373075"/>
          </a:xfrm>
          <a:prstGeom prst="rect">
            <a:avLst/>
          </a:prstGeom>
        </p:spPr>
      </p:pic>
      <p:sp>
        <p:nvSpPr>
          <p:cNvPr id="24" name="Text 19"/>
          <p:cNvSpPr/>
          <p:nvPr/>
        </p:nvSpPr>
        <p:spPr>
          <a:xfrm>
            <a:off x="835898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フェーズ3：危機</a:t>
            </a:r>
            <a:endParaRPr lang="en-US" sz="1500" dirty="0"/>
          </a:p>
        </p:txBody>
      </p:sp>
      <p:sp>
        <p:nvSpPr>
          <p:cNvPr id="25" name="Text 20"/>
          <p:cNvSpPr/>
          <p:nvPr/>
        </p:nvSpPr>
        <p:spPr>
          <a:xfrm>
            <a:off x="845042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条件Aは平常運転が継続（対照群）。条件B・Cは救済者が突然不在になる</a:t>
            </a:r>
            <a:endParaRPr lang="en-US" sz="1250" dirty="0"/>
          </a:p>
        </p:txBody>
      </p:sp>
      <p:sp>
        <p:nvSpPr>
          <p:cNvPr id="26" name="Shape 21"/>
          <p:cNvSpPr/>
          <p:nvPr/>
        </p:nvSpPr>
        <p:spPr>
          <a:xfrm>
            <a:off x="548640" y="521208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7" name="Text 22"/>
          <p:cNvSpPr/>
          <p:nvPr/>
        </p:nvSpPr>
        <p:spPr>
          <a:xfrm>
            <a:off x="868680" y="5212080"/>
            <a:ext cx="10515600" cy="96012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全く同じ危機イベント（救済者の不在）を、異なるガバナンス条件で発生させ、村の「回復のしかた」を比較する。</a:t>
            </a:r>
            <a:endParaRPr lang="en-US" sz="1400" dirty="0"/>
          </a:p>
        </p:txBody>
      </p:sp>
      <p:sp>
        <p:nvSpPr>
          <p:cNvPr id="28" name="Text 2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9" name="Text 2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ガバナンス・マトリクス：3つの実験条件</a:t>
            </a:r>
            <a:endParaRPr lang="en-US" sz="3000" dirty="0"/>
          </a:p>
        </p:txBody>
      </p:sp>
      <p:sp>
        <p:nvSpPr>
          <p:cNvPr id="3" name="Shape 1"/>
          <p:cNvSpPr/>
          <p:nvPr/>
        </p:nvSpPr>
        <p:spPr>
          <a:xfrm>
            <a:off x="10088575" y="502920"/>
            <a:ext cx="1554480" cy="365760"/>
          </a:xfrm>
          <a:prstGeom prst="roundRect">
            <a:avLst>
              <a:gd name="adj" fmla="val 50000"/>
            </a:avLst>
          </a:prstGeom>
          <a:solidFill>
            <a:srgbClr val="1C2C4A"/>
          </a:solidFill>
          <a:ln w="9525">
            <a:solidFill>
              <a:srgbClr val="E8A33D"/>
            </a:solidFill>
            <a:prstDash val="solid"/>
          </a:ln>
        </p:spPr>
      </p:sp>
      <p:sp>
        <p:nvSpPr>
          <p:cNvPr id="4" name="Text 2"/>
          <p:cNvSpPr/>
          <p:nvPr/>
        </p:nvSpPr>
        <p:spPr>
          <a:xfrm>
            <a:off x="10088575" y="502920"/>
            <a:ext cx="1554480" cy="365760"/>
          </a:xfrm>
          <a:prstGeom prst="rect">
            <a:avLst/>
          </a:prstGeom>
          <a:noFill/>
          <a:ln/>
        </p:spPr>
        <p:txBody>
          <a:bodyPr wrap="square" lIns="0" tIns="0" rIns="0" bIns="0" rtlCol="0" anchor="ctr"/>
          <a:lstStyle/>
          <a:p>
            <a:pPr algn="ctr" indent="0" marL="0">
              <a:buNone/>
            </a:pPr>
            <a:r>
              <a:rPr lang="en-US" sz="1100" dirty="0">
                <a:solidFill>
                  <a:srgbClr val="F4C878"/>
                </a:solidFill>
                <a:latin typeface="Yu Gothic" pitchFamily="34" charset="0"/>
                <a:ea typeface="Yu Gothic" pitchFamily="34" charset="-122"/>
                <a:cs typeface="Yu Gothic" pitchFamily="34" charset="-120"/>
              </a:rPr>
              <a:t>仮説段階</a:t>
            </a:r>
            <a:endParaRPr lang="en-US" sz="1100" dirty="0"/>
          </a:p>
        </p:txBody>
      </p:sp>
      <p:sp>
        <p:nvSpPr>
          <p:cNvPr id="5" name="Shape 3"/>
          <p:cNvSpPr/>
          <p:nvPr/>
        </p:nvSpPr>
        <p:spPr>
          <a:xfrm>
            <a:off x="641452"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6" name="Shape 4"/>
          <p:cNvSpPr/>
          <p:nvPr/>
        </p:nvSpPr>
        <p:spPr>
          <a:xfrm>
            <a:off x="1450696" y="1609344"/>
            <a:ext cx="1810512" cy="1810512"/>
          </a:xfrm>
          <a:prstGeom prst="ellipse">
            <a:avLst/>
          </a:prstGeom>
          <a:solidFill>
            <a:srgbClr val="2A78D6">
              <a:alpha val="12000"/>
            </a:srgbClr>
          </a:solidFill>
          <a:ln/>
        </p:spPr>
      </p:sp>
      <p:sp>
        <p:nvSpPr>
          <p:cNvPr id="7" name="Shape 5"/>
          <p:cNvSpPr/>
          <p:nvPr/>
        </p:nvSpPr>
        <p:spPr>
          <a:xfrm>
            <a:off x="1697584" y="1856232"/>
            <a:ext cx="1316736" cy="1316736"/>
          </a:xfrm>
          <a:prstGeom prst="ellipse">
            <a:avLst/>
          </a:prstGeom>
          <a:solidFill>
            <a:srgbClr val="2A78D6">
              <a:alpha val="22000"/>
            </a:srgbClr>
          </a:solidFill>
          <a:ln/>
        </p:spPr>
      </p:sp>
      <p:sp>
        <p:nvSpPr>
          <p:cNvPr id="8" name="Shape 6"/>
          <p:cNvSpPr/>
          <p:nvPr/>
        </p:nvSpPr>
        <p:spPr>
          <a:xfrm>
            <a:off x="1944472" y="2103120"/>
            <a:ext cx="822960" cy="822960"/>
          </a:xfrm>
          <a:prstGeom prst="ellipse">
            <a:avLst/>
          </a:prstGeom>
          <a:solidFill>
            <a:srgbClr val="2A78D6"/>
          </a:solidFill>
          <a:ln w="9525">
            <a:solidFill>
              <a:srgbClr val="2A78D6"/>
            </a:solidFill>
            <a:prstDash val="solid"/>
          </a:ln>
        </p:spPr>
      </p:sp>
      <p:pic>
        <p:nvPicPr>
          <p:cNvPr id="9" name="Image 0" descr="preencoded.png">    </p:cNvPr>
          <p:cNvPicPr>
            <a:picLocks noChangeAspect="1"/>
          </p:cNvPicPr>
          <p:nvPr/>
        </p:nvPicPr>
        <p:blipFill>
          <a:blip r:embed="rId1"/>
          <a:stretch>
            <a:fillRect/>
          </a:stretch>
        </p:blipFill>
        <p:spPr>
          <a:xfrm>
            <a:off x="2158441" y="2317090"/>
            <a:ext cx="395021" cy="395021"/>
          </a:xfrm>
          <a:prstGeom prst="rect">
            <a:avLst/>
          </a:prstGeom>
        </p:spPr>
      </p:pic>
      <p:sp>
        <p:nvSpPr>
          <p:cNvPr id="10" name="Text 7"/>
          <p:cNvSpPr/>
          <p:nvPr/>
        </p:nvSpPr>
        <p:spPr>
          <a:xfrm>
            <a:off x="778612"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A：救済者集中型</a:t>
            </a:r>
            <a:endParaRPr lang="en-US" sz="1500" dirty="0"/>
          </a:p>
        </p:txBody>
      </p:sp>
      <p:sp>
        <p:nvSpPr>
          <p:cNvPr id="11" name="Text 8"/>
          <p:cNvSpPr/>
          <p:nvPr/>
        </p:nvSpPr>
        <p:spPr>
          <a:xfrm>
            <a:off x="870052"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相談・判断はすべて救済者に集約。危機は発生しない対照群。</a:t>
            </a:r>
            <a:endParaRPr lang="en-US" sz="1250" dirty="0"/>
          </a:p>
        </p:txBody>
      </p:sp>
      <p:sp>
        <p:nvSpPr>
          <p:cNvPr id="12" name="Shape 9"/>
          <p:cNvSpPr/>
          <p:nvPr/>
        </p:nvSpPr>
        <p:spPr>
          <a:xfrm>
            <a:off x="4381348"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13" name="Shape 10"/>
          <p:cNvSpPr/>
          <p:nvPr/>
        </p:nvSpPr>
        <p:spPr>
          <a:xfrm>
            <a:off x="5190592" y="1609344"/>
            <a:ext cx="1810512" cy="1810512"/>
          </a:xfrm>
          <a:prstGeom prst="ellipse">
            <a:avLst/>
          </a:prstGeom>
          <a:solidFill>
            <a:srgbClr val="EB6834">
              <a:alpha val="12000"/>
            </a:srgbClr>
          </a:solidFill>
          <a:ln/>
        </p:spPr>
      </p:sp>
      <p:sp>
        <p:nvSpPr>
          <p:cNvPr id="14" name="Shape 11"/>
          <p:cNvSpPr/>
          <p:nvPr/>
        </p:nvSpPr>
        <p:spPr>
          <a:xfrm>
            <a:off x="5437480" y="1856232"/>
            <a:ext cx="1316736" cy="1316736"/>
          </a:xfrm>
          <a:prstGeom prst="ellipse">
            <a:avLst/>
          </a:prstGeom>
          <a:solidFill>
            <a:srgbClr val="EB6834">
              <a:alpha val="22000"/>
            </a:srgbClr>
          </a:solidFill>
          <a:ln/>
        </p:spPr>
      </p:sp>
      <p:sp>
        <p:nvSpPr>
          <p:cNvPr id="15" name="Shape 12"/>
          <p:cNvSpPr/>
          <p:nvPr/>
        </p:nvSpPr>
        <p:spPr>
          <a:xfrm>
            <a:off x="5684368" y="2103120"/>
            <a:ext cx="822960" cy="822960"/>
          </a:xfrm>
          <a:prstGeom prst="ellipse">
            <a:avLst/>
          </a:prstGeom>
          <a:solidFill>
            <a:srgbClr val="EB6834"/>
          </a:solidFill>
          <a:ln w="9525">
            <a:solidFill>
              <a:srgbClr val="EB6834"/>
            </a:solidFill>
            <a:prstDash val="solid"/>
          </a:ln>
        </p:spPr>
      </p:sp>
      <p:pic>
        <p:nvPicPr>
          <p:cNvPr id="16" name="Image 1" descr="preencoded.png">    </p:cNvPr>
          <p:cNvPicPr>
            <a:picLocks noChangeAspect="1"/>
          </p:cNvPicPr>
          <p:nvPr/>
        </p:nvPicPr>
        <p:blipFill>
          <a:blip r:embed="rId2"/>
          <a:stretch>
            <a:fillRect/>
          </a:stretch>
        </p:blipFill>
        <p:spPr>
          <a:xfrm>
            <a:off x="5898337" y="2317090"/>
            <a:ext cx="395021" cy="395021"/>
          </a:xfrm>
          <a:prstGeom prst="rect">
            <a:avLst/>
          </a:prstGeom>
        </p:spPr>
      </p:pic>
      <p:sp>
        <p:nvSpPr>
          <p:cNvPr id="17" name="Text 13"/>
          <p:cNvSpPr/>
          <p:nvPr/>
        </p:nvSpPr>
        <p:spPr>
          <a:xfrm>
            <a:off x="4518508"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B：救済者が消える村</a:t>
            </a:r>
            <a:endParaRPr lang="en-US" sz="1500" dirty="0"/>
          </a:p>
        </p:txBody>
      </p:sp>
      <p:sp>
        <p:nvSpPr>
          <p:cNvPr id="18" name="Text 14"/>
          <p:cNvSpPr/>
          <p:nvPr/>
        </p:nvSpPr>
        <p:spPr>
          <a:xfrm>
            <a:off x="4609948"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Aと同じ運用のまま、フェーズ3で救済者が突然不在になる。</a:t>
            </a:r>
            <a:endParaRPr lang="en-US" sz="1250" dirty="0"/>
          </a:p>
        </p:txBody>
      </p:sp>
      <p:sp>
        <p:nvSpPr>
          <p:cNvPr id="19" name="Shape 15"/>
          <p:cNvSpPr/>
          <p:nvPr/>
        </p:nvSpPr>
        <p:spPr>
          <a:xfrm>
            <a:off x="8121244"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30488" y="1609344"/>
            <a:ext cx="1810512" cy="1810512"/>
          </a:xfrm>
          <a:prstGeom prst="ellipse">
            <a:avLst/>
          </a:prstGeom>
          <a:solidFill>
            <a:srgbClr val="1BAF7A">
              <a:alpha val="12000"/>
            </a:srgbClr>
          </a:solidFill>
          <a:ln/>
        </p:spPr>
      </p:sp>
      <p:sp>
        <p:nvSpPr>
          <p:cNvPr id="21" name="Shape 17"/>
          <p:cNvSpPr/>
          <p:nvPr/>
        </p:nvSpPr>
        <p:spPr>
          <a:xfrm>
            <a:off x="9177376" y="1856232"/>
            <a:ext cx="1316736" cy="1316736"/>
          </a:xfrm>
          <a:prstGeom prst="ellipse">
            <a:avLst/>
          </a:prstGeom>
          <a:solidFill>
            <a:srgbClr val="1BAF7A">
              <a:alpha val="22000"/>
            </a:srgbClr>
          </a:solidFill>
          <a:ln/>
        </p:spPr>
      </p:sp>
      <p:sp>
        <p:nvSpPr>
          <p:cNvPr id="22" name="Shape 18"/>
          <p:cNvSpPr/>
          <p:nvPr/>
        </p:nvSpPr>
        <p:spPr>
          <a:xfrm>
            <a:off x="9424264" y="2103120"/>
            <a:ext cx="822960" cy="822960"/>
          </a:xfrm>
          <a:prstGeom prst="ellipse">
            <a:avLst/>
          </a:prstGeom>
          <a:solidFill>
            <a:srgbClr val="1BAF7A"/>
          </a:solidFill>
          <a:ln w="9525">
            <a:solidFill>
              <a:srgbClr val="1BAF7A"/>
            </a:solidFill>
            <a:prstDash val="solid"/>
          </a:ln>
        </p:spPr>
      </p:sp>
      <p:pic>
        <p:nvPicPr>
          <p:cNvPr id="23" name="Image 2" descr="preencoded.png">    </p:cNvPr>
          <p:cNvPicPr>
            <a:picLocks noChangeAspect="1"/>
          </p:cNvPicPr>
          <p:nvPr/>
        </p:nvPicPr>
        <p:blipFill>
          <a:blip r:embed="rId3"/>
          <a:stretch>
            <a:fillRect/>
          </a:stretch>
        </p:blipFill>
        <p:spPr>
          <a:xfrm>
            <a:off x="9638233" y="2317090"/>
            <a:ext cx="395021" cy="395021"/>
          </a:xfrm>
          <a:prstGeom prst="rect">
            <a:avLst/>
          </a:prstGeom>
        </p:spPr>
      </p:pic>
      <p:sp>
        <p:nvSpPr>
          <p:cNvPr id="24" name="Text 19"/>
          <p:cNvSpPr/>
          <p:nvPr/>
        </p:nvSpPr>
        <p:spPr>
          <a:xfrm>
            <a:off x="8258404"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C：分散ガバナンス型</a:t>
            </a:r>
            <a:endParaRPr lang="en-US" sz="1500" dirty="0"/>
          </a:p>
        </p:txBody>
      </p:sp>
      <p:sp>
        <p:nvSpPr>
          <p:cNvPr id="25" name="Text 20"/>
          <p:cNvSpPr/>
          <p:nvPr/>
        </p:nvSpPr>
        <p:spPr>
          <a:xfrm>
            <a:off x="8349844"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相談経路と判断基準を事前に住民へ分配。救済者は例外のみ対応。</a:t>
            </a:r>
            <a:endParaRPr lang="en-US" sz="1250" dirty="0"/>
          </a:p>
        </p:txBody>
      </p:sp>
      <p:sp>
        <p:nvSpPr>
          <p:cNvPr id="26" name="Text 21"/>
          <p:cNvSpPr/>
          <p:nvPr/>
        </p:nvSpPr>
        <p:spPr>
          <a:xfrm>
            <a:off x="548640" y="5166360"/>
            <a:ext cx="11091672" cy="457200"/>
          </a:xfrm>
          <a:prstGeom prst="rect">
            <a:avLst/>
          </a:prstGeom>
          <a:noFill/>
          <a:ln/>
        </p:spPr>
        <p:txBody>
          <a:bodyPr wrap="square" lIns="0" tIns="0" rIns="0" bIns="0" rtlCol="0" anchor="ctr"/>
          <a:lstStyle/>
          <a:p>
            <a:pPr algn="ctr" indent="0" marL="0">
              <a:buNone/>
            </a:pPr>
            <a:r>
              <a:rPr lang="en-US" sz="1300" i="1" dirty="0">
                <a:solidFill>
                  <a:srgbClr val="9AA4C0"/>
                </a:solidFill>
                <a:latin typeface="Yu Gothic" pitchFamily="34" charset="0"/>
                <a:ea typeface="Yu Gothic" pitchFamily="34" charset="-122"/>
                <a:cs typeface="Yu Gothic" pitchFamily="34" charset="-120"/>
              </a:rPr>
              <a:t>B と C を同じ危機イベントで比較することで、「回復のしかた」の違いを観測する。</a:t>
            </a:r>
            <a:endParaRPr lang="en-US" sz="1300" dirty="0"/>
          </a:p>
        </p:txBody>
      </p:sp>
      <p:sp>
        <p:nvSpPr>
          <p:cNvPr id="27"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8"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見えない価値の測定：2つの評価軸</a:t>
            </a:r>
            <a:endParaRPr lang="en-US" sz="3000" dirty="0"/>
          </a:p>
        </p:txBody>
      </p:sp>
      <p:sp>
        <p:nvSpPr>
          <p:cNvPr id="3" name="Shape 1"/>
          <p:cNvSpPr/>
          <p:nvPr/>
        </p:nvSpPr>
        <p:spPr>
          <a:xfrm>
            <a:off x="548640" y="1737360"/>
            <a:ext cx="5349240" cy="3520440"/>
          </a:xfrm>
          <a:prstGeom prst="roundRect">
            <a:avLst>
              <a:gd name="adj" fmla="val 311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14400" y="2011680"/>
            <a:ext cx="640080" cy="640080"/>
          </a:xfrm>
          <a:prstGeom prst="ellipse">
            <a:avLst/>
          </a:prstGeom>
          <a:solidFill>
            <a:srgbClr val="5A8FD6"/>
          </a:solidFill>
          <a:ln w="9525">
            <a:solidFill>
              <a:srgbClr val="5A8FD6"/>
            </a:solidFill>
            <a:prstDash val="solid"/>
          </a:ln>
        </p:spPr>
      </p:sp>
      <p:pic>
        <p:nvPicPr>
          <p:cNvPr id="5" name="Image 0" descr="preencoded.png">    </p:cNvPr>
          <p:cNvPicPr>
            <a:picLocks noChangeAspect="1"/>
          </p:cNvPicPr>
          <p:nvPr/>
        </p:nvPicPr>
        <p:blipFill>
          <a:blip r:embed="rId1"/>
          <a:stretch>
            <a:fillRect/>
          </a:stretch>
        </p:blipFill>
        <p:spPr>
          <a:xfrm>
            <a:off x="1080821" y="2178101"/>
            <a:ext cx="307238" cy="307238"/>
          </a:xfrm>
          <a:prstGeom prst="rect">
            <a:avLst/>
          </a:prstGeom>
        </p:spPr>
      </p:pic>
      <p:sp>
        <p:nvSpPr>
          <p:cNvPr id="6" name="Text 3"/>
          <p:cNvSpPr/>
          <p:nvPr/>
        </p:nvSpPr>
        <p:spPr>
          <a:xfrm>
            <a:off x="1691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組織運営の指標</a:t>
            </a:r>
            <a:endParaRPr lang="en-US" sz="1500" dirty="0"/>
          </a:p>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(Operational Metrics)</a:t>
            </a:r>
            <a:endParaRPr lang="en-US" sz="1500" dirty="0"/>
          </a:p>
        </p:txBody>
      </p:sp>
      <p:sp>
        <p:nvSpPr>
          <p:cNvPr id="7" name="Shape 4"/>
          <p:cNvSpPr/>
          <p:nvPr/>
        </p:nvSpPr>
        <p:spPr>
          <a:xfrm>
            <a:off x="914400" y="3017520"/>
            <a:ext cx="128016" cy="128016"/>
          </a:xfrm>
          <a:prstGeom prst="ellipse">
            <a:avLst/>
          </a:prstGeom>
          <a:solidFill>
            <a:srgbClr val="5A8FD6"/>
          </a:solidFill>
          <a:ln/>
        </p:spPr>
      </p:sp>
      <p:sp>
        <p:nvSpPr>
          <p:cNvPr id="8" name="Text 5"/>
          <p:cNvSpPr/>
          <p:nvPr/>
        </p:nvSpPr>
        <p:spPr>
          <a:xfrm>
            <a:off x="1188720" y="2889504"/>
            <a:ext cx="4480560" cy="27432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救済者の負荷メーター</a:t>
            </a:r>
            <a:endParaRPr lang="en-US" sz="1300" dirty="0"/>
          </a:p>
        </p:txBody>
      </p:sp>
      <p:sp>
        <p:nvSpPr>
          <p:cNvPr id="9" name="Text 6"/>
          <p:cNvSpPr/>
          <p:nvPr/>
        </p:nvSpPr>
        <p:spPr>
          <a:xfrm>
            <a:off x="1188720" y="3182112"/>
            <a:ext cx="4526280" cy="777240"/>
          </a:xfrm>
          <a:prstGeom prst="rect">
            <a:avLst/>
          </a:prstGeom>
          <a:noFill/>
          <a:ln/>
        </p:spPr>
        <p:txBody>
          <a:bodyPr wrap="square" lIns="0" tIns="0" rIns="0" bIns="0" rtlCol="0" anchor="ctr"/>
          <a:lstStyle/>
          <a:p>
            <a:pPr indent="0" marL="0">
              <a:lnSpc>
                <a:spcPct val="120000"/>
              </a:lnSpc>
              <a:buNone/>
            </a:pPr>
            <a:r>
              <a:rPr lang="en-US" sz="1050" dirty="0">
                <a:solidFill>
                  <a:srgbClr val="AFC9EE"/>
                </a:solidFill>
                <a:latin typeface="Yu Gothic" pitchFamily="34" charset="0"/>
                <a:ea typeface="Yu Gothic" pitchFamily="34" charset="-122"/>
                <a:cs typeface="Yu Gothic" pitchFamily="34" charset="-120"/>
              </a:rPr>
              <a:t>相談や判断が救済者に集中した程度を、会話ログの行動シグナルに基づきLLM審査役が0〜100で評価</a:t>
            </a:r>
            <a:endParaRPr lang="en-US" sz="1050" dirty="0"/>
          </a:p>
        </p:txBody>
      </p:sp>
      <p:sp>
        <p:nvSpPr>
          <p:cNvPr id="10" name="Shape 7"/>
          <p:cNvSpPr/>
          <p:nvPr/>
        </p:nvSpPr>
        <p:spPr>
          <a:xfrm>
            <a:off x="914400" y="4187952"/>
            <a:ext cx="128016" cy="128016"/>
          </a:xfrm>
          <a:prstGeom prst="ellipse">
            <a:avLst/>
          </a:prstGeom>
          <a:solidFill>
            <a:srgbClr val="5A8FD6"/>
          </a:solidFill>
          <a:ln/>
        </p:spPr>
      </p:sp>
      <p:sp>
        <p:nvSpPr>
          <p:cNvPr id="11" name="Text 8"/>
          <p:cNvSpPr/>
          <p:nvPr/>
        </p:nvSpPr>
        <p:spPr>
          <a:xfrm>
            <a:off x="1188720" y="4059936"/>
            <a:ext cx="4480560" cy="27432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村の自律度</a:t>
            </a:r>
            <a:endParaRPr lang="en-US" sz="1300" dirty="0"/>
          </a:p>
        </p:txBody>
      </p:sp>
      <p:sp>
        <p:nvSpPr>
          <p:cNvPr id="12" name="Text 9"/>
          <p:cNvSpPr/>
          <p:nvPr/>
        </p:nvSpPr>
        <p:spPr>
          <a:xfrm>
            <a:off x="1188720" y="4352544"/>
            <a:ext cx="4526280" cy="777240"/>
          </a:xfrm>
          <a:prstGeom prst="rect">
            <a:avLst/>
          </a:prstGeom>
          <a:noFill/>
          <a:ln/>
        </p:spPr>
        <p:txBody>
          <a:bodyPr wrap="square" lIns="0" tIns="0" rIns="0" bIns="0" rtlCol="0" anchor="ctr"/>
          <a:lstStyle/>
          <a:p>
            <a:pPr indent="0" marL="0">
              <a:lnSpc>
                <a:spcPct val="120000"/>
              </a:lnSpc>
              <a:buNone/>
            </a:pPr>
            <a:r>
              <a:rPr lang="en-US" sz="1050" dirty="0">
                <a:solidFill>
                  <a:srgbClr val="AFC9EE"/>
                </a:solidFill>
                <a:latin typeface="Yu Gothic" pitchFamily="34" charset="0"/>
                <a:ea typeface="Yu Gothic" pitchFamily="34" charset="-122"/>
                <a:cs typeface="Yu Gothic" pitchFamily="34" charset="-120"/>
              </a:rPr>
              <a:t>住民が救済者に頼らず対処できた程度を、会話ログの行動シグナルに基づきLLM審査役が0〜100で評価</a:t>
            </a:r>
            <a:endParaRPr lang="en-US" sz="1050" dirty="0"/>
          </a:p>
        </p:txBody>
      </p:sp>
      <p:sp>
        <p:nvSpPr>
          <p:cNvPr id="13" name="Shape 10"/>
          <p:cNvSpPr/>
          <p:nvPr/>
        </p:nvSpPr>
        <p:spPr>
          <a:xfrm>
            <a:off x="6263640" y="1737360"/>
            <a:ext cx="5376672" cy="3520440"/>
          </a:xfrm>
          <a:prstGeom prst="roundRect">
            <a:avLst>
              <a:gd name="adj" fmla="val 3117"/>
            </a:avLst>
          </a:prstGeom>
          <a:solidFill>
            <a:srgbClr val="1C2C4A"/>
          </a:solidFill>
          <a:ln/>
          <a:effectLst>
            <a:outerShdw sx="100000" sy="100000" kx="0" ky="0" algn="bl" rotWithShape="0" blurRad="101600" dist="38100" dir="5400000">
              <a:srgbClr val="000000">
                <a:alpha val="35000"/>
              </a:srgbClr>
            </a:outerShdw>
          </a:effectLst>
        </p:spPr>
      </p:sp>
      <p:sp>
        <p:nvSpPr>
          <p:cNvPr id="14" name="Shape 11"/>
          <p:cNvSpPr/>
          <p:nvPr/>
        </p:nvSpPr>
        <p:spPr>
          <a:xfrm>
            <a:off x="6629400" y="2011680"/>
            <a:ext cx="640080" cy="640080"/>
          </a:xfrm>
          <a:prstGeom prst="ellipse">
            <a:avLst/>
          </a:prstGeom>
          <a:solidFill>
            <a:srgbClr val="E8A33D"/>
          </a:solidFill>
          <a:ln w="9525">
            <a:solidFill>
              <a:srgbClr val="E8A33D"/>
            </a:solidFill>
            <a:prstDash val="solid"/>
          </a:ln>
        </p:spPr>
      </p:sp>
      <p:pic>
        <p:nvPicPr>
          <p:cNvPr id="15" name="Image 1" descr="preencoded.png">    </p:cNvPr>
          <p:cNvPicPr>
            <a:picLocks noChangeAspect="1"/>
          </p:cNvPicPr>
          <p:nvPr/>
        </p:nvPicPr>
        <p:blipFill>
          <a:blip r:embed="rId2"/>
          <a:stretch>
            <a:fillRect/>
          </a:stretch>
        </p:blipFill>
        <p:spPr>
          <a:xfrm>
            <a:off x="6795821" y="2178101"/>
            <a:ext cx="307238" cy="307238"/>
          </a:xfrm>
          <a:prstGeom prst="rect">
            <a:avLst/>
          </a:prstGeom>
        </p:spPr>
      </p:pic>
      <p:sp>
        <p:nvSpPr>
          <p:cNvPr id="16" name="Text 12"/>
          <p:cNvSpPr/>
          <p:nvPr/>
        </p:nvSpPr>
        <p:spPr>
          <a:xfrm>
            <a:off x="7406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関係性・心理的安全性</a:t>
            </a:r>
            <a:endParaRPr lang="en-US" sz="1500" dirty="0"/>
          </a:p>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(Relational Metrics)</a:t>
            </a:r>
            <a:endParaRPr lang="en-US" sz="1500" dirty="0"/>
          </a:p>
        </p:txBody>
      </p:sp>
      <p:sp>
        <p:nvSpPr>
          <p:cNvPr id="17" name="Shape 13"/>
          <p:cNvSpPr/>
          <p:nvPr/>
        </p:nvSpPr>
        <p:spPr>
          <a:xfrm>
            <a:off x="6629400" y="3063240"/>
            <a:ext cx="128016" cy="128016"/>
          </a:xfrm>
          <a:prstGeom prst="ellipse">
            <a:avLst/>
          </a:prstGeom>
          <a:solidFill>
            <a:srgbClr val="E8A33D"/>
          </a:solidFill>
          <a:ln/>
        </p:spPr>
      </p:sp>
      <p:sp>
        <p:nvSpPr>
          <p:cNvPr id="18" name="Text 14"/>
          <p:cNvSpPr/>
          <p:nvPr/>
        </p:nvSpPr>
        <p:spPr>
          <a:xfrm>
            <a:off x="6903720" y="2971800"/>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困ったときに助けを求められるか</a:t>
            </a:r>
            <a:endParaRPr lang="en-US" sz="1350" dirty="0"/>
          </a:p>
        </p:txBody>
      </p:sp>
      <p:sp>
        <p:nvSpPr>
          <p:cNvPr id="19" name="Shape 15"/>
          <p:cNvSpPr/>
          <p:nvPr/>
        </p:nvSpPr>
        <p:spPr>
          <a:xfrm>
            <a:off x="6629400" y="3721608"/>
            <a:ext cx="128016" cy="128016"/>
          </a:xfrm>
          <a:prstGeom prst="ellipse">
            <a:avLst/>
          </a:prstGeom>
          <a:solidFill>
            <a:srgbClr val="E8A33D"/>
          </a:solidFill>
          <a:ln/>
        </p:spPr>
      </p:sp>
      <p:sp>
        <p:nvSpPr>
          <p:cNvPr id="20" name="Text 16"/>
          <p:cNvSpPr/>
          <p:nvPr/>
        </p:nvSpPr>
        <p:spPr>
          <a:xfrm>
            <a:off x="6903720" y="3630168"/>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自分はこの村にいてよいと思えるか</a:t>
            </a:r>
            <a:endParaRPr lang="en-US" sz="1350" dirty="0"/>
          </a:p>
        </p:txBody>
      </p:sp>
      <p:sp>
        <p:nvSpPr>
          <p:cNvPr id="21" name="Shape 17"/>
          <p:cNvSpPr/>
          <p:nvPr/>
        </p:nvSpPr>
        <p:spPr>
          <a:xfrm>
            <a:off x="6629400" y="4379976"/>
            <a:ext cx="128016" cy="128016"/>
          </a:xfrm>
          <a:prstGeom prst="ellipse">
            <a:avLst/>
          </a:prstGeom>
          <a:solidFill>
            <a:srgbClr val="E8A33D"/>
          </a:solidFill>
          <a:ln/>
        </p:spPr>
      </p:sp>
      <p:sp>
        <p:nvSpPr>
          <p:cNvPr id="22" name="Text 18"/>
          <p:cNvSpPr/>
          <p:nvPr/>
        </p:nvSpPr>
        <p:spPr>
          <a:xfrm>
            <a:off x="6903720" y="4288536"/>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救済者がいなければ何もできないと感じていないか</a:t>
            </a:r>
            <a:endParaRPr lang="en-US" sz="1350" dirty="0"/>
          </a:p>
        </p:txBody>
      </p:sp>
      <p:sp>
        <p:nvSpPr>
          <p:cNvPr id="23" name="Text 19"/>
          <p:cNvSpPr/>
          <p:nvPr/>
        </p:nvSpPr>
        <p:spPr>
          <a:xfrm>
            <a:off x="548640" y="5486400"/>
            <a:ext cx="11091672" cy="457200"/>
          </a:xfrm>
          <a:prstGeom prst="rect">
            <a:avLst/>
          </a:prstGeom>
          <a:noFill/>
          <a:ln/>
        </p:spPr>
        <p:txBody>
          <a:bodyPr wrap="square" lIns="0" tIns="0" rIns="0" bIns="0" rtlCol="0" anchor="ctr"/>
          <a:lstStyle/>
          <a:p>
            <a:pPr algn="ctr" indent="0" marL="0">
              <a:buNone/>
            </a:pPr>
            <a:r>
              <a:rPr lang="en-US" sz="1400" i="1" dirty="0">
                <a:solidFill>
                  <a:srgbClr val="FFFFFF"/>
                </a:solidFill>
                <a:latin typeface="Yu Gothic" pitchFamily="34" charset="0"/>
                <a:ea typeface="Yu Gothic" pitchFamily="34" charset="-122"/>
                <a:cs typeface="Yu Gothic" pitchFamily="34" charset="-120"/>
              </a:rPr>
              <a:t>解決した「数」ではなく、問題が起きなかった「状態」を評価する。</a:t>
            </a:r>
            <a:endParaRPr lang="en-US" sz="1400" dirty="0"/>
          </a:p>
        </p:txBody>
      </p:sp>
      <p:sp>
        <p:nvSpPr>
          <p:cNvPr id="24" name="Text 2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5" name="Text 2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「聞く」のではなく「行動を見る」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自己申告だけでは状態を捉えきれないことがある。そこで自己申告は取らず、行動の痕跡を評価した。</a:t>
            </a:r>
            <a:endParaRPr lang="en-US" sz="1400" dirty="0"/>
          </a:p>
        </p:txBody>
      </p:sp>
      <p:sp>
        <p:nvSpPr>
          <p:cNvPr id="4" name="Shape 2"/>
          <p:cNvSpPr/>
          <p:nvPr/>
        </p:nvSpPr>
        <p:spPr>
          <a:xfrm>
            <a:off x="548640" y="1965960"/>
            <a:ext cx="534924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914400" y="2377440"/>
            <a:ext cx="548640" cy="548640"/>
          </a:xfrm>
          <a:prstGeom prst="ellipse">
            <a:avLst/>
          </a:prstGeom>
          <a:solidFill>
            <a:srgbClr val="5B6480"/>
          </a:solidFill>
          <a:ln w="9525">
            <a:solidFill>
              <a:srgbClr val="5B6480"/>
            </a:solidFill>
            <a:prstDash val="solid"/>
          </a:ln>
        </p:spPr>
      </p:sp>
      <p:pic>
        <p:nvPicPr>
          <p:cNvPr id="6" name="Image 0" descr="preencoded.png">    </p:cNvPr>
          <p:cNvPicPr>
            <a:picLocks noChangeAspect="1"/>
          </p:cNvPicPr>
          <p:nvPr/>
        </p:nvPicPr>
        <p:blipFill>
          <a:blip r:embed="rId1"/>
          <a:stretch>
            <a:fillRect/>
          </a:stretch>
        </p:blipFill>
        <p:spPr>
          <a:xfrm>
            <a:off x="1057046" y="2520086"/>
            <a:ext cx="263347" cy="263347"/>
          </a:xfrm>
          <a:prstGeom prst="rect">
            <a:avLst/>
          </a:prstGeom>
        </p:spPr>
      </p:pic>
      <p:sp>
        <p:nvSpPr>
          <p:cNvPr id="7" name="Text 4"/>
          <p:cNvSpPr/>
          <p:nvPr/>
        </p:nvSpPr>
        <p:spPr>
          <a:xfrm>
            <a:off x="1828800" y="2167128"/>
            <a:ext cx="3840480" cy="320040"/>
          </a:xfrm>
          <a:prstGeom prst="rect">
            <a:avLst/>
          </a:prstGeom>
          <a:noFill/>
          <a:ln/>
        </p:spPr>
        <p:txBody>
          <a:bodyPr wrap="square" lIns="0" tIns="0" rIns="0" bIns="0" rtlCol="0" anchor="ctr"/>
          <a:lstStyle/>
          <a:p>
            <a:pPr indent="0" marL="0">
              <a:buNone/>
            </a:pPr>
            <a:r>
              <a:rPr lang="en-US" sz="1200" b="1" dirty="0">
                <a:solidFill>
                  <a:srgbClr val="9AA4C0"/>
                </a:solidFill>
                <a:latin typeface="Yu Gothic" pitchFamily="34" charset="0"/>
                <a:ea typeface="Yu Gothic" pitchFamily="34" charset="-122"/>
                <a:cs typeface="Yu Gothic" pitchFamily="34" charset="-120"/>
              </a:rPr>
              <a:t>本人に聞くと</a:t>
            </a:r>
            <a:endParaRPr lang="en-US" sz="1200" dirty="0"/>
          </a:p>
        </p:txBody>
      </p:sp>
      <p:sp>
        <p:nvSpPr>
          <p:cNvPr id="8" name="Text 5"/>
          <p:cNvSpPr/>
          <p:nvPr/>
        </p:nvSpPr>
        <p:spPr>
          <a:xfrm>
            <a:off x="1828800" y="2514600"/>
            <a:ext cx="3840480" cy="502920"/>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「はい、大丈夫です」</a:t>
            </a:r>
            <a:endParaRPr lang="en-US" sz="1700" dirty="0"/>
          </a:p>
        </p:txBody>
      </p:sp>
      <p:sp>
        <p:nvSpPr>
          <p:cNvPr id="9" name="Text 6"/>
          <p:cNvSpPr/>
          <p:nvPr/>
        </p:nvSpPr>
        <p:spPr>
          <a:xfrm>
            <a:off x="5897880" y="1965960"/>
            <a:ext cx="868680" cy="13716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a:t>
            </a:r>
            <a:endParaRPr lang="en-US" sz="2600" dirty="0"/>
          </a:p>
        </p:txBody>
      </p:sp>
      <p:sp>
        <p:nvSpPr>
          <p:cNvPr id="10" name="Shape 7"/>
          <p:cNvSpPr/>
          <p:nvPr/>
        </p:nvSpPr>
        <p:spPr>
          <a:xfrm>
            <a:off x="6766560" y="1965960"/>
            <a:ext cx="4873752" cy="1371600"/>
          </a:xfrm>
          <a:prstGeom prst="roundRect">
            <a:avLst>
              <a:gd name="adj" fmla="val 8000"/>
            </a:avLst>
          </a:prstGeom>
          <a:solidFill>
            <a:srgbClr val="1C2C4A"/>
          </a:solidFill>
          <a:ln/>
          <a:effectLst>
            <a:outerShdw sx="100000" sy="100000" kx="0" ky="0" algn="bl" rotWithShape="0" blurRad="101600" dist="38100" dir="5400000">
              <a:srgbClr val="000000">
                <a:alpha val="35000"/>
              </a:srgbClr>
            </a:outerShdw>
          </a:effectLst>
        </p:spPr>
      </p:sp>
      <p:sp>
        <p:nvSpPr>
          <p:cNvPr id="11" name="Shape 8"/>
          <p:cNvSpPr/>
          <p:nvPr/>
        </p:nvSpPr>
        <p:spPr>
          <a:xfrm>
            <a:off x="7132320" y="2377440"/>
            <a:ext cx="548640" cy="548640"/>
          </a:xfrm>
          <a:prstGeom prst="ellipse">
            <a:avLst/>
          </a:prstGeom>
          <a:solidFill>
            <a:srgbClr val="E8A33D"/>
          </a:solidFill>
          <a:ln w="9525">
            <a:solidFill>
              <a:srgbClr val="E8A33D"/>
            </a:solidFill>
            <a:prstDash val="solid"/>
          </a:ln>
        </p:spPr>
      </p:sp>
      <p:pic>
        <p:nvPicPr>
          <p:cNvPr id="12" name="Image 1" descr="preencoded.png">    </p:cNvPr>
          <p:cNvPicPr>
            <a:picLocks noChangeAspect="1"/>
          </p:cNvPicPr>
          <p:nvPr/>
        </p:nvPicPr>
        <p:blipFill>
          <a:blip r:embed="rId2"/>
          <a:stretch>
            <a:fillRect/>
          </a:stretch>
        </p:blipFill>
        <p:spPr>
          <a:xfrm>
            <a:off x="7274966" y="2520086"/>
            <a:ext cx="263347" cy="263347"/>
          </a:xfrm>
          <a:prstGeom prst="rect">
            <a:avLst/>
          </a:prstGeom>
        </p:spPr>
      </p:pic>
      <p:sp>
        <p:nvSpPr>
          <p:cNvPr id="13" name="Text 9"/>
          <p:cNvSpPr/>
          <p:nvPr/>
        </p:nvSpPr>
        <p:spPr>
          <a:xfrm>
            <a:off x="8046720" y="2167128"/>
            <a:ext cx="3383280" cy="320040"/>
          </a:xfrm>
          <a:prstGeom prst="rect">
            <a:avLst/>
          </a:prstGeom>
          <a:noFill/>
          <a:ln/>
        </p:spPr>
        <p:txBody>
          <a:bodyPr wrap="square" lIns="0" tIns="0" rIns="0" bIns="0" rtlCol="0" anchor="ctr"/>
          <a:lstStyle/>
          <a:p>
            <a:pPr indent="0" marL="0">
              <a:buNone/>
            </a:pPr>
            <a:r>
              <a:rPr lang="en-US" sz="1200" b="1" dirty="0">
                <a:solidFill>
                  <a:srgbClr val="F4C878"/>
                </a:solidFill>
                <a:latin typeface="Yu Gothic" pitchFamily="34" charset="0"/>
                <a:ea typeface="Yu Gothic" pitchFamily="34" charset="-122"/>
                <a:cs typeface="Yu Gothic" pitchFamily="34" charset="-120"/>
              </a:rPr>
              <a:t>実際の行動は</a:t>
            </a:r>
            <a:endParaRPr lang="en-US" sz="1200" dirty="0"/>
          </a:p>
        </p:txBody>
      </p:sp>
      <p:sp>
        <p:nvSpPr>
          <p:cNvPr id="14" name="Text 10"/>
          <p:cNvSpPr/>
          <p:nvPr/>
        </p:nvSpPr>
        <p:spPr>
          <a:xfrm>
            <a:off x="8046720" y="2514600"/>
            <a:ext cx="3383280" cy="68580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毎回同じ一人に確認し、</a:t>
            </a:r>
            <a:endParaRPr lang="en-US" sz="1350" dirty="0"/>
          </a:p>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自分では判断しない</a:t>
            </a:r>
            <a:endParaRPr lang="en-US" sz="1350" dirty="0"/>
          </a:p>
        </p:txBody>
      </p:sp>
      <p:sp>
        <p:nvSpPr>
          <p:cNvPr id="15" name="Text 11"/>
          <p:cNvSpPr/>
          <p:nvPr/>
        </p:nvSpPr>
        <p:spPr>
          <a:xfrm>
            <a:off x="548640" y="3611880"/>
            <a:ext cx="11091672" cy="365760"/>
          </a:xfrm>
          <a:prstGeom prst="rect">
            <a:avLst/>
          </a:prstGeom>
          <a:noFill/>
          <a:ln/>
        </p:spPr>
        <p:txBody>
          <a:bodyPr wrap="square" lIns="0" tIns="0" rIns="0" bIns="0" rtlCol="0" anchor="ctr"/>
          <a:lstStyle/>
          <a:p>
            <a:pPr indent="0" marL="0">
              <a:buNone/>
            </a:pPr>
            <a:r>
              <a:rPr lang="en-US" sz="1300" b="1" dirty="0">
                <a:solidFill>
                  <a:srgbClr val="AFC9EE"/>
                </a:solidFill>
                <a:latin typeface="Yu Gothic" pitchFamily="34" charset="0"/>
                <a:ea typeface="Yu Gothic" pitchFamily="34" charset="-122"/>
                <a:cs typeface="Yu Gothic" pitchFamily="34" charset="-120"/>
              </a:rPr>
              <a:t>採点で実際に拾っている行動シグナル</a:t>
            </a:r>
            <a:endParaRPr lang="en-US" sz="1300" dirty="0"/>
          </a:p>
        </p:txBody>
      </p:sp>
      <p:sp>
        <p:nvSpPr>
          <p:cNvPr id="16" name="Shape 12"/>
          <p:cNvSpPr/>
          <p:nvPr/>
        </p:nvSpPr>
        <p:spPr>
          <a:xfrm>
            <a:off x="548640"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7" name="Shape 13"/>
          <p:cNvSpPr/>
          <p:nvPr/>
        </p:nvSpPr>
        <p:spPr>
          <a:xfrm>
            <a:off x="777240" y="4297680"/>
            <a:ext cx="274320" cy="274320"/>
          </a:xfrm>
          <a:prstGeom prst="ellipse">
            <a:avLst/>
          </a:prstGeom>
          <a:solidFill>
            <a:srgbClr val="E8A33D"/>
          </a:solidFill>
          <a:ln/>
        </p:spPr>
      </p:sp>
      <p:sp>
        <p:nvSpPr>
          <p:cNvPr id="18" name="Text 14"/>
          <p:cNvSpPr/>
          <p:nvPr/>
        </p:nvSpPr>
        <p:spPr>
          <a:xfrm>
            <a:off x="777240"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1</a:t>
            </a:r>
            <a:endParaRPr lang="en-US" sz="1200" dirty="0"/>
          </a:p>
        </p:txBody>
      </p:sp>
      <p:sp>
        <p:nvSpPr>
          <p:cNvPr id="19" name="Text 15"/>
          <p:cNvSpPr/>
          <p:nvPr/>
        </p:nvSpPr>
        <p:spPr>
          <a:xfrm>
            <a:off x="777240"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同じ相手にばかり相談・確認していないか</a:t>
            </a:r>
            <a:endParaRPr lang="en-US" sz="1150" dirty="0"/>
          </a:p>
        </p:txBody>
      </p:sp>
      <p:sp>
        <p:nvSpPr>
          <p:cNvPr id="20" name="Shape 16"/>
          <p:cNvSpPr/>
          <p:nvPr/>
        </p:nvSpPr>
        <p:spPr>
          <a:xfrm>
            <a:off x="3367278"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3595878" y="4297680"/>
            <a:ext cx="274320" cy="274320"/>
          </a:xfrm>
          <a:prstGeom prst="ellipse">
            <a:avLst/>
          </a:prstGeom>
          <a:solidFill>
            <a:srgbClr val="E8A33D"/>
          </a:solidFill>
          <a:ln/>
        </p:spPr>
      </p:sp>
      <p:sp>
        <p:nvSpPr>
          <p:cNvPr id="22" name="Text 18"/>
          <p:cNvSpPr/>
          <p:nvPr/>
        </p:nvSpPr>
        <p:spPr>
          <a:xfrm>
            <a:off x="3595878"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2</a:t>
            </a:r>
            <a:endParaRPr lang="en-US" sz="1200" dirty="0"/>
          </a:p>
        </p:txBody>
      </p:sp>
      <p:sp>
        <p:nvSpPr>
          <p:cNvPr id="23" name="Text 19"/>
          <p:cNvSpPr/>
          <p:nvPr/>
        </p:nvSpPr>
        <p:spPr>
          <a:xfrm>
            <a:off x="3595878"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自分で判断せず許可を求めていないか</a:t>
            </a:r>
            <a:endParaRPr lang="en-US" sz="1150" dirty="0"/>
          </a:p>
        </p:txBody>
      </p:sp>
      <p:sp>
        <p:nvSpPr>
          <p:cNvPr id="24" name="Shape 20"/>
          <p:cNvSpPr/>
          <p:nvPr/>
        </p:nvSpPr>
        <p:spPr>
          <a:xfrm>
            <a:off x="6185916"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5" name="Shape 21"/>
          <p:cNvSpPr/>
          <p:nvPr/>
        </p:nvSpPr>
        <p:spPr>
          <a:xfrm>
            <a:off x="6414516" y="4297680"/>
            <a:ext cx="274320" cy="274320"/>
          </a:xfrm>
          <a:prstGeom prst="ellipse">
            <a:avLst/>
          </a:prstGeom>
          <a:solidFill>
            <a:srgbClr val="E8A33D"/>
          </a:solidFill>
          <a:ln/>
        </p:spPr>
      </p:sp>
      <p:sp>
        <p:nvSpPr>
          <p:cNvPr id="26" name="Text 22"/>
          <p:cNvSpPr/>
          <p:nvPr/>
        </p:nvSpPr>
        <p:spPr>
          <a:xfrm>
            <a:off x="6414516"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3</a:t>
            </a:r>
            <a:endParaRPr lang="en-US" sz="1200" dirty="0"/>
          </a:p>
        </p:txBody>
      </p:sp>
      <p:sp>
        <p:nvSpPr>
          <p:cNvPr id="27" name="Text 23"/>
          <p:cNvSpPr/>
          <p:nvPr/>
        </p:nvSpPr>
        <p:spPr>
          <a:xfrm>
            <a:off x="6414516"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その人が不在のとき行動が止まらないか</a:t>
            </a:r>
            <a:endParaRPr lang="en-US" sz="1150" dirty="0"/>
          </a:p>
        </p:txBody>
      </p:sp>
      <p:sp>
        <p:nvSpPr>
          <p:cNvPr id="28" name="Shape 24"/>
          <p:cNvSpPr/>
          <p:nvPr/>
        </p:nvSpPr>
        <p:spPr>
          <a:xfrm>
            <a:off x="9004554"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9" name="Shape 25"/>
          <p:cNvSpPr/>
          <p:nvPr/>
        </p:nvSpPr>
        <p:spPr>
          <a:xfrm>
            <a:off x="9233154" y="4297680"/>
            <a:ext cx="274320" cy="274320"/>
          </a:xfrm>
          <a:prstGeom prst="ellipse">
            <a:avLst/>
          </a:prstGeom>
          <a:solidFill>
            <a:srgbClr val="E8A33D"/>
          </a:solidFill>
          <a:ln/>
        </p:spPr>
      </p:sp>
      <p:sp>
        <p:nvSpPr>
          <p:cNvPr id="30" name="Text 26"/>
          <p:cNvSpPr/>
          <p:nvPr/>
        </p:nvSpPr>
        <p:spPr>
          <a:xfrm>
            <a:off x="9233154"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4</a:t>
            </a:r>
            <a:endParaRPr lang="en-US" sz="1200" dirty="0"/>
          </a:p>
        </p:txBody>
      </p:sp>
      <p:sp>
        <p:nvSpPr>
          <p:cNvPr id="31" name="Text 27"/>
          <p:cNvSpPr/>
          <p:nvPr/>
        </p:nvSpPr>
        <p:spPr>
          <a:xfrm>
            <a:off x="9233154"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「大丈夫」の裏で不満がにじんでいないか</a:t>
            </a:r>
            <a:endParaRPr lang="en-US" sz="1150" dirty="0"/>
          </a:p>
        </p:txBody>
      </p:sp>
      <p:sp>
        <p:nvSpPr>
          <p:cNvPr id="32" name="Shape 28"/>
          <p:cNvSpPr/>
          <p:nvPr/>
        </p:nvSpPr>
        <p:spPr>
          <a:xfrm>
            <a:off x="548640" y="553212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33" name="Text 29"/>
          <p:cNvSpPr/>
          <p:nvPr/>
        </p:nvSpPr>
        <p:spPr>
          <a:xfrm>
            <a:off x="868680" y="5532120"/>
            <a:ext cx="10515600" cy="777240"/>
          </a:xfrm>
          <a:prstGeom prst="rect">
            <a:avLst/>
          </a:prstGeom>
          <a:noFill/>
          <a:ln/>
        </p:spPr>
        <p:txBody>
          <a:bodyPr wrap="square" lIns="0" tIns="0" rIns="0" bIns="0" rtlCol="0" anchor="ctr"/>
          <a:lstStyle/>
          <a:p>
            <a:pPr indent="0" marL="0">
              <a:buNone/>
            </a:pPr>
            <a:r>
              <a:rPr lang="en-US" sz="1350" dirty="0">
                <a:solidFill>
                  <a:srgbClr val="FFFFFF"/>
                </a:solidFill>
                <a:latin typeface="Yu Gothic" pitchFamily="34" charset="0"/>
                <a:ea typeface="Yu Gothic" pitchFamily="34" charset="-122"/>
                <a:cs typeface="Yu Gothic" pitchFamily="34" charset="-120"/>
              </a:rPr>
              <a:t>測っているのは「安心だと言ったか」ではなく、「安心している人がとるはずの行動を実際にとれていたか」。</a:t>
            </a:r>
            <a:endParaRPr lang="en-US" sz="1350" dirty="0"/>
          </a:p>
        </p:txBody>
      </p:sp>
      <p:sp>
        <p:nvSpPr>
          <p:cNvPr id="34" name="Text 3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5" name="Text 3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本番実行：A / B / C スコア比較</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各条件5回ずつ計15回実行した平均値（data/scores_*_aggregate.json）</a:t>
            </a:r>
            <a:endParaRPr lang="en-US" sz="1400" dirty="0"/>
          </a:p>
        </p:txBody>
      </p:sp>
      <p:graphicFrame>
        <p:nvGraphicFramePr>
          <p:cNvPr id="4" name="Chart 0" descr=""/>
          <p:cNvGraphicFramePr/>
          <p:nvPr/>
        </p:nvGraphicFramePr>
        <p:xfrm>
          <a:off x="548640" y="1600200"/>
          <a:ext cx="649224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360920" y="173736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6" name="Text 3"/>
          <p:cNvSpPr/>
          <p:nvPr/>
        </p:nvSpPr>
        <p:spPr>
          <a:xfrm>
            <a:off x="7543800" y="1847088"/>
            <a:ext cx="1600200" cy="9144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 0.0</a:t>
            </a:r>
            <a:endParaRPr lang="en-US" sz="2600" dirty="0"/>
          </a:p>
        </p:txBody>
      </p:sp>
      <p:sp>
        <p:nvSpPr>
          <p:cNvPr id="7" name="Text 4"/>
          <p:cNvSpPr/>
          <p:nvPr/>
        </p:nvSpPr>
        <p:spPr>
          <a:xfrm>
            <a:off x="9235440" y="188366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条件Bの標準偏差（3指標）</a:t>
            </a:r>
            <a:endParaRPr lang="en-US" sz="1200" dirty="0"/>
          </a:p>
        </p:txBody>
      </p:sp>
      <p:sp>
        <p:nvSpPr>
          <p:cNvPr id="8" name="Text 5"/>
          <p:cNvSpPr/>
          <p:nvPr/>
        </p:nvSpPr>
        <p:spPr>
          <a:xfrm>
            <a:off x="9235440" y="228600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負荷・自律度・依存度は5回とも同じ点数だった</a:t>
            </a:r>
            <a:endParaRPr lang="en-US" sz="1000" dirty="0"/>
          </a:p>
        </p:txBody>
      </p:sp>
      <p:sp>
        <p:nvSpPr>
          <p:cNvPr id="9" name="Shape 6"/>
          <p:cNvSpPr/>
          <p:nvPr/>
        </p:nvSpPr>
        <p:spPr>
          <a:xfrm>
            <a:off x="7360920" y="306324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0" name="Text 7"/>
          <p:cNvSpPr/>
          <p:nvPr/>
        </p:nvSpPr>
        <p:spPr>
          <a:xfrm>
            <a:off x="7543800" y="3172968"/>
            <a:ext cx="16002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Yu Gothic" pitchFamily="34" charset="0"/>
                <a:ea typeface="Yu Gothic" pitchFamily="34" charset="-122"/>
                <a:cs typeface="Yu Gothic" pitchFamily="34" charset="-120"/>
              </a:rPr>
              <a:t>± 25.9</a:t>
            </a:r>
            <a:endParaRPr lang="en-US" sz="2600" dirty="0"/>
          </a:p>
        </p:txBody>
      </p:sp>
      <p:sp>
        <p:nvSpPr>
          <p:cNvPr id="11" name="Text 8"/>
          <p:cNvSpPr/>
          <p:nvPr/>
        </p:nvSpPr>
        <p:spPr>
          <a:xfrm>
            <a:off x="9235440" y="320954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条件Cの標準偏差</a:t>
            </a:r>
            <a:endParaRPr lang="en-US" sz="1200" dirty="0"/>
          </a:p>
        </p:txBody>
      </p:sp>
      <p:sp>
        <p:nvSpPr>
          <p:cNvPr id="12" name="Text 9"/>
          <p:cNvSpPr/>
          <p:nvPr/>
        </p:nvSpPr>
        <p:spPr>
          <a:xfrm>
            <a:off x="9235440" y="361188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同じルールでも結果が大きく割れた</a:t>
            </a:r>
            <a:endParaRPr lang="en-US" sz="1000" dirty="0"/>
          </a:p>
        </p:txBody>
      </p:sp>
      <p:sp>
        <p:nvSpPr>
          <p:cNvPr id="13" name="Shape 10"/>
          <p:cNvSpPr/>
          <p:nvPr/>
        </p:nvSpPr>
        <p:spPr>
          <a:xfrm>
            <a:off x="7360920" y="438912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4" name="Text 11"/>
          <p:cNvSpPr/>
          <p:nvPr/>
        </p:nvSpPr>
        <p:spPr>
          <a:xfrm>
            <a:off x="7543800" y="4498848"/>
            <a:ext cx="1600200" cy="914400"/>
          </a:xfrm>
          <a:prstGeom prst="rect">
            <a:avLst/>
          </a:prstGeom>
          <a:noFill/>
          <a:ln/>
        </p:spPr>
        <p:txBody>
          <a:bodyPr wrap="square" lIns="0" tIns="0" rIns="0" bIns="0" rtlCol="0" anchor="ctr"/>
          <a:lstStyle/>
          <a:p>
            <a:pPr algn="ctr" indent="0" marL="0">
              <a:buNone/>
            </a:pPr>
            <a:r>
              <a:rPr lang="en-US" sz="2600" b="1" dirty="0">
                <a:solidFill>
                  <a:srgbClr val="1BAF7A"/>
                </a:solidFill>
                <a:latin typeface="Yu Gothic" pitchFamily="34" charset="0"/>
                <a:ea typeface="Yu Gothic" pitchFamily="34" charset="-122"/>
                <a:cs typeface="Yu Gothic" pitchFamily="34" charset="-120"/>
              </a:rPr>
              <a:t>0/5</a:t>
            </a:r>
            <a:endParaRPr lang="en-US" sz="2600" dirty="0"/>
          </a:p>
        </p:txBody>
      </p:sp>
      <p:sp>
        <p:nvSpPr>
          <p:cNvPr id="15" name="Text 12"/>
          <p:cNvSpPr/>
          <p:nvPr/>
        </p:nvSpPr>
        <p:spPr>
          <a:xfrm>
            <a:off x="9235440" y="453542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範囲の重なり</a:t>
            </a:r>
            <a:endParaRPr lang="en-US" sz="1200" dirty="0"/>
          </a:p>
        </p:txBody>
      </p:sp>
      <p:sp>
        <p:nvSpPr>
          <p:cNvPr id="16" name="Text 13"/>
          <p:cNvSpPr/>
          <p:nvPr/>
        </p:nvSpPr>
        <p:spPr>
          <a:xfrm>
            <a:off x="9235440" y="493776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Cの最悪回でもA/Bの最良回より良い（4指標）</a:t>
            </a:r>
            <a:endParaRPr lang="en-US" sz="1000" dirty="0"/>
          </a:p>
        </p:txBody>
      </p:sp>
      <p:sp>
        <p:nvSpPr>
          <p:cNvPr id="17"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8"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同じルールなのに、村が2つに分かれた</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条件Cを5回実行。ガバナンスも人格も完全に同一なのに、結果は2つの状態へ分岐した。</a:t>
            </a:r>
            <a:endParaRPr lang="en-US" sz="1400" dirty="0"/>
          </a:p>
        </p:txBody>
      </p:sp>
      <p:sp>
        <p:nvSpPr>
          <p:cNvPr id="4" name="Shape 2"/>
          <p:cNvSpPr/>
          <p:nvPr/>
        </p:nvSpPr>
        <p:spPr>
          <a:xfrm>
            <a:off x="548640" y="1783080"/>
            <a:ext cx="6492240" cy="3840480"/>
          </a:xfrm>
          <a:prstGeom prst="roundRect">
            <a:avLst>
              <a:gd name="adj" fmla="val 2857"/>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1280160" y="4937760"/>
            <a:ext cx="5349240" cy="0"/>
          </a:xfrm>
          <a:prstGeom prst="line">
            <a:avLst/>
          </a:prstGeom>
          <a:noFill/>
          <a:ln w="9525">
            <a:solidFill>
              <a:srgbClr val="2A3752"/>
            </a:solidFill>
            <a:prstDash val="solid"/>
          </a:ln>
        </p:spPr>
      </p:sp>
      <p:sp>
        <p:nvSpPr>
          <p:cNvPr id="6" name="Text 4"/>
          <p:cNvSpPr/>
          <p:nvPr/>
        </p:nvSpPr>
        <p:spPr>
          <a:xfrm>
            <a:off x="731520" y="48188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7" name="Shape 5"/>
          <p:cNvSpPr/>
          <p:nvPr/>
        </p:nvSpPr>
        <p:spPr>
          <a:xfrm>
            <a:off x="1280160" y="4206240"/>
            <a:ext cx="5349240" cy="0"/>
          </a:xfrm>
          <a:prstGeom prst="line">
            <a:avLst/>
          </a:prstGeom>
          <a:noFill/>
          <a:ln w="9525">
            <a:solidFill>
              <a:srgbClr val="2A3752"/>
            </a:solidFill>
            <a:prstDash val="solid"/>
          </a:ln>
        </p:spPr>
      </p:sp>
      <p:sp>
        <p:nvSpPr>
          <p:cNvPr id="8" name="Text 6"/>
          <p:cNvSpPr/>
          <p:nvPr/>
        </p:nvSpPr>
        <p:spPr>
          <a:xfrm>
            <a:off x="731520" y="40873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9" name="Shape 7"/>
          <p:cNvSpPr/>
          <p:nvPr/>
        </p:nvSpPr>
        <p:spPr>
          <a:xfrm>
            <a:off x="1280160" y="3474720"/>
            <a:ext cx="5349240" cy="0"/>
          </a:xfrm>
          <a:prstGeom prst="line">
            <a:avLst/>
          </a:prstGeom>
          <a:noFill/>
          <a:ln w="9525">
            <a:solidFill>
              <a:srgbClr val="2A3752"/>
            </a:solidFill>
            <a:prstDash val="solid"/>
          </a:ln>
        </p:spPr>
      </p:sp>
      <p:sp>
        <p:nvSpPr>
          <p:cNvPr id="10" name="Text 8"/>
          <p:cNvSpPr/>
          <p:nvPr/>
        </p:nvSpPr>
        <p:spPr>
          <a:xfrm>
            <a:off x="731520" y="3355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1" name="Shape 9"/>
          <p:cNvSpPr/>
          <p:nvPr/>
        </p:nvSpPr>
        <p:spPr>
          <a:xfrm>
            <a:off x="1280160" y="2743200"/>
            <a:ext cx="5349240" cy="0"/>
          </a:xfrm>
          <a:prstGeom prst="line">
            <a:avLst/>
          </a:prstGeom>
          <a:noFill/>
          <a:ln w="9525">
            <a:solidFill>
              <a:srgbClr val="2A3752"/>
            </a:solidFill>
            <a:prstDash val="solid"/>
          </a:ln>
        </p:spPr>
      </p:sp>
      <p:sp>
        <p:nvSpPr>
          <p:cNvPr id="12" name="Text 10"/>
          <p:cNvSpPr/>
          <p:nvPr/>
        </p:nvSpPr>
        <p:spPr>
          <a:xfrm>
            <a:off x="731520" y="26243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3" name="Shape 11"/>
          <p:cNvSpPr/>
          <p:nvPr/>
        </p:nvSpPr>
        <p:spPr>
          <a:xfrm>
            <a:off x="1280160" y="2011680"/>
            <a:ext cx="5349240" cy="0"/>
          </a:xfrm>
          <a:prstGeom prst="line">
            <a:avLst/>
          </a:prstGeom>
          <a:noFill/>
          <a:ln w="9525">
            <a:solidFill>
              <a:srgbClr val="2A3752"/>
            </a:solidFill>
            <a:prstDash val="solid"/>
          </a:ln>
        </p:spPr>
      </p:sp>
      <p:sp>
        <p:nvSpPr>
          <p:cNvPr id="14" name="Text 12"/>
          <p:cNvSpPr/>
          <p:nvPr/>
        </p:nvSpPr>
        <p:spPr>
          <a:xfrm>
            <a:off x="731520" y="18928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5" name="Shape 13"/>
          <p:cNvSpPr/>
          <p:nvPr/>
        </p:nvSpPr>
        <p:spPr>
          <a:xfrm>
            <a:off x="1892808" y="2743200"/>
            <a:ext cx="0" cy="1170432"/>
          </a:xfrm>
          <a:prstGeom prst="line">
            <a:avLst/>
          </a:prstGeom>
          <a:noFill/>
          <a:ln w="12700">
            <a:solidFill>
              <a:srgbClr val="E2665A">
                <a:alpha val="45000"/>
              </a:srgbClr>
            </a:solidFill>
            <a:prstDash val="solid"/>
          </a:ln>
        </p:spPr>
      </p:sp>
      <p:sp>
        <p:nvSpPr>
          <p:cNvPr id="16" name="Shape 14"/>
          <p:cNvSpPr/>
          <p:nvPr/>
        </p:nvSpPr>
        <p:spPr>
          <a:xfrm>
            <a:off x="1792224" y="2642616"/>
            <a:ext cx="201168" cy="201168"/>
          </a:xfrm>
          <a:prstGeom prst="ellipse">
            <a:avLst/>
          </a:prstGeom>
          <a:solidFill>
            <a:srgbClr val="E2665A"/>
          </a:solidFill>
          <a:ln/>
        </p:spPr>
      </p:sp>
      <p:sp>
        <p:nvSpPr>
          <p:cNvPr id="17" name="Shape 15"/>
          <p:cNvSpPr/>
          <p:nvPr/>
        </p:nvSpPr>
        <p:spPr>
          <a:xfrm>
            <a:off x="1792224" y="3813048"/>
            <a:ext cx="201168" cy="201168"/>
          </a:xfrm>
          <a:prstGeom prst="ellipse">
            <a:avLst/>
          </a:prstGeom>
          <a:solidFill>
            <a:srgbClr val="1BAF7A"/>
          </a:solidFill>
          <a:ln/>
        </p:spPr>
      </p:sp>
      <p:sp>
        <p:nvSpPr>
          <p:cNvPr id="18" name="Text 16"/>
          <p:cNvSpPr/>
          <p:nvPr/>
        </p:nvSpPr>
        <p:spPr>
          <a:xfrm>
            <a:off x="1481328"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1回目</a:t>
            </a:r>
            <a:endParaRPr lang="en-US" sz="1000" dirty="0"/>
          </a:p>
        </p:txBody>
      </p:sp>
      <p:sp>
        <p:nvSpPr>
          <p:cNvPr id="19" name="Text 17"/>
          <p:cNvSpPr/>
          <p:nvPr/>
        </p:nvSpPr>
        <p:spPr>
          <a:xfrm>
            <a:off x="1481328"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20" name="Shape 18"/>
          <p:cNvSpPr/>
          <p:nvPr/>
        </p:nvSpPr>
        <p:spPr>
          <a:xfrm>
            <a:off x="2935224" y="3035808"/>
            <a:ext cx="0" cy="585216"/>
          </a:xfrm>
          <a:prstGeom prst="line">
            <a:avLst/>
          </a:prstGeom>
          <a:noFill/>
          <a:ln w="12700">
            <a:solidFill>
              <a:srgbClr val="E2665A">
                <a:alpha val="45000"/>
              </a:srgbClr>
            </a:solidFill>
            <a:prstDash val="solid"/>
          </a:ln>
        </p:spPr>
      </p:sp>
      <p:sp>
        <p:nvSpPr>
          <p:cNvPr id="21" name="Shape 19"/>
          <p:cNvSpPr/>
          <p:nvPr/>
        </p:nvSpPr>
        <p:spPr>
          <a:xfrm>
            <a:off x="2834640" y="2935224"/>
            <a:ext cx="201168" cy="201168"/>
          </a:xfrm>
          <a:prstGeom prst="ellipse">
            <a:avLst/>
          </a:prstGeom>
          <a:solidFill>
            <a:srgbClr val="E2665A"/>
          </a:solidFill>
          <a:ln/>
        </p:spPr>
      </p:sp>
      <p:sp>
        <p:nvSpPr>
          <p:cNvPr id="22" name="Shape 20"/>
          <p:cNvSpPr/>
          <p:nvPr/>
        </p:nvSpPr>
        <p:spPr>
          <a:xfrm>
            <a:off x="2834640" y="3520440"/>
            <a:ext cx="201168" cy="201168"/>
          </a:xfrm>
          <a:prstGeom prst="ellipse">
            <a:avLst/>
          </a:prstGeom>
          <a:solidFill>
            <a:srgbClr val="1BAF7A"/>
          </a:solidFill>
          <a:ln/>
        </p:spPr>
      </p:sp>
      <p:sp>
        <p:nvSpPr>
          <p:cNvPr id="23" name="Text 21"/>
          <p:cNvSpPr/>
          <p:nvPr/>
        </p:nvSpPr>
        <p:spPr>
          <a:xfrm>
            <a:off x="2523744" y="5047488"/>
            <a:ext cx="822960" cy="237744"/>
          </a:xfrm>
          <a:prstGeom prst="rect">
            <a:avLst/>
          </a:prstGeom>
          <a:noFill/>
          <a:ln/>
        </p:spPr>
        <p:txBody>
          <a:bodyPr wrap="square" lIns="0" tIns="0" rIns="0" bIns="0" rtlCol="0" anchor="ctr"/>
          <a:lstStyle/>
          <a:p>
            <a:pPr algn="ctr" indent="0" marL="0">
              <a:buNone/>
            </a:pPr>
            <a:r>
              <a:rPr lang="en-US" sz="1000" dirty="0">
                <a:solidFill>
                  <a:srgbClr val="E8A33D"/>
                </a:solidFill>
                <a:latin typeface="Yu Gothic" pitchFamily="34" charset="0"/>
                <a:ea typeface="Yu Gothic" pitchFamily="34" charset="-122"/>
                <a:cs typeface="Yu Gothic" pitchFamily="34" charset="-120"/>
              </a:rPr>
              <a:t>2回目</a:t>
            </a:r>
            <a:endParaRPr lang="en-US" sz="1000" dirty="0"/>
          </a:p>
        </p:txBody>
      </p:sp>
      <p:sp>
        <p:nvSpPr>
          <p:cNvPr id="24" name="Text 22"/>
          <p:cNvSpPr/>
          <p:nvPr/>
        </p:nvSpPr>
        <p:spPr>
          <a:xfrm>
            <a:off x="2523744"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中間</a:t>
            </a:r>
            <a:endParaRPr lang="en-US" sz="900" dirty="0"/>
          </a:p>
        </p:txBody>
      </p:sp>
      <p:sp>
        <p:nvSpPr>
          <p:cNvPr id="25" name="Shape 23"/>
          <p:cNvSpPr/>
          <p:nvPr/>
        </p:nvSpPr>
        <p:spPr>
          <a:xfrm>
            <a:off x="3977640" y="2743200"/>
            <a:ext cx="0" cy="1463040"/>
          </a:xfrm>
          <a:prstGeom prst="line">
            <a:avLst/>
          </a:prstGeom>
          <a:noFill/>
          <a:ln w="12700">
            <a:solidFill>
              <a:srgbClr val="1BAF7A">
                <a:alpha val="45000"/>
              </a:srgbClr>
            </a:solidFill>
            <a:prstDash val="solid"/>
          </a:ln>
        </p:spPr>
      </p:sp>
      <p:sp>
        <p:nvSpPr>
          <p:cNvPr id="26" name="Shape 24"/>
          <p:cNvSpPr/>
          <p:nvPr/>
        </p:nvSpPr>
        <p:spPr>
          <a:xfrm>
            <a:off x="3877056" y="4105656"/>
            <a:ext cx="201168" cy="201168"/>
          </a:xfrm>
          <a:prstGeom prst="ellipse">
            <a:avLst/>
          </a:prstGeom>
          <a:solidFill>
            <a:srgbClr val="E2665A"/>
          </a:solidFill>
          <a:ln/>
        </p:spPr>
      </p:sp>
      <p:sp>
        <p:nvSpPr>
          <p:cNvPr id="27" name="Shape 25"/>
          <p:cNvSpPr/>
          <p:nvPr/>
        </p:nvSpPr>
        <p:spPr>
          <a:xfrm>
            <a:off x="3877056" y="2642616"/>
            <a:ext cx="201168" cy="201168"/>
          </a:xfrm>
          <a:prstGeom prst="ellipse">
            <a:avLst/>
          </a:prstGeom>
          <a:solidFill>
            <a:srgbClr val="1BAF7A"/>
          </a:solidFill>
          <a:ln/>
        </p:spPr>
      </p:sp>
      <p:sp>
        <p:nvSpPr>
          <p:cNvPr id="28" name="Text 26"/>
          <p:cNvSpPr/>
          <p:nvPr/>
        </p:nvSpPr>
        <p:spPr>
          <a:xfrm>
            <a:off x="3566160"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3回目</a:t>
            </a:r>
            <a:endParaRPr lang="en-US" sz="1000" dirty="0"/>
          </a:p>
        </p:txBody>
      </p:sp>
      <p:sp>
        <p:nvSpPr>
          <p:cNvPr id="29" name="Text 27"/>
          <p:cNvSpPr/>
          <p:nvPr/>
        </p:nvSpPr>
        <p:spPr>
          <a:xfrm>
            <a:off x="3566160"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30" name="Shape 28"/>
          <p:cNvSpPr/>
          <p:nvPr/>
        </p:nvSpPr>
        <p:spPr>
          <a:xfrm>
            <a:off x="5020056" y="2743200"/>
            <a:ext cx="0" cy="1170432"/>
          </a:xfrm>
          <a:prstGeom prst="line">
            <a:avLst/>
          </a:prstGeom>
          <a:noFill/>
          <a:ln w="12700">
            <a:solidFill>
              <a:srgbClr val="E2665A">
                <a:alpha val="45000"/>
              </a:srgbClr>
            </a:solidFill>
            <a:prstDash val="solid"/>
          </a:ln>
        </p:spPr>
      </p:sp>
      <p:sp>
        <p:nvSpPr>
          <p:cNvPr id="31" name="Shape 29"/>
          <p:cNvSpPr/>
          <p:nvPr/>
        </p:nvSpPr>
        <p:spPr>
          <a:xfrm>
            <a:off x="4919472" y="2642616"/>
            <a:ext cx="201168" cy="201168"/>
          </a:xfrm>
          <a:prstGeom prst="ellipse">
            <a:avLst/>
          </a:prstGeom>
          <a:solidFill>
            <a:srgbClr val="E2665A"/>
          </a:solidFill>
          <a:ln/>
        </p:spPr>
      </p:sp>
      <p:sp>
        <p:nvSpPr>
          <p:cNvPr id="32" name="Shape 30"/>
          <p:cNvSpPr/>
          <p:nvPr/>
        </p:nvSpPr>
        <p:spPr>
          <a:xfrm>
            <a:off x="4919472" y="3813048"/>
            <a:ext cx="201168" cy="201168"/>
          </a:xfrm>
          <a:prstGeom prst="ellipse">
            <a:avLst/>
          </a:prstGeom>
          <a:solidFill>
            <a:srgbClr val="1BAF7A"/>
          </a:solidFill>
          <a:ln/>
        </p:spPr>
      </p:sp>
      <p:sp>
        <p:nvSpPr>
          <p:cNvPr id="33" name="Text 31"/>
          <p:cNvSpPr/>
          <p:nvPr/>
        </p:nvSpPr>
        <p:spPr>
          <a:xfrm>
            <a:off x="4608576"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4回目</a:t>
            </a:r>
            <a:endParaRPr lang="en-US" sz="1000" dirty="0"/>
          </a:p>
        </p:txBody>
      </p:sp>
      <p:sp>
        <p:nvSpPr>
          <p:cNvPr id="34" name="Text 32"/>
          <p:cNvSpPr/>
          <p:nvPr/>
        </p:nvSpPr>
        <p:spPr>
          <a:xfrm>
            <a:off x="4608576"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35" name="Shape 33"/>
          <p:cNvSpPr/>
          <p:nvPr/>
        </p:nvSpPr>
        <p:spPr>
          <a:xfrm>
            <a:off x="6062472" y="2743200"/>
            <a:ext cx="0" cy="1463040"/>
          </a:xfrm>
          <a:prstGeom prst="line">
            <a:avLst/>
          </a:prstGeom>
          <a:noFill/>
          <a:ln w="12700">
            <a:solidFill>
              <a:srgbClr val="1BAF7A">
                <a:alpha val="45000"/>
              </a:srgbClr>
            </a:solidFill>
            <a:prstDash val="solid"/>
          </a:ln>
        </p:spPr>
      </p:sp>
      <p:sp>
        <p:nvSpPr>
          <p:cNvPr id="36" name="Shape 34"/>
          <p:cNvSpPr/>
          <p:nvPr/>
        </p:nvSpPr>
        <p:spPr>
          <a:xfrm>
            <a:off x="5961888" y="4105656"/>
            <a:ext cx="201168" cy="201168"/>
          </a:xfrm>
          <a:prstGeom prst="ellipse">
            <a:avLst/>
          </a:prstGeom>
          <a:solidFill>
            <a:srgbClr val="E2665A"/>
          </a:solidFill>
          <a:ln/>
        </p:spPr>
      </p:sp>
      <p:sp>
        <p:nvSpPr>
          <p:cNvPr id="37" name="Shape 35"/>
          <p:cNvSpPr/>
          <p:nvPr/>
        </p:nvSpPr>
        <p:spPr>
          <a:xfrm>
            <a:off x="5961888" y="2642616"/>
            <a:ext cx="201168" cy="201168"/>
          </a:xfrm>
          <a:prstGeom prst="ellipse">
            <a:avLst/>
          </a:prstGeom>
          <a:solidFill>
            <a:srgbClr val="1BAF7A"/>
          </a:solidFill>
          <a:ln/>
        </p:spPr>
      </p:sp>
      <p:sp>
        <p:nvSpPr>
          <p:cNvPr id="38" name="Text 36"/>
          <p:cNvSpPr/>
          <p:nvPr/>
        </p:nvSpPr>
        <p:spPr>
          <a:xfrm>
            <a:off x="5650992"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5回目</a:t>
            </a:r>
            <a:endParaRPr lang="en-US" sz="1000" dirty="0"/>
          </a:p>
        </p:txBody>
      </p:sp>
      <p:sp>
        <p:nvSpPr>
          <p:cNvPr id="39" name="Text 37"/>
          <p:cNvSpPr/>
          <p:nvPr/>
        </p:nvSpPr>
        <p:spPr>
          <a:xfrm>
            <a:off x="5650992"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40" name="Text 38"/>
          <p:cNvSpPr/>
          <p:nvPr/>
        </p:nvSpPr>
        <p:spPr>
          <a:xfrm>
            <a:off x="1325880" y="1901952"/>
            <a:ext cx="1828800" cy="228600"/>
          </a:xfrm>
          <a:prstGeom prst="rect">
            <a:avLst/>
          </a:prstGeom>
          <a:noFill/>
          <a:ln/>
        </p:spPr>
        <p:txBody>
          <a:bodyPr wrap="square" lIns="0" tIns="0" rIns="0" bIns="0" rtlCol="0" anchor="ctr"/>
          <a:lstStyle/>
          <a:p>
            <a:pPr indent="0" marL="0">
              <a:buNone/>
            </a:pPr>
            <a:r>
              <a:rPr lang="en-US" sz="1000" dirty="0">
                <a:solidFill>
                  <a:srgbClr val="E2665A"/>
                </a:solidFill>
                <a:latin typeface="Yu Gothic" pitchFamily="34" charset="0"/>
                <a:ea typeface="Yu Gothic" pitchFamily="34" charset="-122"/>
                <a:cs typeface="Yu Gothic" pitchFamily="34" charset="-120"/>
              </a:rPr>
              <a:t>● 救済者の負荷</a:t>
            </a:r>
            <a:endParaRPr lang="en-US" sz="1000" dirty="0"/>
          </a:p>
        </p:txBody>
      </p:sp>
      <p:sp>
        <p:nvSpPr>
          <p:cNvPr id="41" name="Text 39"/>
          <p:cNvSpPr/>
          <p:nvPr/>
        </p:nvSpPr>
        <p:spPr>
          <a:xfrm>
            <a:off x="3154680" y="1901952"/>
            <a:ext cx="1828800" cy="228600"/>
          </a:xfrm>
          <a:prstGeom prst="rect">
            <a:avLst/>
          </a:prstGeom>
          <a:noFill/>
          <a:ln/>
        </p:spPr>
        <p:txBody>
          <a:bodyPr wrap="square" lIns="0" tIns="0" rIns="0" bIns="0" rtlCol="0" anchor="ctr"/>
          <a:lstStyle/>
          <a:p>
            <a:pPr indent="0" marL="0">
              <a:buNone/>
            </a:pPr>
            <a:r>
              <a:rPr lang="en-US" sz="1000" dirty="0">
                <a:solidFill>
                  <a:srgbClr val="1BAF7A"/>
                </a:solidFill>
                <a:latin typeface="Yu Gothic" pitchFamily="34" charset="0"/>
                <a:ea typeface="Yu Gothic" pitchFamily="34" charset="-122"/>
                <a:cs typeface="Yu Gothic" pitchFamily="34" charset="-120"/>
              </a:rPr>
              <a:t>● 村の自律度</a:t>
            </a:r>
            <a:endParaRPr lang="en-US" sz="1000" dirty="0"/>
          </a:p>
        </p:txBody>
      </p:sp>
      <p:sp>
        <p:nvSpPr>
          <p:cNvPr id="42" name="Text 40"/>
          <p:cNvSpPr/>
          <p:nvPr/>
        </p:nvSpPr>
        <p:spPr>
          <a:xfrm>
            <a:off x="7269480" y="1828800"/>
            <a:ext cx="4389120" cy="36576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分かれ方に対応していた違い（5回分のログの観察）</a:t>
            </a:r>
            <a:endParaRPr lang="en-US" sz="1300" dirty="0"/>
          </a:p>
        </p:txBody>
      </p:sp>
      <p:sp>
        <p:nvSpPr>
          <p:cNvPr id="43" name="Shape 41"/>
          <p:cNvSpPr/>
          <p:nvPr/>
        </p:nvSpPr>
        <p:spPr>
          <a:xfrm>
            <a:off x="7269480" y="224028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498080" y="2478024"/>
            <a:ext cx="182880" cy="182880"/>
          </a:xfrm>
          <a:prstGeom prst="ellipse">
            <a:avLst/>
          </a:prstGeom>
          <a:solidFill>
            <a:srgbClr val="1BAF7A"/>
          </a:solidFill>
          <a:ln/>
        </p:spPr>
      </p:sp>
      <p:sp>
        <p:nvSpPr>
          <p:cNvPr id="45" name="Text 43"/>
          <p:cNvSpPr/>
          <p:nvPr/>
        </p:nvSpPr>
        <p:spPr>
          <a:xfrm>
            <a:off x="7790688" y="2368296"/>
            <a:ext cx="3657600" cy="347472"/>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自律した回（3・5）</a:t>
            </a:r>
            <a:endParaRPr lang="en-US" sz="1200" dirty="0"/>
          </a:p>
        </p:txBody>
      </p:sp>
      <p:sp>
        <p:nvSpPr>
          <p:cNvPr id="46" name="Text 44"/>
          <p:cNvSpPr/>
          <p:nvPr/>
        </p:nvSpPr>
        <p:spPr>
          <a:xfrm>
            <a:off x="7543800" y="273405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世話好きな住民が、救済者に確認する前に住民同士の対話を始めた</a:t>
            </a:r>
            <a:endParaRPr lang="en-US" sz="1050" dirty="0"/>
          </a:p>
        </p:txBody>
      </p:sp>
      <p:sp>
        <p:nvSpPr>
          <p:cNvPr id="47" name="Text 45"/>
          <p:cNvSpPr/>
          <p:nvPr/>
        </p:nvSpPr>
        <p:spPr>
          <a:xfrm>
            <a:off x="7543800" y="319125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「まずは私たちで相談してみよう」</a:t>
            </a:r>
            <a:endParaRPr lang="en-US" sz="1050" dirty="0"/>
          </a:p>
        </p:txBody>
      </p:sp>
      <p:sp>
        <p:nvSpPr>
          <p:cNvPr id="48" name="Shape 46"/>
          <p:cNvSpPr/>
          <p:nvPr/>
        </p:nvSpPr>
        <p:spPr>
          <a:xfrm>
            <a:off x="7269480" y="374904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9" name="Shape 47"/>
          <p:cNvSpPr/>
          <p:nvPr/>
        </p:nvSpPr>
        <p:spPr>
          <a:xfrm>
            <a:off x="7498080" y="3986784"/>
            <a:ext cx="182880" cy="182880"/>
          </a:xfrm>
          <a:prstGeom prst="ellipse">
            <a:avLst/>
          </a:prstGeom>
          <a:solidFill>
            <a:srgbClr val="E2665A"/>
          </a:solidFill>
          <a:ln/>
        </p:spPr>
      </p:sp>
      <p:sp>
        <p:nvSpPr>
          <p:cNvPr id="50" name="Text 48"/>
          <p:cNvSpPr/>
          <p:nvPr/>
        </p:nvSpPr>
        <p:spPr>
          <a:xfrm>
            <a:off x="7790688" y="3877056"/>
            <a:ext cx="3657600" cy="347472"/>
          </a:xfrm>
          <a:prstGeom prst="rect">
            <a:avLst/>
          </a:prstGeom>
          <a:noFill/>
          <a:ln/>
        </p:spPr>
        <p:txBody>
          <a:bodyPr wrap="square" lIns="0" tIns="0" rIns="0" bIns="0" rtlCol="0" anchor="ctr"/>
          <a:lstStyle/>
          <a:p>
            <a:pPr indent="0" marL="0">
              <a:buNone/>
            </a:pPr>
            <a:r>
              <a:rPr lang="en-US" sz="1200" b="1" dirty="0">
                <a:solidFill>
                  <a:srgbClr val="E2665A"/>
                </a:solidFill>
                <a:latin typeface="Yu Gothic" pitchFamily="34" charset="0"/>
                <a:ea typeface="Yu Gothic" pitchFamily="34" charset="-122"/>
                <a:cs typeface="Yu Gothic" pitchFamily="34" charset="-120"/>
              </a:rPr>
              <a:t>依存に戻った回（1・4）</a:t>
            </a:r>
            <a:endParaRPr lang="en-US" sz="1200" dirty="0"/>
          </a:p>
        </p:txBody>
      </p:sp>
      <p:sp>
        <p:nvSpPr>
          <p:cNvPr id="51" name="Text 49"/>
          <p:cNvSpPr/>
          <p:nvPr/>
        </p:nvSpPr>
        <p:spPr>
          <a:xfrm>
            <a:off x="7543800" y="424281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世話好きな住民が、最後まで許可を求め続けた</a:t>
            </a:r>
            <a:endParaRPr lang="en-US" sz="1050" dirty="0"/>
          </a:p>
        </p:txBody>
      </p:sp>
      <p:sp>
        <p:nvSpPr>
          <p:cNvPr id="52" name="Text 50"/>
          <p:cNvSpPr/>
          <p:nvPr/>
        </p:nvSpPr>
        <p:spPr>
          <a:xfrm>
            <a:off x="7543800" y="470001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「勝手に決めちゃっていいのか不安」</a:t>
            </a:r>
            <a:endParaRPr lang="en-US" sz="1050" dirty="0"/>
          </a:p>
        </p:txBody>
      </p:sp>
      <p:sp>
        <p:nvSpPr>
          <p:cNvPr id="53" name="Shape 51"/>
          <p:cNvSpPr/>
          <p:nvPr/>
        </p:nvSpPr>
        <p:spPr>
          <a:xfrm>
            <a:off x="548640" y="566928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4" name="Text 52"/>
          <p:cNvSpPr/>
          <p:nvPr/>
        </p:nvSpPr>
        <p:spPr>
          <a:xfrm>
            <a:off x="868680" y="566928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同じ制度を敷いても、結果は同じにならなかった。制度は結果を一意に決めていない。</a:t>
            </a:r>
            <a:endParaRPr lang="en-US" sz="1400" dirty="0"/>
          </a:p>
        </p:txBody>
      </p:sp>
      <p:sp>
        <p:nvSpPr>
          <p:cNvPr id="55" name="Text 5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6" name="Text 5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その「一歩」を、どこまで押せばいいのか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世話好きな住民の「許可を求める度合い」だけを5段階に変え、5水準×各5回＝計25回ぶんを分析した。L1の5回は既存の条件Cを流用しており、新規実行は20回。</a:t>
            </a:r>
            <a:endParaRPr lang="en-US" sz="1400" dirty="0"/>
          </a:p>
        </p:txBody>
      </p:sp>
      <p:sp>
        <p:nvSpPr>
          <p:cNvPr id="4" name="Shape 2"/>
          <p:cNvSpPr/>
          <p:nvPr/>
        </p:nvSpPr>
        <p:spPr>
          <a:xfrm>
            <a:off x="9128455" y="457200"/>
            <a:ext cx="25146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128455" y="457200"/>
            <a:ext cx="2514600" cy="365760"/>
          </a:xfrm>
          <a:prstGeom prst="rect">
            <a:avLst/>
          </a:prstGeom>
          <a:noFill/>
          <a:ln/>
        </p:spPr>
        <p:txBody>
          <a:bodyPr wrap="square" lIns="0" tIns="0" rIns="0" bIns="0" rtlCol="0" anchor="ctr"/>
          <a:lstStyle/>
          <a:p>
            <a:pPr algn="ctr" indent="0" marL="0">
              <a:buNone/>
            </a:pPr>
            <a:r>
              <a:rPr lang="en-US" sz="1000" dirty="0">
                <a:solidFill>
                  <a:srgbClr val="AFC9EE"/>
                </a:solidFill>
                <a:latin typeface="Yu Gothic" pitchFamily="34" charset="0"/>
                <a:ea typeface="Yu Gothic" pitchFamily="34" charset="-122"/>
                <a:cs typeface="Yu Gothic" pitchFamily="34" charset="-120"/>
              </a:rPr>
              <a:t>Claude Sonnet 4.5 での結果</a:t>
            </a:r>
            <a:endParaRPr lang="en-US" sz="1000" dirty="0"/>
          </a:p>
        </p:txBody>
      </p:sp>
      <p:sp>
        <p:nvSpPr>
          <p:cNvPr id="6" name="Shape 4"/>
          <p:cNvSpPr/>
          <p:nvPr/>
        </p:nvSpPr>
        <p:spPr>
          <a:xfrm>
            <a:off x="548640" y="1691640"/>
            <a:ext cx="6949440" cy="3977640"/>
          </a:xfrm>
          <a:prstGeom prst="roundRect">
            <a:avLst>
              <a:gd name="adj" fmla="val 2759"/>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280160" y="4617720"/>
            <a:ext cx="5897880" cy="0"/>
          </a:xfrm>
          <a:prstGeom prst="line">
            <a:avLst/>
          </a:prstGeom>
          <a:noFill/>
          <a:ln w="9525">
            <a:solidFill>
              <a:srgbClr val="2A3752"/>
            </a:solidFill>
            <a:prstDash val="solid"/>
          </a:ln>
        </p:spPr>
      </p:sp>
      <p:sp>
        <p:nvSpPr>
          <p:cNvPr id="8" name="Text 6"/>
          <p:cNvSpPr/>
          <p:nvPr/>
        </p:nvSpPr>
        <p:spPr>
          <a:xfrm>
            <a:off x="731520" y="4498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9" name="Shape 7"/>
          <p:cNvSpPr/>
          <p:nvPr/>
        </p:nvSpPr>
        <p:spPr>
          <a:xfrm>
            <a:off x="1280160" y="3954780"/>
            <a:ext cx="5897880" cy="0"/>
          </a:xfrm>
          <a:prstGeom prst="line">
            <a:avLst/>
          </a:prstGeom>
          <a:noFill/>
          <a:ln w="9525">
            <a:solidFill>
              <a:srgbClr val="2A3752"/>
            </a:solidFill>
            <a:prstDash val="solid"/>
          </a:ln>
        </p:spPr>
      </p:sp>
      <p:sp>
        <p:nvSpPr>
          <p:cNvPr id="10" name="Text 8"/>
          <p:cNvSpPr/>
          <p:nvPr/>
        </p:nvSpPr>
        <p:spPr>
          <a:xfrm>
            <a:off x="731520" y="38359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11" name="Shape 9"/>
          <p:cNvSpPr/>
          <p:nvPr/>
        </p:nvSpPr>
        <p:spPr>
          <a:xfrm>
            <a:off x="1280160" y="3291840"/>
            <a:ext cx="5897880" cy="0"/>
          </a:xfrm>
          <a:prstGeom prst="line">
            <a:avLst/>
          </a:prstGeom>
          <a:noFill/>
          <a:ln w="9525">
            <a:solidFill>
              <a:srgbClr val="2A3752"/>
            </a:solidFill>
            <a:prstDash val="solid"/>
          </a:ln>
        </p:spPr>
      </p:sp>
      <p:sp>
        <p:nvSpPr>
          <p:cNvPr id="12" name="Text 10"/>
          <p:cNvSpPr/>
          <p:nvPr/>
        </p:nvSpPr>
        <p:spPr>
          <a:xfrm>
            <a:off x="731520" y="31729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3" name="Shape 11"/>
          <p:cNvSpPr/>
          <p:nvPr/>
        </p:nvSpPr>
        <p:spPr>
          <a:xfrm>
            <a:off x="1280160" y="2628900"/>
            <a:ext cx="5897880" cy="0"/>
          </a:xfrm>
          <a:prstGeom prst="line">
            <a:avLst/>
          </a:prstGeom>
          <a:noFill/>
          <a:ln w="9525">
            <a:solidFill>
              <a:srgbClr val="2A3752"/>
            </a:solidFill>
            <a:prstDash val="solid"/>
          </a:ln>
        </p:spPr>
      </p:sp>
      <p:sp>
        <p:nvSpPr>
          <p:cNvPr id="14" name="Text 12"/>
          <p:cNvSpPr/>
          <p:nvPr/>
        </p:nvSpPr>
        <p:spPr>
          <a:xfrm>
            <a:off x="731520" y="25100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5" name="Shape 13"/>
          <p:cNvSpPr/>
          <p:nvPr/>
        </p:nvSpPr>
        <p:spPr>
          <a:xfrm>
            <a:off x="1280160" y="1965960"/>
            <a:ext cx="5897880" cy="0"/>
          </a:xfrm>
          <a:prstGeom prst="line">
            <a:avLst/>
          </a:prstGeom>
          <a:noFill/>
          <a:ln w="9525">
            <a:solidFill>
              <a:srgbClr val="2A3752"/>
            </a:solidFill>
            <a:prstDash val="solid"/>
          </a:ln>
        </p:spPr>
      </p:sp>
      <p:sp>
        <p:nvSpPr>
          <p:cNvPr id="16" name="Text 14"/>
          <p:cNvSpPr/>
          <p:nvPr/>
        </p:nvSpPr>
        <p:spPr>
          <a:xfrm>
            <a:off x="731520" y="18470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7" name="Shape 15"/>
          <p:cNvSpPr/>
          <p:nvPr/>
        </p:nvSpPr>
        <p:spPr>
          <a:xfrm flipV="1">
            <a:off x="1371600" y="3212287"/>
            <a:ext cx="1440180" cy="397764"/>
          </a:xfrm>
          <a:prstGeom prst="line">
            <a:avLst/>
          </a:prstGeom>
          <a:noFill/>
          <a:ln w="31750">
            <a:solidFill>
              <a:srgbClr val="1BAF7A"/>
            </a:solidFill>
            <a:prstDash val="solid"/>
          </a:ln>
        </p:spPr>
      </p:sp>
      <p:sp>
        <p:nvSpPr>
          <p:cNvPr id="18" name="Shape 16"/>
          <p:cNvSpPr/>
          <p:nvPr/>
        </p:nvSpPr>
        <p:spPr>
          <a:xfrm flipV="1">
            <a:off x="2811780" y="2894076"/>
            <a:ext cx="1440180" cy="318211"/>
          </a:xfrm>
          <a:prstGeom prst="line">
            <a:avLst/>
          </a:prstGeom>
          <a:noFill/>
          <a:ln w="31750">
            <a:solidFill>
              <a:srgbClr val="1BAF7A"/>
            </a:solidFill>
            <a:prstDash val="solid"/>
          </a:ln>
        </p:spPr>
      </p:sp>
      <p:sp>
        <p:nvSpPr>
          <p:cNvPr id="19" name="Shape 17"/>
          <p:cNvSpPr/>
          <p:nvPr/>
        </p:nvSpPr>
        <p:spPr>
          <a:xfrm flipV="1">
            <a:off x="4251960" y="2734970"/>
            <a:ext cx="1440180" cy="159106"/>
          </a:xfrm>
          <a:prstGeom prst="line">
            <a:avLst/>
          </a:prstGeom>
          <a:noFill/>
          <a:ln w="31750">
            <a:solidFill>
              <a:srgbClr val="1BAF7A"/>
            </a:solidFill>
            <a:prstDash val="solid"/>
          </a:ln>
        </p:spPr>
      </p:sp>
      <p:sp>
        <p:nvSpPr>
          <p:cNvPr id="20" name="Shape 18"/>
          <p:cNvSpPr/>
          <p:nvPr/>
        </p:nvSpPr>
        <p:spPr>
          <a:xfrm>
            <a:off x="5692140" y="2734970"/>
            <a:ext cx="1440180" cy="424282"/>
          </a:xfrm>
          <a:prstGeom prst="line">
            <a:avLst/>
          </a:prstGeom>
          <a:noFill/>
          <a:ln w="31750">
            <a:solidFill>
              <a:srgbClr val="E2665A"/>
            </a:solidFill>
            <a:prstDash val="solid"/>
          </a:ln>
        </p:spPr>
      </p:sp>
      <p:sp>
        <p:nvSpPr>
          <p:cNvPr id="21" name="Shape 19"/>
          <p:cNvSpPr/>
          <p:nvPr/>
        </p:nvSpPr>
        <p:spPr>
          <a:xfrm>
            <a:off x="1271016" y="3509467"/>
            <a:ext cx="201168" cy="201168"/>
          </a:xfrm>
          <a:prstGeom prst="ellipse">
            <a:avLst/>
          </a:prstGeom>
          <a:solidFill>
            <a:srgbClr val="E2665A"/>
          </a:solidFill>
          <a:ln/>
        </p:spPr>
      </p:sp>
      <p:sp>
        <p:nvSpPr>
          <p:cNvPr id="22" name="Text 20"/>
          <p:cNvSpPr/>
          <p:nvPr/>
        </p:nvSpPr>
        <p:spPr>
          <a:xfrm>
            <a:off x="1005840" y="3079699"/>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38</a:t>
            </a:r>
            <a:endParaRPr lang="en-US" sz="1100" dirty="0"/>
          </a:p>
        </p:txBody>
      </p:sp>
      <p:sp>
        <p:nvSpPr>
          <p:cNvPr id="23" name="Text 21"/>
          <p:cNvSpPr/>
          <p:nvPr/>
        </p:nvSpPr>
        <p:spPr>
          <a:xfrm>
            <a:off x="100584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L0</a:t>
            </a:r>
            <a:endParaRPr lang="en-US" sz="1100" dirty="0"/>
          </a:p>
        </p:txBody>
      </p:sp>
      <p:sp>
        <p:nvSpPr>
          <p:cNvPr id="24" name="Text 22"/>
          <p:cNvSpPr/>
          <p:nvPr/>
        </p:nvSpPr>
        <p:spPr>
          <a:xfrm>
            <a:off x="100584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0/5</a:t>
            </a:r>
            <a:endParaRPr lang="en-US" sz="900" dirty="0"/>
          </a:p>
        </p:txBody>
      </p:sp>
      <p:sp>
        <p:nvSpPr>
          <p:cNvPr id="25" name="Shape 23"/>
          <p:cNvSpPr/>
          <p:nvPr/>
        </p:nvSpPr>
        <p:spPr>
          <a:xfrm>
            <a:off x="2711196" y="3111703"/>
            <a:ext cx="201168" cy="201168"/>
          </a:xfrm>
          <a:prstGeom prst="ellipse">
            <a:avLst/>
          </a:prstGeom>
          <a:solidFill>
            <a:srgbClr val="E2665A"/>
          </a:solidFill>
          <a:ln/>
        </p:spPr>
      </p:sp>
      <p:sp>
        <p:nvSpPr>
          <p:cNvPr id="26" name="Text 24"/>
          <p:cNvSpPr/>
          <p:nvPr/>
        </p:nvSpPr>
        <p:spPr>
          <a:xfrm>
            <a:off x="2446020" y="2681935"/>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53</a:t>
            </a:r>
            <a:endParaRPr lang="en-US" sz="1100" dirty="0"/>
          </a:p>
        </p:txBody>
      </p:sp>
      <p:sp>
        <p:nvSpPr>
          <p:cNvPr id="27" name="Text 25"/>
          <p:cNvSpPr/>
          <p:nvPr/>
        </p:nvSpPr>
        <p:spPr>
          <a:xfrm>
            <a:off x="244602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L1</a:t>
            </a:r>
            <a:endParaRPr lang="en-US" sz="1100" dirty="0"/>
          </a:p>
        </p:txBody>
      </p:sp>
      <p:sp>
        <p:nvSpPr>
          <p:cNvPr id="28" name="Text 26"/>
          <p:cNvSpPr/>
          <p:nvPr/>
        </p:nvSpPr>
        <p:spPr>
          <a:xfrm>
            <a:off x="244602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29" name="Shape 27"/>
          <p:cNvSpPr/>
          <p:nvPr/>
        </p:nvSpPr>
        <p:spPr>
          <a:xfrm>
            <a:off x="4151376" y="2793492"/>
            <a:ext cx="201168" cy="201168"/>
          </a:xfrm>
          <a:prstGeom prst="ellipse">
            <a:avLst/>
          </a:prstGeom>
          <a:solidFill>
            <a:srgbClr val="E8A33D"/>
          </a:solidFill>
          <a:ln/>
        </p:spPr>
      </p:sp>
      <p:sp>
        <p:nvSpPr>
          <p:cNvPr id="30" name="Text 28"/>
          <p:cNvSpPr/>
          <p:nvPr/>
        </p:nvSpPr>
        <p:spPr>
          <a:xfrm>
            <a:off x="3886200" y="2363724"/>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65</a:t>
            </a:r>
            <a:endParaRPr lang="en-US" sz="1100" dirty="0"/>
          </a:p>
        </p:txBody>
      </p:sp>
      <p:sp>
        <p:nvSpPr>
          <p:cNvPr id="31" name="Text 29"/>
          <p:cNvSpPr/>
          <p:nvPr/>
        </p:nvSpPr>
        <p:spPr>
          <a:xfrm>
            <a:off x="3886200" y="4745736"/>
            <a:ext cx="731520" cy="237744"/>
          </a:xfrm>
          <a:prstGeom prst="rect">
            <a:avLst/>
          </a:prstGeom>
          <a:noFill/>
          <a:ln/>
        </p:spPr>
        <p:txBody>
          <a:bodyPr wrap="square" lIns="0" tIns="0" rIns="0" bIns="0" rtlCol="0" anchor="ctr"/>
          <a:lstStyle/>
          <a:p>
            <a:pPr algn="ctr" indent="0" marL="0">
              <a:buNone/>
            </a:pPr>
            <a:r>
              <a:rPr lang="en-US" sz="1100" dirty="0">
                <a:solidFill>
                  <a:srgbClr val="E8A33D"/>
                </a:solidFill>
                <a:latin typeface="Yu Gothic" pitchFamily="34" charset="0"/>
                <a:ea typeface="Yu Gothic" pitchFamily="34" charset="-122"/>
                <a:cs typeface="Yu Gothic" pitchFamily="34" charset="-120"/>
              </a:rPr>
              <a:t>L2</a:t>
            </a:r>
            <a:endParaRPr lang="en-US" sz="1100" dirty="0"/>
          </a:p>
        </p:txBody>
      </p:sp>
      <p:sp>
        <p:nvSpPr>
          <p:cNvPr id="32" name="Text 30"/>
          <p:cNvSpPr/>
          <p:nvPr/>
        </p:nvSpPr>
        <p:spPr>
          <a:xfrm>
            <a:off x="388620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3/5</a:t>
            </a:r>
            <a:endParaRPr lang="en-US" sz="900" dirty="0"/>
          </a:p>
        </p:txBody>
      </p:sp>
      <p:sp>
        <p:nvSpPr>
          <p:cNvPr id="33" name="Shape 31"/>
          <p:cNvSpPr/>
          <p:nvPr/>
        </p:nvSpPr>
        <p:spPr>
          <a:xfrm>
            <a:off x="5545836" y="2588666"/>
            <a:ext cx="292608" cy="292608"/>
          </a:xfrm>
          <a:prstGeom prst="ellipse">
            <a:avLst/>
          </a:prstGeom>
          <a:solidFill>
            <a:srgbClr val="1BAF7A"/>
          </a:solidFill>
          <a:ln w="19050">
            <a:solidFill>
              <a:srgbClr val="FFFFFF"/>
            </a:solidFill>
            <a:prstDash val="solid"/>
          </a:ln>
        </p:spPr>
      </p:sp>
      <p:sp>
        <p:nvSpPr>
          <p:cNvPr id="34" name="Text 32"/>
          <p:cNvSpPr/>
          <p:nvPr/>
        </p:nvSpPr>
        <p:spPr>
          <a:xfrm>
            <a:off x="5326380" y="2204618"/>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71</a:t>
            </a:r>
            <a:endParaRPr lang="en-US" sz="1100" dirty="0"/>
          </a:p>
        </p:txBody>
      </p:sp>
      <p:sp>
        <p:nvSpPr>
          <p:cNvPr id="35" name="Text 33"/>
          <p:cNvSpPr/>
          <p:nvPr/>
        </p:nvSpPr>
        <p:spPr>
          <a:xfrm>
            <a:off x="5326380" y="4745736"/>
            <a:ext cx="731520" cy="237744"/>
          </a:xfrm>
          <a:prstGeom prst="rect">
            <a:avLst/>
          </a:prstGeom>
          <a:noFill/>
          <a:ln/>
        </p:spPr>
        <p:txBody>
          <a:bodyPr wrap="square" lIns="0" tIns="0" rIns="0" bIns="0" rtlCol="0" anchor="ctr"/>
          <a:lstStyle/>
          <a:p>
            <a:pPr algn="ctr" indent="0" marL="0">
              <a:buNone/>
            </a:pPr>
            <a:r>
              <a:rPr lang="en-US" sz="1100" b="1" dirty="0">
                <a:solidFill>
                  <a:srgbClr val="1BAF7A"/>
                </a:solidFill>
                <a:latin typeface="Yu Gothic" pitchFamily="34" charset="0"/>
                <a:ea typeface="Yu Gothic" pitchFamily="34" charset="-122"/>
                <a:cs typeface="Yu Gothic" pitchFamily="34" charset="-120"/>
              </a:rPr>
              <a:t>L3</a:t>
            </a:r>
            <a:endParaRPr lang="en-US" sz="1100" dirty="0"/>
          </a:p>
        </p:txBody>
      </p:sp>
      <p:sp>
        <p:nvSpPr>
          <p:cNvPr id="36" name="Text 34"/>
          <p:cNvSpPr/>
          <p:nvPr/>
        </p:nvSpPr>
        <p:spPr>
          <a:xfrm>
            <a:off x="532638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5/5</a:t>
            </a:r>
            <a:endParaRPr lang="en-US" sz="900" dirty="0"/>
          </a:p>
        </p:txBody>
      </p:sp>
      <p:sp>
        <p:nvSpPr>
          <p:cNvPr id="37" name="Shape 35"/>
          <p:cNvSpPr/>
          <p:nvPr/>
        </p:nvSpPr>
        <p:spPr>
          <a:xfrm>
            <a:off x="7031736" y="3058668"/>
            <a:ext cx="201168" cy="201168"/>
          </a:xfrm>
          <a:prstGeom prst="ellipse">
            <a:avLst/>
          </a:prstGeom>
          <a:solidFill>
            <a:srgbClr val="E2665A"/>
          </a:solidFill>
          <a:ln/>
        </p:spPr>
      </p:sp>
      <p:sp>
        <p:nvSpPr>
          <p:cNvPr id="38" name="Text 36"/>
          <p:cNvSpPr/>
          <p:nvPr/>
        </p:nvSpPr>
        <p:spPr>
          <a:xfrm>
            <a:off x="6766560" y="2628900"/>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55</a:t>
            </a:r>
            <a:endParaRPr lang="en-US" sz="1100" dirty="0"/>
          </a:p>
        </p:txBody>
      </p:sp>
      <p:sp>
        <p:nvSpPr>
          <p:cNvPr id="39" name="Text 37"/>
          <p:cNvSpPr/>
          <p:nvPr/>
        </p:nvSpPr>
        <p:spPr>
          <a:xfrm>
            <a:off x="676656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L4</a:t>
            </a:r>
            <a:endParaRPr lang="en-US" sz="1100" dirty="0"/>
          </a:p>
        </p:txBody>
      </p:sp>
      <p:sp>
        <p:nvSpPr>
          <p:cNvPr id="40" name="Text 38"/>
          <p:cNvSpPr/>
          <p:nvPr/>
        </p:nvSpPr>
        <p:spPr>
          <a:xfrm>
            <a:off x="676656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41" name="Text 39"/>
          <p:cNvSpPr/>
          <p:nvPr/>
        </p:nvSpPr>
        <p:spPr>
          <a:xfrm>
            <a:off x="1280160" y="1801368"/>
            <a:ext cx="4572000" cy="237744"/>
          </a:xfrm>
          <a:prstGeom prst="rect">
            <a:avLst/>
          </a:prstGeom>
          <a:noFill/>
          <a:ln/>
        </p:spPr>
        <p:txBody>
          <a:bodyPr wrap="square" lIns="0" tIns="0" rIns="0" bIns="0" rtlCol="0" anchor="ctr"/>
          <a:lstStyle/>
          <a:p>
            <a:pPr indent="0" marL="0">
              <a:buNone/>
            </a:pPr>
            <a:r>
              <a:rPr lang="en-US" sz="1000" dirty="0">
                <a:solidFill>
                  <a:srgbClr val="9AA4C0"/>
                </a:solidFill>
                <a:latin typeface="Yu Gothic" pitchFamily="34" charset="0"/>
                <a:ea typeface="Yu Gothic" pitchFamily="34" charset="-122"/>
                <a:cs typeface="Yu Gothic" pitchFamily="34" charset="-120"/>
              </a:rPr>
              <a:t>村の自律度（5回平均）と、自律できた回数</a:t>
            </a:r>
            <a:endParaRPr lang="en-US" sz="1000" dirty="0"/>
          </a:p>
        </p:txBody>
      </p:sp>
      <p:sp>
        <p:nvSpPr>
          <p:cNvPr id="42" name="Text 40"/>
          <p:cNvSpPr/>
          <p:nvPr/>
        </p:nvSpPr>
        <p:spPr>
          <a:xfrm>
            <a:off x="1280160" y="5276088"/>
            <a:ext cx="5486400" cy="274320"/>
          </a:xfrm>
          <a:prstGeom prst="rect">
            <a:avLst/>
          </a:prstGeom>
          <a:noFill/>
          <a:ln/>
        </p:spPr>
        <p:txBody>
          <a:bodyPr wrap="square" lIns="0" tIns="0" rIns="0" bIns="0" rtlCol="0" anchor="ctr"/>
          <a:lstStyle/>
          <a:p>
            <a:pPr algn="ctr" indent="0" marL="0">
              <a:buNone/>
            </a:pPr>
            <a:r>
              <a:rPr lang="en-US" sz="1100" i="1" dirty="0">
                <a:solidFill>
                  <a:srgbClr val="AFC9EE"/>
                </a:solidFill>
                <a:latin typeface="Yu Gothic" pitchFamily="34" charset="0"/>
                <a:ea typeface="Yu Gothic" pitchFamily="34" charset="-122"/>
                <a:cs typeface="Yu Gothic" pitchFamily="34" charset="-120"/>
              </a:rPr>
              <a:t>↑ L3まで上がり、L4で下がった（各水準n=5）</a:t>
            </a:r>
            <a:endParaRPr lang="en-US" sz="1100" dirty="0"/>
          </a:p>
        </p:txBody>
      </p:sp>
      <p:sp>
        <p:nvSpPr>
          <p:cNvPr id="43" name="Shape 41"/>
          <p:cNvSpPr/>
          <p:nvPr/>
        </p:nvSpPr>
        <p:spPr>
          <a:xfrm>
            <a:off x="7680960" y="17830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909560" y="2020824"/>
            <a:ext cx="182880" cy="182880"/>
          </a:xfrm>
          <a:prstGeom prst="ellipse">
            <a:avLst/>
          </a:prstGeom>
          <a:solidFill>
            <a:srgbClr val="1BAF7A"/>
          </a:solidFill>
          <a:ln/>
        </p:spPr>
      </p:sp>
      <p:sp>
        <p:nvSpPr>
          <p:cNvPr id="45" name="Text 43"/>
          <p:cNvSpPr/>
          <p:nvPr/>
        </p:nvSpPr>
        <p:spPr>
          <a:xfrm>
            <a:off x="8202168" y="1911096"/>
            <a:ext cx="3291840" cy="365760"/>
          </a:xfrm>
          <a:prstGeom prst="rect">
            <a:avLst/>
          </a:prstGeom>
          <a:noFill/>
          <a:ln/>
        </p:spPr>
        <p:txBody>
          <a:bodyPr wrap="square" lIns="0" tIns="0" rIns="0" bIns="0" rtlCol="0" anchor="ctr"/>
          <a:lstStyle/>
          <a:p>
            <a:pPr indent="0" marL="0">
              <a:buNone/>
            </a:pPr>
            <a:r>
              <a:rPr lang="en-US" sz="1250" b="1" dirty="0">
                <a:solidFill>
                  <a:srgbClr val="1BAF7A"/>
                </a:solidFill>
                <a:latin typeface="Yu Gothic" pitchFamily="34" charset="0"/>
                <a:ea typeface="Yu Gothic" pitchFamily="34" charset="-122"/>
                <a:cs typeface="Yu Gothic" pitchFamily="34" charset="-120"/>
              </a:rPr>
              <a:t>観測：L3では5回とも自律側</a:t>
            </a:r>
            <a:endParaRPr lang="en-US" sz="1250" dirty="0"/>
          </a:p>
        </p:txBody>
      </p:sp>
      <p:sp>
        <p:nvSpPr>
          <p:cNvPr id="46" name="Text 44"/>
          <p:cNvSpPr/>
          <p:nvPr/>
        </p:nvSpPr>
        <p:spPr>
          <a:xfrm>
            <a:off x="7955280" y="23134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L1では2/5だった自律がL3では5/5。自律度の幅も10点と最小だった。ただしn=5であり、閾値の存在が示せたわけではない。</a:t>
            </a:r>
            <a:endParaRPr lang="en-US" sz="1050" dirty="0"/>
          </a:p>
        </p:txBody>
      </p:sp>
      <p:sp>
        <p:nvSpPr>
          <p:cNvPr id="47" name="Shape 45"/>
          <p:cNvSpPr/>
          <p:nvPr/>
        </p:nvSpPr>
        <p:spPr>
          <a:xfrm>
            <a:off x="7680960" y="36118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8" name="Shape 46"/>
          <p:cNvSpPr/>
          <p:nvPr/>
        </p:nvSpPr>
        <p:spPr>
          <a:xfrm>
            <a:off x="7909560" y="3849624"/>
            <a:ext cx="182880" cy="182880"/>
          </a:xfrm>
          <a:prstGeom prst="ellipse">
            <a:avLst/>
          </a:prstGeom>
          <a:solidFill>
            <a:srgbClr val="E2665A"/>
          </a:solidFill>
          <a:ln/>
        </p:spPr>
      </p:sp>
      <p:sp>
        <p:nvSpPr>
          <p:cNvPr id="49" name="Text 47"/>
          <p:cNvSpPr/>
          <p:nvPr/>
        </p:nvSpPr>
        <p:spPr>
          <a:xfrm>
            <a:off x="8202168" y="3739896"/>
            <a:ext cx="3291840" cy="365760"/>
          </a:xfrm>
          <a:prstGeom prst="rect">
            <a:avLst/>
          </a:prstGeom>
          <a:noFill/>
          <a:ln/>
        </p:spPr>
        <p:txBody>
          <a:bodyPr wrap="square" lIns="0" tIns="0" rIns="0" bIns="0" rtlCol="0" anchor="ctr"/>
          <a:lstStyle/>
          <a:p>
            <a:pPr indent="0" marL="0">
              <a:buNone/>
            </a:pPr>
            <a:r>
              <a:rPr lang="en-US" sz="1250" b="1" dirty="0">
                <a:solidFill>
                  <a:srgbClr val="E2665A"/>
                </a:solidFill>
                <a:latin typeface="Yu Gothic" pitchFamily="34" charset="0"/>
                <a:ea typeface="Yu Gothic" pitchFamily="34" charset="-122"/>
                <a:cs typeface="Yu Gothic" pitchFamily="34" charset="-120"/>
              </a:rPr>
              <a:t>解釈：L4は依存先が移った可能性</a:t>
            </a:r>
            <a:endParaRPr lang="en-US" sz="1250" dirty="0"/>
          </a:p>
        </p:txBody>
      </p:sp>
      <p:sp>
        <p:nvSpPr>
          <p:cNvPr id="50" name="Text 48"/>
          <p:cNvSpPr/>
          <p:nvPr/>
        </p:nvSpPr>
        <p:spPr>
          <a:xfrm>
            <a:off x="7955280" y="41422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独立度はL3より高いのに自律度は71→55。ログでは住民の待ち相手が世話好きな住民に移った様子が読める（質的観察）。</a:t>
            </a:r>
            <a:endParaRPr lang="en-US" sz="1050" dirty="0"/>
          </a:p>
        </p:txBody>
      </p:sp>
      <p:sp>
        <p:nvSpPr>
          <p:cNvPr id="51" name="Shape 49"/>
          <p:cNvSpPr/>
          <p:nvPr/>
        </p:nvSpPr>
        <p:spPr>
          <a:xfrm>
            <a:off x="548640" y="5742432"/>
            <a:ext cx="11091672" cy="658368"/>
          </a:xfrm>
          <a:prstGeom prst="roundRect">
            <a:avLst>
              <a:gd name="adj" fmla="val 13889"/>
            </a:avLst>
          </a:prstGeom>
          <a:solidFill>
            <a:srgbClr val="16213A"/>
          </a:solidFill>
          <a:ln/>
          <a:effectLst>
            <a:outerShdw sx="100000" sy="100000" kx="0" ky="0" algn="bl" rotWithShape="0" blurRad="101600" dist="38100" dir="5400000">
              <a:srgbClr val="000000">
                <a:alpha val="35000"/>
              </a:srgbClr>
            </a:outerShdw>
          </a:effectLst>
        </p:spPr>
      </p:sp>
      <p:sp>
        <p:nvSpPr>
          <p:cNvPr id="52" name="Text 50"/>
          <p:cNvSpPr/>
          <p:nvPr/>
        </p:nvSpPr>
        <p:spPr>
          <a:xfrm>
            <a:off x="868680" y="5742432"/>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この条件では、独立度の高さより「他の住民を巻き込むか」のほうが結果と対応していた。</a:t>
            </a:r>
            <a:endParaRPr lang="en-US" sz="1400" dirty="0"/>
          </a:p>
        </p:txBody>
      </p:sp>
      <p:sp>
        <p:nvSpPr>
          <p:cNvPr id="53" name="Text 51"/>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4" name="Text 52"/>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別のモデルでも同じことが起きるのか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生成モデルだけを Sonnet 4.5 → Opus 5 に変更。採点する審査役は据え置き、L1/L3/L4を各8回。</a:t>
            </a:r>
            <a:endParaRPr lang="en-US" sz="1400" dirty="0"/>
          </a:p>
        </p:txBody>
      </p:sp>
      <p:sp>
        <p:nvSpPr>
          <p:cNvPr id="4" name="Shape 2"/>
          <p:cNvSpPr/>
          <p:nvPr/>
        </p:nvSpPr>
        <p:spPr>
          <a:xfrm>
            <a:off x="548640" y="1828800"/>
            <a:ext cx="5806440" cy="2157984"/>
          </a:xfrm>
          <a:prstGeom prst="roundRect">
            <a:avLst>
              <a:gd name="adj" fmla="val 5085"/>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31520" y="1965960"/>
            <a:ext cx="1828800" cy="566928"/>
          </a:xfrm>
          <a:prstGeom prst="rect">
            <a:avLst/>
          </a:prstGeom>
          <a:noFill/>
          <a:ln/>
        </p:spPr>
        <p:txBody>
          <a:bodyPr wrap="square" lIns="0" tIns="0" rIns="0" bIns="0" rtlCol="0" anchor="ctr"/>
          <a:lstStyle/>
          <a:p>
            <a:pPr algn="l" indent="0" marL="0">
              <a:buNone/>
            </a:pPr>
            <a:endParaRPr lang="en-US" sz="1200" dirty="0"/>
          </a:p>
        </p:txBody>
      </p:sp>
      <p:sp>
        <p:nvSpPr>
          <p:cNvPr id="6" name="Text 4"/>
          <p:cNvSpPr/>
          <p:nvPr/>
        </p:nvSpPr>
        <p:spPr>
          <a:xfrm>
            <a:off x="256032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L1</a:t>
            </a:r>
            <a:endParaRPr lang="en-US" sz="1200" dirty="0"/>
          </a:p>
        </p:txBody>
      </p:sp>
      <p:sp>
        <p:nvSpPr>
          <p:cNvPr id="7" name="Text 5"/>
          <p:cNvSpPr/>
          <p:nvPr/>
        </p:nvSpPr>
        <p:spPr>
          <a:xfrm>
            <a:off x="379476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L3</a:t>
            </a:r>
            <a:endParaRPr lang="en-US" sz="1200" dirty="0"/>
          </a:p>
        </p:txBody>
      </p:sp>
      <p:sp>
        <p:nvSpPr>
          <p:cNvPr id="8" name="Text 6"/>
          <p:cNvSpPr/>
          <p:nvPr/>
        </p:nvSpPr>
        <p:spPr>
          <a:xfrm>
            <a:off x="502920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L4</a:t>
            </a:r>
            <a:endParaRPr lang="en-US" sz="1200" dirty="0"/>
          </a:p>
        </p:txBody>
      </p:sp>
      <p:sp>
        <p:nvSpPr>
          <p:cNvPr id="9" name="Text 7"/>
          <p:cNvSpPr/>
          <p:nvPr/>
        </p:nvSpPr>
        <p:spPr>
          <a:xfrm>
            <a:off x="731520" y="2532888"/>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Sonnet 4.5</a:t>
            </a:r>
            <a:endParaRPr lang="en-US" sz="1400" dirty="0"/>
          </a:p>
        </p:txBody>
      </p:sp>
      <p:sp>
        <p:nvSpPr>
          <p:cNvPr id="10" name="Text 8"/>
          <p:cNvSpPr/>
          <p:nvPr/>
        </p:nvSpPr>
        <p:spPr>
          <a:xfrm>
            <a:off x="256032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1" name="Text 9"/>
          <p:cNvSpPr/>
          <p:nvPr/>
        </p:nvSpPr>
        <p:spPr>
          <a:xfrm>
            <a:off x="3794760" y="2532888"/>
            <a:ext cx="1234440" cy="566928"/>
          </a:xfrm>
          <a:prstGeom prst="rect">
            <a:avLst/>
          </a:prstGeom>
          <a:noFill/>
          <a:ln/>
        </p:spPr>
        <p:txBody>
          <a:bodyPr wrap="square" lIns="0" tIns="0" rIns="0" bIns="0" rtlCol="0" anchor="ctr"/>
          <a:lstStyle/>
          <a:p>
            <a:pPr algn="ctr" indent="0" marL="0">
              <a:buNone/>
            </a:pPr>
            <a:r>
              <a:rPr lang="en-US" sz="1400" b="1" dirty="0">
                <a:solidFill>
                  <a:srgbClr val="1BAF7A"/>
                </a:solidFill>
                <a:latin typeface="Yu Gothic" pitchFamily="34" charset="0"/>
                <a:ea typeface="Yu Gothic" pitchFamily="34" charset="-122"/>
                <a:cs typeface="Yu Gothic" pitchFamily="34" charset="-120"/>
              </a:rPr>
              <a:t>5/5</a:t>
            </a:r>
            <a:endParaRPr lang="en-US" sz="1400" dirty="0"/>
          </a:p>
        </p:txBody>
      </p:sp>
      <p:sp>
        <p:nvSpPr>
          <p:cNvPr id="12" name="Text 10"/>
          <p:cNvSpPr/>
          <p:nvPr/>
        </p:nvSpPr>
        <p:spPr>
          <a:xfrm>
            <a:off x="502920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3" name="Text 11"/>
          <p:cNvSpPr/>
          <p:nvPr/>
        </p:nvSpPr>
        <p:spPr>
          <a:xfrm>
            <a:off x="731520" y="3099816"/>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Opus 5</a:t>
            </a:r>
            <a:endParaRPr lang="en-US" sz="1400" dirty="0"/>
          </a:p>
        </p:txBody>
      </p:sp>
      <p:sp>
        <p:nvSpPr>
          <p:cNvPr id="14" name="Text 12"/>
          <p:cNvSpPr/>
          <p:nvPr/>
        </p:nvSpPr>
        <p:spPr>
          <a:xfrm>
            <a:off x="256032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5/8</a:t>
            </a:r>
            <a:endParaRPr lang="en-US" sz="1400" dirty="0"/>
          </a:p>
        </p:txBody>
      </p:sp>
      <p:sp>
        <p:nvSpPr>
          <p:cNvPr id="15" name="Text 13"/>
          <p:cNvSpPr/>
          <p:nvPr/>
        </p:nvSpPr>
        <p:spPr>
          <a:xfrm>
            <a:off x="379476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6" name="Text 14"/>
          <p:cNvSpPr/>
          <p:nvPr/>
        </p:nvSpPr>
        <p:spPr>
          <a:xfrm>
            <a:off x="502920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7" name="Text 15"/>
          <p:cNvSpPr/>
          <p:nvPr/>
        </p:nvSpPr>
        <p:spPr>
          <a:xfrm>
            <a:off x="731520" y="3621024"/>
            <a:ext cx="5394960" cy="411480"/>
          </a:xfrm>
          <a:prstGeom prst="rect">
            <a:avLst/>
          </a:prstGeom>
          <a:noFill/>
          <a:ln/>
        </p:spPr>
        <p:txBody>
          <a:bodyPr wrap="square" lIns="0" tIns="0" rIns="0" bIns="0" rtlCol="0" anchor="ctr"/>
          <a:lstStyle/>
          <a:p>
            <a:pPr indent="0" marL="0">
              <a:lnSpc>
                <a:spcPct val="115000"/>
              </a:lnSpc>
              <a:buNone/>
            </a:pPr>
            <a:r>
              <a:rPr lang="en-US" sz="1050" dirty="0">
                <a:solidFill>
                  <a:srgbClr val="9AA4C0"/>
                </a:solidFill>
                <a:latin typeface="Yu Gothic" pitchFamily="34" charset="0"/>
                <a:ea typeface="Yu Gothic" pitchFamily="34" charset="-122"/>
                <a:cs typeface="Yu Gothic" pitchFamily="34" charset="-120"/>
              </a:rPr>
              <a:t>「自律できた回」の比較。Sonnetで際立っていたL3の優位が、Opus 5では消えている。</a:t>
            </a:r>
            <a:endParaRPr lang="en-US" sz="1050" dirty="0"/>
          </a:p>
        </p:txBody>
      </p:sp>
      <p:sp>
        <p:nvSpPr>
          <p:cNvPr id="18" name="Shape 16"/>
          <p:cNvSpPr/>
          <p:nvPr/>
        </p:nvSpPr>
        <p:spPr>
          <a:xfrm>
            <a:off x="548640" y="4023360"/>
            <a:ext cx="5806440" cy="1600200"/>
          </a:xfrm>
          <a:prstGeom prst="roundRect">
            <a:avLst>
              <a:gd name="adj" fmla="val 6857"/>
            </a:avLst>
          </a:prstGeom>
          <a:solidFill>
            <a:srgbClr val="1C2C4A"/>
          </a:solidFill>
          <a:ln/>
          <a:effectLst>
            <a:outerShdw sx="100000" sy="100000" kx="0" ky="0" algn="bl" rotWithShape="0" blurRad="101600" dist="38100" dir="5400000">
              <a:srgbClr val="000000">
                <a:alpha val="35000"/>
              </a:srgbClr>
            </a:outerShdw>
          </a:effectLst>
        </p:spPr>
      </p:sp>
      <p:sp>
        <p:nvSpPr>
          <p:cNvPr id="19" name="Text 17"/>
          <p:cNvSpPr/>
          <p:nvPr/>
        </p:nvSpPr>
        <p:spPr>
          <a:xfrm>
            <a:off x="777240" y="4160520"/>
            <a:ext cx="5394960" cy="320040"/>
          </a:xfrm>
          <a:prstGeom prst="rect">
            <a:avLst/>
          </a:prstGeom>
          <a:noFill/>
          <a:ln/>
        </p:spPr>
        <p:txBody>
          <a:bodyPr wrap="square" lIns="0" tIns="0" rIns="0" bIns="0" rtlCol="0" anchor="ctr"/>
          <a:lstStyle/>
          <a:p>
            <a:pPr indent="0" marL="0">
              <a:buNone/>
            </a:pPr>
            <a:r>
              <a:rPr lang="en-US" sz="1250" b="1" dirty="0">
                <a:solidFill>
                  <a:srgbClr val="F4C878"/>
                </a:solidFill>
                <a:latin typeface="Yu Gothic" pitchFamily="34" charset="0"/>
                <a:ea typeface="Yu Gothic" pitchFamily="34" charset="-122"/>
                <a:cs typeface="Yu Gothic" pitchFamily="34" charset="-120"/>
              </a:rPr>
              <a:t>それでも「2つに分かれる」ことは残った</a:t>
            </a:r>
            <a:endParaRPr lang="en-US" sz="1250" dirty="0"/>
          </a:p>
        </p:txBody>
      </p:sp>
      <p:sp>
        <p:nvSpPr>
          <p:cNvPr id="20" name="Shape 18"/>
          <p:cNvSpPr/>
          <p:nvPr/>
        </p:nvSpPr>
        <p:spPr>
          <a:xfrm>
            <a:off x="868680" y="4892040"/>
            <a:ext cx="5120640" cy="0"/>
          </a:xfrm>
          <a:prstGeom prst="line">
            <a:avLst/>
          </a:prstGeom>
          <a:noFill/>
          <a:ln w="12700">
            <a:solidFill>
              <a:srgbClr val="2A3752"/>
            </a:solidFill>
            <a:prstDash val="solid"/>
          </a:ln>
        </p:spPr>
      </p:sp>
      <p:sp>
        <p:nvSpPr>
          <p:cNvPr id="21" name="Shape 19"/>
          <p:cNvSpPr/>
          <p:nvPr/>
        </p:nvSpPr>
        <p:spPr>
          <a:xfrm>
            <a:off x="1731125" y="4823460"/>
            <a:ext cx="137160" cy="137160"/>
          </a:xfrm>
          <a:prstGeom prst="ellipse">
            <a:avLst/>
          </a:prstGeom>
          <a:solidFill>
            <a:srgbClr val="E2665A">
              <a:alpha val="75000"/>
            </a:srgbClr>
          </a:solidFill>
          <a:ln/>
        </p:spPr>
      </p:sp>
      <p:sp>
        <p:nvSpPr>
          <p:cNvPr id="22" name="Shape 20"/>
          <p:cNvSpPr/>
          <p:nvPr/>
        </p:nvSpPr>
        <p:spPr>
          <a:xfrm>
            <a:off x="1731125" y="4823460"/>
            <a:ext cx="137160" cy="137160"/>
          </a:xfrm>
          <a:prstGeom prst="ellipse">
            <a:avLst/>
          </a:prstGeom>
          <a:solidFill>
            <a:srgbClr val="E2665A">
              <a:alpha val="75000"/>
            </a:srgbClr>
          </a:solidFill>
          <a:ln/>
        </p:spPr>
      </p:sp>
      <p:sp>
        <p:nvSpPr>
          <p:cNvPr id="23" name="Shape 21"/>
          <p:cNvSpPr/>
          <p:nvPr/>
        </p:nvSpPr>
        <p:spPr>
          <a:xfrm>
            <a:off x="1731125" y="4823460"/>
            <a:ext cx="137160" cy="137160"/>
          </a:xfrm>
          <a:prstGeom prst="ellipse">
            <a:avLst/>
          </a:prstGeom>
          <a:solidFill>
            <a:srgbClr val="E2665A">
              <a:alpha val="75000"/>
            </a:srgbClr>
          </a:solidFill>
          <a:ln/>
        </p:spPr>
      </p:sp>
      <p:sp>
        <p:nvSpPr>
          <p:cNvPr id="24" name="Shape 22"/>
          <p:cNvSpPr/>
          <p:nvPr/>
        </p:nvSpPr>
        <p:spPr>
          <a:xfrm>
            <a:off x="2662151" y="4823460"/>
            <a:ext cx="137160" cy="137160"/>
          </a:xfrm>
          <a:prstGeom prst="ellipse">
            <a:avLst/>
          </a:prstGeom>
          <a:solidFill>
            <a:srgbClr val="E2665A">
              <a:alpha val="75000"/>
            </a:srgbClr>
          </a:solidFill>
          <a:ln/>
        </p:spPr>
      </p:sp>
      <p:sp>
        <p:nvSpPr>
          <p:cNvPr id="25" name="Shape 23"/>
          <p:cNvSpPr/>
          <p:nvPr/>
        </p:nvSpPr>
        <p:spPr>
          <a:xfrm>
            <a:off x="2662151" y="4823460"/>
            <a:ext cx="137160" cy="137160"/>
          </a:xfrm>
          <a:prstGeom prst="ellipse">
            <a:avLst/>
          </a:prstGeom>
          <a:solidFill>
            <a:srgbClr val="E2665A">
              <a:alpha val="75000"/>
            </a:srgbClr>
          </a:solidFill>
          <a:ln/>
        </p:spPr>
      </p:sp>
      <p:sp>
        <p:nvSpPr>
          <p:cNvPr id="26" name="Shape 24"/>
          <p:cNvSpPr/>
          <p:nvPr/>
        </p:nvSpPr>
        <p:spPr>
          <a:xfrm>
            <a:off x="2662151" y="4823460"/>
            <a:ext cx="137160" cy="137160"/>
          </a:xfrm>
          <a:prstGeom prst="ellipse">
            <a:avLst/>
          </a:prstGeom>
          <a:solidFill>
            <a:srgbClr val="E2665A">
              <a:alpha val="75000"/>
            </a:srgbClr>
          </a:solidFill>
          <a:ln/>
        </p:spPr>
      </p:sp>
      <p:sp>
        <p:nvSpPr>
          <p:cNvPr id="27" name="Shape 25"/>
          <p:cNvSpPr/>
          <p:nvPr/>
        </p:nvSpPr>
        <p:spPr>
          <a:xfrm>
            <a:off x="2662151" y="4823460"/>
            <a:ext cx="137160" cy="137160"/>
          </a:xfrm>
          <a:prstGeom prst="ellipse">
            <a:avLst/>
          </a:prstGeom>
          <a:solidFill>
            <a:srgbClr val="E2665A">
              <a:alpha val="75000"/>
            </a:srgbClr>
          </a:solidFill>
          <a:ln/>
        </p:spPr>
      </p:sp>
      <p:sp>
        <p:nvSpPr>
          <p:cNvPr id="28" name="Shape 26"/>
          <p:cNvSpPr/>
          <p:nvPr/>
        </p:nvSpPr>
        <p:spPr>
          <a:xfrm>
            <a:off x="2662151" y="4823460"/>
            <a:ext cx="137160" cy="137160"/>
          </a:xfrm>
          <a:prstGeom prst="ellipse">
            <a:avLst/>
          </a:prstGeom>
          <a:solidFill>
            <a:srgbClr val="E2665A">
              <a:alpha val="75000"/>
            </a:srgbClr>
          </a:solidFill>
          <a:ln/>
        </p:spPr>
      </p:sp>
      <p:sp>
        <p:nvSpPr>
          <p:cNvPr id="29" name="Shape 27"/>
          <p:cNvSpPr/>
          <p:nvPr/>
        </p:nvSpPr>
        <p:spPr>
          <a:xfrm>
            <a:off x="2662151" y="4823460"/>
            <a:ext cx="137160" cy="137160"/>
          </a:xfrm>
          <a:prstGeom prst="ellipse">
            <a:avLst/>
          </a:prstGeom>
          <a:solidFill>
            <a:srgbClr val="E2665A">
              <a:alpha val="75000"/>
            </a:srgbClr>
          </a:solidFill>
          <a:ln/>
        </p:spPr>
      </p:sp>
      <p:sp>
        <p:nvSpPr>
          <p:cNvPr id="30" name="Shape 28"/>
          <p:cNvSpPr/>
          <p:nvPr/>
        </p:nvSpPr>
        <p:spPr>
          <a:xfrm>
            <a:off x="2662151" y="4823460"/>
            <a:ext cx="137160" cy="137160"/>
          </a:xfrm>
          <a:prstGeom prst="ellipse">
            <a:avLst/>
          </a:prstGeom>
          <a:solidFill>
            <a:srgbClr val="E2665A">
              <a:alpha val="75000"/>
            </a:srgbClr>
          </a:solidFill>
          <a:ln/>
        </p:spPr>
      </p:sp>
      <p:sp>
        <p:nvSpPr>
          <p:cNvPr id="31" name="Shape 29"/>
          <p:cNvSpPr/>
          <p:nvPr/>
        </p:nvSpPr>
        <p:spPr>
          <a:xfrm>
            <a:off x="3593176" y="4823460"/>
            <a:ext cx="137160" cy="137160"/>
          </a:xfrm>
          <a:prstGeom prst="ellipse">
            <a:avLst/>
          </a:prstGeom>
          <a:solidFill>
            <a:srgbClr val="E8A33D">
              <a:alpha val="75000"/>
            </a:srgbClr>
          </a:solidFill>
          <a:ln/>
        </p:spPr>
      </p:sp>
      <p:sp>
        <p:nvSpPr>
          <p:cNvPr id="32" name="Shape 30"/>
          <p:cNvSpPr/>
          <p:nvPr/>
        </p:nvSpPr>
        <p:spPr>
          <a:xfrm>
            <a:off x="4524202" y="4823460"/>
            <a:ext cx="137160" cy="137160"/>
          </a:xfrm>
          <a:prstGeom prst="ellipse">
            <a:avLst/>
          </a:prstGeom>
          <a:solidFill>
            <a:srgbClr val="1BAF7A">
              <a:alpha val="75000"/>
            </a:srgbClr>
          </a:solidFill>
          <a:ln/>
        </p:spPr>
      </p:sp>
      <p:sp>
        <p:nvSpPr>
          <p:cNvPr id="33" name="Shape 31"/>
          <p:cNvSpPr/>
          <p:nvPr/>
        </p:nvSpPr>
        <p:spPr>
          <a:xfrm>
            <a:off x="4524202" y="4823460"/>
            <a:ext cx="137160" cy="137160"/>
          </a:xfrm>
          <a:prstGeom prst="ellipse">
            <a:avLst/>
          </a:prstGeom>
          <a:solidFill>
            <a:srgbClr val="1BAF7A">
              <a:alpha val="75000"/>
            </a:srgbClr>
          </a:solidFill>
          <a:ln/>
        </p:spPr>
      </p:sp>
      <p:sp>
        <p:nvSpPr>
          <p:cNvPr id="34" name="Shape 32"/>
          <p:cNvSpPr/>
          <p:nvPr/>
        </p:nvSpPr>
        <p:spPr>
          <a:xfrm>
            <a:off x="4524202" y="4823460"/>
            <a:ext cx="137160" cy="137160"/>
          </a:xfrm>
          <a:prstGeom prst="ellipse">
            <a:avLst/>
          </a:prstGeom>
          <a:solidFill>
            <a:srgbClr val="1BAF7A">
              <a:alpha val="75000"/>
            </a:srgbClr>
          </a:solidFill>
          <a:ln/>
        </p:spPr>
      </p:sp>
      <p:sp>
        <p:nvSpPr>
          <p:cNvPr id="35" name="Shape 33"/>
          <p:cNvSpPr/>
          <p:nvPr/>
        </p:nvSpPr>
        <p:spPr>
          <a:xfrm>
            <a:off x="4524202" y="4823460"/>
            <a:ext cx="137160" cy="137160"/>
          </a:xfrm>
          <a:prstGeom prst="ellipse">
            <a:avLst/>
          </a:prstGeom>
          <a:solidFill>
            <a:srgbClr val="1BAF7A">
              <a:alpha val="75000"/>
            </a:srgbClr>
          </a:solidFill>
          <a:ln/>
        </p:spPr>
      </p:sp>
      <p:sp>
        <p:nvSpPr>
          <p:cNvPr id="36" name="Shape 34"/>
          <p:cNvSpPr/>
          <p:nvPr/>
        </p:nvSpPr>
        <p:spPr>
          <a:xfrm>
            <a:off x="4989715" y="4823460"/>
            <a:ext cx="137160" cy="137160"/>
          </a:xfrm>
          <a:prstGeom prst="ellipse">
            <a:avLst/>
          </a:prstGeom>
          <a:solidFill>
            <a:srgbClr val="1BAF7A">
              <a:alpha val="75000"/>
            </a:srgbClr>
          </a:solidFill>
          <a:ln/>
        </p:spPr>
      </p:sp>
      <p:sp>
        <p:nvSpPr>
          <p:cNvPr id="37" name="Shape 35"/>
          <p:cNvSpPr/>
          <p:nvPr/>
        </p:nvSpPr>
        <p:spPr>
          <a:xfrm>
            <a:off x="4989715" y="4823460"/>
            <a:ext cx="137160" cy="137160"/>
          </a:xfrm>
          <a:prstGeom prst="ellipse">
            <a:avLst/>
          </a:prstGeom>
          <a:solidFill>
            <a:srgbClr val="1BAF7A">
              <a:alpha val="75000"/>
            </a:srgbClr>
          </a:solidFill>
          <a:ln/>
        </p:spPr>
      </p:sp>
      <p:sp>
        <p:nvSpPr>
          <p:cNvPr id="38" name="Shape 36"/>
          <p:cNvSpPr/>
          <p:nvPr/>
        </p:nvSpPr>
        <p:spPr>
          <a:xfrm>
            <a:off x="4989715" y="4823460"/>
            <a:ext cx="137160" cy="137160"/>
          </a:xfrm>
          <a:prstGeom prst="ellipse">
            <a:avLst/>
          </a:prstGeom>
          <a:solidFill>
            <a:srgbClr val="1BAF7A">
              <a:alpha val="75000"/>
            </a:srgbClr>
          </a:solidFill>
          <a:ln/>
        </p:spPr>
      </p:sp>
      <p:sp>
        <p:nvSpPr>
          <p:cNvPr id="39" name="Shape 37"/>
          <p:cNvSpPr/>
          <p:nvPr/>
        </p:nvSpPr>
        <p:spPr>
          <a:xfrm>
            <a:off x="4989715" y="4823460"/>
            <a:ext cx="137160" cy="137160"/>
          </a:xfrm>
          <a:prstGeom prst="ellipse">
            <a:avLst/>
          </a:prstGeom>
          <a:solidFill>
            <a:srgbClr val="1BAF7A">
              <a:alpha val="75000"/>
            </a:srgbClr>
          </a:solidFill>
          <a:ln/>
        </p:spPr>
      </p:sp>
      <p:sp>
        <p:nvSpPr>
          <p:cNvPr id="40" name="Shape 38"/>
          <p:cNvSpPr/>
          <p:nvPr/>
        </p:nvSpPr>
        <p:spPr>
          <a:xfrm>
            <a:off x="4989715" y="4823460"/>
            <a:ext cx="137160" cy="137160"/>
          </a:xfrm>
          <a:prstGeom prst="ellipse">
            <a:avLst/>
          </a:prstGeom>
          <a:solidFill>
            <a:srgbClr val="1BAF7A">
              <a:alpha val="75000"/>
            </a:srgbClr>
          </a:solidFill>
          <a:ln/>
        </p:spPr>
      </p:sp>
      <p:sp>
        <p:nvSpPr>
          <p:cNvPr id="41" name="Shape 39"/>
          <p:cNvSpPr/>
          <p:nvPr/>
        </p:nvSpPr>
        <p:spPr>
          <a:xfrm>
            <a:off x="5175920" y="4823460"/>
            <a:ext cx="137160" cy="137160"/>
          </a:xfrm>
          <a:prstGeom prst="ellipse">
            <a:avLst/>
          </a:prstGeom>
          <a:solidFill>
            <a:srgbClr val="1BAF7A">
              <a:alpha val="75000"/>
            </a:srgbClr>
          </a:solidFill>
          <a:ln/>
        </p:spPr>
      </p:sp>
      <p:sp>
        <p:nvSpPr>
          <p:cNvPr id="42" name="Shape 40"/>
          <p:cNvSpPr/>
          <p:nvPr/>
        </p:nvSpPr>
        <p:spPr>
          <a:xfrm>
            <a:off x="5175920" y="4823460"/>
            <a:ext cx="137160" cy="137160"/>
          </a:xfrm>
          <a:prstGeom prst="ellipse">
            <a:avLst/>
          </a:prstGeom>
          <a:solidFill>
            <a:srgbClr val="1BAF7A">
              <a:alpha val="75000"/>
            </a:srgbClr>
          </a:solidFill>
          <a:ln/>
        </p:spPr>
      </p:sp>
      <p:sp>
        <p:nvSpPr>
          <p:cNvPr id="43" name="Shape 41"/>
          <p:cNvSpPr/>
          <p:nvPr/>
        </p:nvSpPr>
        <p:spPr>
          <a:xfrm>
            <a:off x="5175920" y="4823460"/>
            <a:ext cx="137160" cy="137160"/>
          </a:xfrm>
          <a:prstGeom prst="ellipse">
            <a:avLst/>
          </a:prstGeom>
          <a:solidFill>
            <a:srgbClr val="1BAF7A">
              <a:alpha val="75000"/>
            </a:srgbClr>
          </a:solidFill>
          <a:ln/>
        </p:spPr>
      </p:sp>
      <p:sp>
        <p:nvSpPr>
          <p:cNvPr id="44" name="Shape 42"/>
          <p:cNvSpPr/>
          <p:nvPr/>
        </p:nvSpPr>
        <p:spPr>
          <a:xfrm>
            <a:off x="5455227" y="4823460"/>
            <a:ext cx="137160" cy="137160"/>
          </a:xfrm>
          <a:prstGeom prst="ellipse">
            <a:avLst/>
          </a:prstGeom>
          <a:solidFill>
            <a:srgbClr val="1BAF7A">
              <a:alpha val="75000"/>
            </a:srgbClr>
          </a:solidFill>
          <a:ln/>
        </p:spPr>
      </p:sp>
      <p:sp>
        <p:nvSpPr>
          <p:cNvPr id="45" name="Text 43"/>
          <p:cNvSpPr/>
          <p:nvPr/>
        </p:nvSpPr>
        <p:spPr>
          <a:xfrm>
            <a:off x="777240" y="5038344"/>
            <a:ext cx="1463040" cy="256032"/>
          </a:xfrm>
          <a:prstGeom prst="rect">
            <a:avLst/>
          </a:prstGeom>
          <a:noFill/>
          <a:ln/>
        </p:spPr>
        <p:txBody>
          <a:bodyPr wrap="square" lIns="0" tIns="0" rIns="0" bIns="0" rtlCol="0" anchor="ctr"/>
          <a:lstStyle/>
          <a:p>
            <a:pPr indent="0" marL="0">
              <a:buNone/>
            </a:pPr>
            <a:r>
              <a:rPr lang="en-US" sz="950" dirty="0">
                <a:solidFill>
                  <a:srgbClr val="E2665A"/>
                </a:solidFill>
                <a:latin typeface="Yu Gothic" pitchFamily="34" charset="0"/>
                <a:ea typeface="Yu Gothic" pitchFamily="34" charset="-122"/>
                <a:cs typeface="Yu Gothic" pitchFamily="34" charset="-120"/>
              </a:rPr>
              <a:t>低い群 10回</a:t>
            </a:r>
            <a:endParaRPr lang="en-US" sz="950" dirty="0"/>
          </a:p>
        </p:txBody>
      </p:sp>
      <p:sp>
        <p:nvSpPr>
          <p:cNvPr id="46" name="Text 44"/>
          <p:cNvSpPr/>
          <p:nvPr/>
        </p:nvSpPr>
        <p:spPr>
          <a:xfrm>
            <a:off x="3017520" y="5038344"/>
            <a:ext cx="1097280" cy="256032"/>
          </a:xfrm>
          <a:prstGeom prst="rect">
            <a:avLst/>
          </a:prstGeom>
          <a:noFill/>
          <a:ln/>
        </p:spPr>
        <p:txBody>
          <a:bodyPr wrap="square" lIns="0" tIns="0" rIns="0" bIns="0" rtlCol="0" anchor="ctr"/>
          <a:lstStyle/>
          <a:p>
            <a:pPr algn="ctr" indent="0" marL="0">
              <a:buNone/>
            </a:pPr>
            <a:r>
              <a:rPr lang="en-US" sz="950" dirty="0">
                <a:solidFill>
                  <a:srgbClr val="E8A33D"/>
                </a:solidFill>
                <a:latin typeface="Yu Gothic" pitchFamily="34" charset="0"/>
                <a:ea typeface="Yu Gothic" pitchFamily="34" charset="-122"/>
                <a:cs typeface="Yu Gothic" pitchFamily="34" charset="-120"/>
              </a:rPr>
              <a:t>中間 1回</a:t>
            </a:r>
            <a:endParaRPr lang="en-US" sz="950" dirty="0"/>
          </a:p>
        </p:txBody>
      </p:sp>
      <p:sp>
        <p:nvSpPr>
          <p:cNvPr id="47" name="Text 45"/>
          <p:cNvSpPr/>
          <p:nvPr/>
        </p:nvSpPr>
        <p:spPr>
          <a:xfrm>
            <a:off x="4617720" y="5038344"/>
            <a:ext cx="1371600" cy="256032"/>
          </a:xfrm>
          <a:prstGeom prst="rect">
            <a:avLst/>
          </a:prstGeom>
          <a:noFill/>
          <a:ln/>
        </p:spPr>
        <p:txBody>
          <a:bodyPr wrap="square" lIns="0" tIns="0" rIns="0" bIns="0" rtlCol="0" anchor="ctr"/>
          <a:lstStyle/>
          <a:p>
            <a:pPr algn="r" indent="0" marL="0">
              <a:buNone/>
            </a:pPr>
            <a:r>
              <a:rPr lang="en-US" sz="950" dirty="0">
                <a:solidFill>
                  <a:srgbClr val="1BAF7A"/>
                </a:solidFill>
                <a:latin typeface="Yu Gothic" pitchFamily="34" charset="0"/>
                <a:ea typeface="Yu Gothic" pitchFamily="34" charset="-122"/>
                <a:cs typeface="Yu Gothic" pitchFamily="34" charset="-120"/>
              </a:rPr>
              <a:t>高い群 13回</a:t>
            </a:r>
            <a:endParaRPr lang="en-US" sz="950" dirty="0"/>
          </a:p>
        </p:txBody>
      </p:sp>
      <p:sp>
        <p:nvSpPr>
          <p:cNvPr id="48" name="Shape 46"/>
          <p:cNvSpPr/>
          <p:nvPr/>
        </p:nvSpPr>
        <p:spPr>
          <a:xfrm>
            <a:off x="6720840" y="182880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49" name="Shape 47"/>
          <p:cNvSpPr/>
          <p:nvPr/>
        </p:nvSpPr>
        <p:spPr>
          <a:xfrm>
            <a:off x="7018020" y="2052828"/>
            <a:ext cx="502920" cy="502920"/>
          </a:xfrm>
          <a:prstGeom prst="ellipse">
            <a:avLst/>
          </a:prstGeom>
          <a:solidFill>
            <a:srgbClr val="E2665A"/>
          </a:solidFill>
          <a:ln w="9525">
            <a:solidFill>
              <a:srgbClr val="E2665A"/>
            </a:solidFill>
            <a:prstDash val="solid"/>
          </a:ln>
        </p:spPr>
      </p:sp>
      <p:pic>
        <p:nvPicPr>
          <p:cNvPr id="50" name="Image 0" descr="preencoded.png">    </p:cNvPr>
          <p:cNvPicPr>
            <a:picLocks noChangeAspect="1"/>
          </p:cNvPicPr>
          <p:nvPr/>
        </p:nvPicPr>
        <p:blipFill>
          <a:blip r:embed="rId1"/>
          <a:stretch>
            <a:fillRect/>
          </a:stretch>
        </p:blipFill>
        <p:spPr>
          <a:xfrm>
            <a:off x="7148779" y="2183587"/>
            <a:ext cx="241402" cy="241402"/>
          </a:xfrm>
          <a:prstGeom prst="rect">
            <a:avLst/>
          </a:prstGeom>
        </p:spPr>
      </p:pic>
      <p:sp>
        <p:nvSpPr>
          <p:cNvPr id="51" name="Text 48"/>
          <p:cNvSpPr/>
          <p:nvPr/>
        </p:nvSpPr>
        <p:spPr>
          <a:xfrm>
            <a:off x="7680960" y="2084832"/>
            <a:ext cx="3749040" cy="411480"/>
          </a:xfrm>
          <a:prstGeom prst="rect">
            <a:avLst/>
          </a:prstGeom>
          <a:noFill/>
          <a:ln/>
        </p:spPr>
        <p:txBody>
          <a:bodyPr wrap="square" lIns="0" tIns="0" rIns="0" bIns="0" rtlCol="0" anchor="ctr"/>
          <a:lstStyle/>
          <a:p>
            <a:pPr indent="0" marL="0">
              <a:buNone/>
            </a:pPr>
            <a:r>
              <a:rPr lang="en-US" sz="1300" b="1" dirty="0">
                <a:solidFill>
                  <a:srgbClr val="E2665A"/>
                </a:solidFill>
                <a:latin typeface="Yu Gothic" pitchFamily="34" charset="0"/>
                <a:ea typeface="Yu Gothic" pitchFamily="34" charset="-122"/>
                <a:cs typeface="Yu Gothic" pitchFamily="34" charset="-120"/>
              </a:rPr>
              <a:t>介入の効果は再現しなかった</a:t>
            </a:r>
            <a:endParaRPr lang="en-US" sz="1300" dirty="0"/>
          </a:p>
        </p:txBody>
      </p:sp>
      <p:sp>
        <p:nvSpPr>
          <p:cNvPr id="52" name="Text 49"/>
          <p:cNvSpPr/>
          <p:nvPr/>
        </p:nvSpPr>
        <p:spPr>
          <a:xfrm>
            <a:off x="6995160" y="269748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L1→L3の自律度差はSonnetで+18.0、Opus 5では−1.2（標準誤差の0.19倍）。この条件では効果を検出できなかった。</a:t>
            </a:r>
            <a:endParaRPr lang="en-US" sz="1050" dirty="0"/>
          </a:p>
        </p:txBody>
      </p:sp>
      <p:sp>
        <p:nvSpPr>
          <p:cNvPr id="53" name="Shape 50"/>
          <p:cNvSpPr/>
          <p:nvPr/>
        </p:nvSpPr>
        <p:spPr>
          <a:xfrm>
            <a:off x="6720840" y="374904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54" name="Shape 51"/>
          <p:cNvSpPr/>
          <p:nvPr/>
        </p:nvSpPr>
        <p:spPr>
          <a:xfrm>
            <a:off x="7018020" y="3973068"/>
            <a:ext cx="502920" cy="502920"/>
          </a:xfrm>
          <a:prstGeom prst="ellipse">
            <a:avLst/>
          </a:prstGeom>
          <a:solidFill>
            <a:srgbClr val="1BAF7A"/>
          </a:solidFill>
          <a:ln w="9525">
            <a:solidFill>
              <a:srgbClr val="1BAF7A"/>
            </a:solidFill>
            <a:prstDash val="solid"/>
          </a:ln>
        </p:spPr>
      </p:sp>
      <p:pic>
        <p:nvPicPr>
          <p:cNvPr id="55" name="Image 1" descr="preencoded.png">    </p:cNvPr>
          <p:cNvPicPr>
            <a:picLocks noChangeAspect="1"/>
          </p:cNvPicPr>
          <p:nvPr/>
        </p:nvPicPr>
        <p:blipFill>
          <a:blip r:embed="rId2"/>
          <a:stretch>
            <a:fillRect/>
          </a:stretch>
        </p:blipFill>
        <p:spPr>
          <a:xfrm>
            <a:off x="7148779" y="4103827"/>
            <a:ext cx="241402" cy="241402"/>
          </a:xfrm>
          <a:prstGeom prst="rect">
            <a:avLst/>
          </a:prstGeom>
        </p:spPr>
      </p:pic>
      <p:sp>
        <p:nvSpPr>
          <p:cNvPr id="56" name="Text 52"/>
          <p:cNvSpPr/>
          <p:nvPr/>
        </p:nvSpPr>
        <p:spPr>
          <a:xfrm>
            <a:off x="7680960" y="4005072"/>
            <a:ext cx="3749040" cy="411480"/>
          </a:xfrm>
          <a:prstGeom prst="rect">
            <a:avLst/>
          </a:prstGeom>
          <a:noFill/>
          <a:ln/>
        </p:spPr>
        <p:txBody>
          <a:bodyPr wrap="square" lIns="0" tIns="0" rIns="0" bIns="0" rtlCol="0" anchor="ctr"/>
          <a:lstStyle/>
          <a:p>
            <a:pPr indent="0" marL="0">
              <a:buNone/>
            </a:pPr>
            <a:r>
              <a:rPr lang="en-US" sz="1300" b="1" dirty="0">
                <a:solidFill>
                  <a:srgbClr val="1BAF7A"/>
                </a:solidFill>
                <a:latin typeface="Yu Gothic" pitchFamily="34" charset="0"/>
                <a:ea typeface="Yu Gothic" pitchFamily="34" charset="-122"/>
                <a:cs typeface="Yu Gothic" pitchFamily="34" charset="-120"/>
              </a:rPr>
              <a:t>2つに分かれること自体は両方で観測</a:t>
            </a:r>
            <a:endParaRPr lang="en-US" sz="1300" dirty="0"/>
          </a:p>
        </p:txBody>
      </p:sp>
      <p:sp>
        <p:nvSpPr>
          <p:cNvPr id="57" name="Text 53"/>
          <p:cNvSpPr/>
          <p:nvPr/>
        </p:nvSpPr>
        <p:spPr>
          <a:xfrm>
            <a:off x="6995160" y="461772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Opus 5でも24回中23回がどちらかの塊に落ちた（Sonnetは25回中22回）。ただし比べたのは2モデルのみ。</a:t>
            </a:r>
            <a:endParaRPr lang="en-US" sz="1050" dirty="0"/>
          </a:p>
        </p:txBody>
      </p:sp>
      <p:sp>
        <p:nvSpPr>
          <p:cNvPr id="58" name="Shape 54"/>
          <p:cNvSpPr/>
          <p:nvPr/>
        </p:nvSpPr>
        <p:spPr>
          <a:xfrm>
            <a:off x="548640" y="580644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9" name="Text 55"/>
          <p:cNvSpPr/>
          <p:nvPr/>
        </p:nvSpPr>
        <p:spPr>
          <a:xfrm>
            <a:off x="868680" y="580644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2つに分かれる現象は両モデルで観測できた。一方「何を変えれば動くか」は移らなかった。</a:t>
            </a:r>
            <a:endParaRPr lang="en-US" sz="1400" dirty="0"/>
          </a:p>
        </p:txBody>
      </p:sp>
      <p:sp>
        <p:nvSpPr>
          <p:cNvPr id="60" name="Text 5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61" name="Text 5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FFFFFF"/>
                </a:solidFill>
                <a:latin typeface="Yu Gothic" pitchFamily="34" charset="0"/>
                <a:ea typeface="Yu Gothic" pitchFamily="34" charset="-122"/>
                <a:cs typeface="Yu Gothic" pitchFamily="34" charset="-120"/>
              </a:rPr>
              <a:t>「一人を変えられること」と「集団が変わること」は別だった</a:t>
            </a:r>
            <a:endParaRPr lang="en-US" sz="27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同じ介入差（L1→L3）で、各段の動いた量を揃えて測った。</a:t>
            </a:r>
            <a:endParaRPr lang="en-US" sz="1400" dirty="0"/>
          </a:p>
        </p:txBody>
      </p:sp>
      <p:sp>
        <p:nvSpPr>
          <p:cNvPr id="4" name="Shape 2"/>
          <p:cNvSpPr/>
          <p:nvPr/>
        </p:nvSpPr>
        <p:spPr>
          <a:xfrm>
            <a:off x="548640" y="16184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77240" y="17099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Sonnet 4.5 条件</a:t>
            </a:r>
            <a:endParaRPr lang="en-US" sz="1150" dirty="0"/>
          </a:p>
        </p:txBody>
      </p:sp>
      <p:sp>
        <p:nvSpPr>
          <p:cNvPr id="6" name="Shape 4"/>
          <p:cNvSpPr/>
          <p:nvPr/>
        </p:nvSpPr>
        <p:spPr>
          <a:xfrm>
            <a:off x="868680" y="2258568"/>
            <a:ext cx="1728216" cy="749808"/>
          </a:xfrm>
          <a:prstGeom prst="roundRect">
            <a:avLst>
              <a:gd name="adj" fmla="val 12195"/>
            </a:avLst>
          </a:prstGeom>
          <a:solidFill>
            <a:srgbClr val="0B1220"/>
          </a:solidFill>
          <a:ln w="12700">
            <a:solidFill>
              <a:srgbClr val="5B6480"/>
            </a:solidFill>
            <a:prstDash val="solid"/>
          </a:ln>
        </p:spPr>
      </p:sp>
      <p:sp>
        <p:nvSpPr>
          <p:cNvPr id="7" name="Text 5"/>
          <p:cNvSpPr/>
          <p:nvPr/>
        </p:nvSpPr>
        <p:spPr>
          <a:xfrm>
            <a:off x="868680"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8" name="Shape 6"/>
          <p:cNvSpPr/>
          <p:nvPr/>
        </p:nvSpPr>
        <p:spPr>
          <a:xfrm>
            <a:off x="3767328" y="2258568"/>
            <a:ext cx="1728216" cy="749808"/>
          </a:xfrm>
          <a:prstGeom prst="roundRect">
            <a:avLst>
              <a:gd name="adj" fmla="val 12195"/>
            </a:avLst>
          </a:prstGeom>
          <a:solidFill>
            <a:srgbClr val="0B1220"/>
          </a:solidFill>
          <a:ln w="19050">
            <a:solidFill>
              <a:srgbClr val="E8A33D"/>
            </a:solidFill>
            <a:prstDash val="solid"/>
          </a:ln>
        </p:spPr>
      </p:sp>
      <p:sp>
        <p:nvSpPr>
          <p:cNvPr id="9" name="Text 7"/>
          <p:cNvSpPr/>
          <p:nvPr/>
        </p:nvSpPr>
        <p:spPr>
          <a:xfrm>
            <a:off x="3767328" y="22585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10" name="Shape 8"/>
          <p:cNvSpPr/>
          <p:nvPr/>
        </p:nvSpPr>
        <p:spPr>
          <a:xfrm>
            <a:off x="6665976" y="2258568"/>
            <a:ext cx="1728216" cy="749808"/>
          </a:xfrm>
          <a:prstGeom prst="roundRect">
            <a:avLst>
              <a:gd name="adj" fmla="val 12195"/>
            </a:avLst>
          </a:prstGeom>
          <a:solidFill>
            <a:srgbClr val="0B1220"/>
          </a:solidFill>
          <a:ln w="12700">
            <a:solidFill>
              <a:srgbClr val="5B6480"/>
            </a:solidFill>
            <a:prstDash val="solid"/>
          </a:ln>
        </p:spPr>
      </p:sp>
      <p:sp>
        <p:nvSpPr>
          <p:cNvPr id="11" name="Text 9"/>
          <p:cNvSpPr/>
          <p:nvPr/>
        </p:nvSpPr>
        <p:spPr>
          <a:xfrm>
            <a:off x="6665976"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12" name="Shape 10"/>
          <p:cNvSpPr/>
          <p:nvPr/>
        </p:nvSpPr>
        <p:spPr>
          <a:xfrm>
            <a:off x="9564624" y="2258568"/>
            <a:ext cx="1728216" cy="749808"/>
          </a:xfrm>
          <a:prstGeom prst="roundRect">
            <a:avLst>
              <a:gd name="adj" fmla="val 12195"/>
            </a:avLst>
          </a:prstGeom>
          <a:solidFill>
            <a:srgbClr val="1C2C4A"/>
          </a:solidFill>
          <a:ln w="12700">
            <a:solidFill>
              <a:srgbClr val="1BAF7A"/>
            </a:solidFill>
            <a:prstDash val="solid"/>
          </a:ln>
        </p:spPr>
      </p:sp>
      <p:sp>
        <p:nvSpPr>
          <p:cNvPr id="13" name="Text 11"/>
          <p:cNvSpPr/>
          <p:nvPr/>
        </p:nvSpPr>
        <p:spPr>
          <a:xfrm>
            <a:off x="9564624"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14" name="Text 12"/>
          <p:cNvSpPr/>
          <p:nvPr/>
        </p:nvSpPr>
        <p:spPr>
          <a:xfrm>
            <a:off x="9427464" y="3044952"/>
            <a:ext cx="2002536" cy="292608"/>
          </a:xfrm>
          <a:prstGeom prst="rect">
            <a:avLst/>
          </a:prstGeom>
          <a:noFill/>
          <a:ln/>
        </p:spPr>
        <p:txBody>
          <a:bodyPr wrap="square" lIns="0" tIns="0" rIns="0" bIns="0" rtlCol="0" anchor="ctr"/>
          <a:lstStyle/>
          <a:p>
            <a:pPr algn="ctr" indent="0" marL="0">
              <a:buNone/>
            </a:pPr>
            <a:r>
              <a:rPr lang="en-US" sz="1200" b="1" dirty="0">
                <a:solidFill>
                  <a:srgbClr val="1BAF7A"/>
                </a:solidFill>
                <a:latin typeface="Yu Gothic" pitchFamily="34" charset="0"/>
                <a:ea typeface="Yu Gothic" pitchFamily="34" charset="-122"/>
                <a:cs typeface="Yu Gothic" pitchFamily="34" charset="-120"/>
              </a:rPr>
              <a:t>自律度 +18.0</a:t>
            </a:r>
            <a:endParaRPr lang="en-US" sz="1200" dirty="0"/>
          </a:p>
        </p:txBody>
      </p:sp>
      <p:sp>
        <p:nvSpPr>
          <p:cNvPr id="15" name="Shape 13"/>
          <p:cNvSpPr/>
          <p:nvPr/>
        </p:nvSpPr>
        <p:spPr>
          <a:xfrm>
            <a:off x="2706624" y="2633472"/>
            <a:ext cx="950976" cy="0"/>
          </a:xfrm>
          <a:prstGeom prst="line">
            <a:avLst/>
          </a:prstGeom>
          <a:noFill/>
          <a:ln w="15875">
            <a:solidFill>
              <a:srgbClr val="5B6480"/>
            </a:solidFill>
            <a:prstDash val="solid"/>
            <a:tailEnd type="triangle"/>
          </a:ln>
        </p:spPr>
      </p:sp>
      <p:sp>
        <p:nvSpPr>
          <p:cNvPr id="16" name="Text 14"/>
          <p:cNvSpPr/>
          <p:nvPr/>
        </p:nvSpPr>
        <p:spPr>
          <a:xfrm>
            <a:off x="2596896" y="21579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(A) 44.4pt</a:t>
            </a:r>
            <a:endParaRPr lang="en-US" sz="1000" dirty="0"/>
          </a:p>
        </p:txBody>
      </p:sp>
      <p:sp>
        <p:nvSpPr>
          <p:cNvPr id="17" name="Shape 15"/>
          <p:cNvSpPr/>
          <p:nvPr/>
        </p:nvSpPr>
        <p:spPr>
          <a:xfrm>
            <a:off x="5605272" y="2633472"/>
            <a:ext cx="950976" cy="0"/>
          </a:xfrm>
          <a:prstGeom prst="line">
            <a:avLst/>
          </a:prstGeom>
          <a:noFill/>
          <a:ln w="57150">
            <a:solidFill>
              <a:srgbClr val="1BAF7A"/>
            </a:solidFill>
            <a:prstDash val="solid"/>
            <a:tailEnd type="triangle"/>
          </a:ln>
        </p:spPr>
      </p:sp>
      <p:sp>
        <p:nvSpPr>
          <p:cNvPr id="18" name="Text 16"/>
          <p:cNvSpPr/>
          <p:nvPr/>
        </p:nvSpPr>
        <p:spPr>
          <a:xfrm>
            <a:off x="5495544" y="21579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(B) 22.2pt</a:t>
            </a:r>
            <a:endParaRPr lang="en-US" sz="1000" dirty="0"/>
          </a:p>
        </p:txBody>
      </p:sp>
      <p:sp>
        <p:nvSpPr>
          <p:cNvPr id="19" name="Shape 17"/>
          <p:cNvSpPr/>
          <p:nvPr/>
        </p:nvSpPr>
        <p:spPr>
          <a:xfrm>
            <a:off x="8503920" y="2633472"/>
            <a:ext cx="950976" cy="0"/>
          </a:xfrm>
          <a:prstGeom prst="line">
            <a:avLst/>
          </a:prstGeom>
          <a:noFill/>
          <a:ln w="15875">
            <a:solidFill>
              <a:srgbClr val="9AA4C0"/>
            </a:solidFill>
            <a:prstDash val="solid"/>
            <a:tailEnd type="triangle"/>
          </a:ln>
        </p:spPr>
      </p:sp>
      <p:sp>
        <p:nvSpPr>
          <p:cNvPr id="20" name="Shape 18"/>
          <p:cNvSpPr/>
          <p:nvPr/>
        </p:nvSpPr>
        <p:spPr>
          <a:xfrm>
            <a:off x="548640" y="36758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777240" y="37673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Opus 5 条件</a:t>
            </a:r>
            <a:endParaRPr lang="en-US" sz="1150" dirty="0"/>
          </a:p>
        </p:txBody>
      </p:sp>
      <p:sp>
        <p:nvSpPr>
          <p:cNvPr id="22" name="Shape 20"/>
          <p:cNvSpPr/>
          <p:nvPr/>
        </p:nvSpPr>
        <p:spPr>
          <a:xfrm>
            <a:off x="868680" y="4315968"/>
            <a:ext cx="1728216" cy="749808"/>
          </a:xfrm>
          <a:prstGeom prst="roundRect">
            <a:avLst>
              <a:gd name="adj" fmla="val 12195"/>
            </a:avLst>
          </a:prstGeom>
          <a:solidFill>
            <a:srgbClr val="0B1220"/>
          </a:solidFill>
          <a:ln w="12700">
            <a:solidFill>
              <a:srgbClr val="5B6480"/>
            </a:solidFill>
            <a:prstDash val="solid"/>
          </a:ln>
        </p:spPr>
      </p:sp>
      <p:sp>
        <p:nvSpPr>
          <p:cNvPr id="23" name="Text 21"/>
          <p:cNvSpPr/>
          <p:nvPr/>
        </p:nvSpPr>
        <p:spPr>
          <a:xfrm>
            <a:off x="868680"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24" name="Shape 22"/>
          <p:cNvSpPr/>
          <p:nvPr/>
        </p:nvSpPr>
        <p:spPr>
          <a:xfrm>
            <a:off x="3767328" y="4315968"/>
            <a:ext cx="1728216" cy="749808"/>
          </a:xfrm>
          <a:prstGeom prst="roundRect">
            <a:avLst>
              <a:gd name="adj" fmla="val 12195"/>
            </a:avLst>
          </a:prstGeom>
          <a:solidFill>
            <a:srgbClr val="0B1220"/>
          </a:solidFill>
          <a:ln w="19050">
            <a:solidFill>
              <a:srgbClr val="E8A33D"/>
            </a:solidFill>
            <a:prstDash val="solid"/>
          </a:ln>
        </p:spPr>
      </p:sp>
      <p:sp>
        <p:nvSpPr>
          <p:cNvPr id="25" name="Text 23"/>
          <p:cNvSpPr/>
          <p:nvPr/>
        </p:nvSpPr>
        <p:spPr>
          <a:xfrm>
            <a:off x="3767328" y="43159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26" name="Shape 24"/>
          <p:cNvSpPr/>
          <p:nvPr/>
        </p:nvSpPr>
        <p:spPr>
          <a:xfrm>
            <a:off x="6665976" y="4315968"/>
            <a:ext cx="1728216" cy="749808"/>
          </a:xfrm>
          <a:prstGeom prst="roundRect">
            <a:avLst>
              <a:gd name="adj" fmla="val 12195"/>
            </a:avLst>
          </a:prstGeom>
          <a:solidFill>
            <a:srgbClr val="0B1220"/>
          </a:solidFill>
          <a:ln w="12700">
            <a:solidFill>
              <a:srgbClr val="5B6480"/>
            </a:solidFill>
            <a:prstDash val="solid"/>
          </a:ln>
        </p:spPr>
      </p:sp>
      <p:sp>
        <p:nvSpPr>
          <p:cNvPr id="27" name="Text 25"/>
          <p:cNvSpPr/>
          <p:nvPr/>
        </p:nvSpPr>
        <p:spPr>
          <a:xfrm>
            <a:off x="6665976"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28" name="Shape 26"/>
          <p:cNvSpPr/>
          <p:nvPr/>
        </p:nvSpPr>
        <p:spPr>
          <a:xfrm>
            <a:off x="9564624" y="4315968"/>
            <a:ext cx="1728216" cy="749808"/>
          </a:xfrm>
          <a:prstGeom prst="roundRect">
            <a:avLst>
              <a:gd name="adj" fmla="val 12195"/>
            </a:avLst>
          </a:prstGeom>
          <a:solidFill>
            <a:srgbClr val="1C2C4A"/>
          </a:solidFill>
          <a:ln w="12700">
            <a:solidFill>
              <a:srgbClr val="E2665A"/>
            </a:solidFill>
            <a:prstDash val="solid"/>
          </a:ln>
        </p:spPr>
      </p:sp>
      <p:sp>
        <p:nvSpPr>
          <p:cNvPr id="29" name="Text 27"/>
          <p:cNvSpPr/>
          <p:nvPr/>
        </p:nvSpPr>
        <p:spPr>
          <a:xfrm>
            <a:off x="9564624"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30" name="Text 28"/>
          <p:cNvSpPr/>
          <p:nvPr/>
        </p:nvSpPr>
        <p:spPr>
          <a:xfrm>
            <a:off x="9427464" y="5102352"/>
            <a:ext cx="2002536" cy="292608"/>
          </a:xfrm>
          <a:prstGeom prst="rect">
            <a:avLst/>
          </a:prstGeom>
          <a:noFill/>
          <a:ln/>
        </p:spPr>
        <p:txBody>
          <a:bodyPr wrap="square" lIns="0" tIns="0" rIns="0" bIns="0" rtlCol="0" anchor="ctr"/>
          <a:lstStyle/>
          <a:p>
            <a:pPr algn="ctr" indent="0" marL="0">
              <a:buNone/>
            </a:pPr>
            <a:r>
              <a:rPr lang="en-US" sz="1200" b="1" dirty="0">
                <a:solidFill>
                  <a:srgbClr val="E2665A"/>
                </a:solidFill>
                <a:latin typeface="Yu Gothic" pitchFamily="34" charset="0"/>
                <a:ea typeface="Yu Gothic" pitchFamily="34" charset="-122"/>
                <a:cs typeface="Yu Gothic" pitchFamily="34" charset="-120"/>
              </a:rPr>
              <a:t>自律度 −1.2</a:t>
            </a:r>
            <a:endParaRPr lang="en-US" sz="1200" dirty="0"/>
          </a:p>
        </p:txBody>
      </p:sp>
      <p:sp>
        <p:nvSpPr>
          <p:cNvPr id="31" name="Shape 29"/>
          <p:cNvSpPr/>
          <p:nvPr/>
        </p:nvSpPr>
        <p:spPr>
          <a:xfrm>
            <a:off x="2706624" y="4690872"/>
            <a:ext cx="950976" cy="0"/>
          </a:xfrm>
          <a:prstGeom prst="line">
            <a:avLst/>
          </a:prstGeom>
          <a:noFill/>
          <a:ln w="57150">
            <a:solidFill>
              <a:srgbClr val="1BAF7A"/>
            </a:solidFill>
            <a:prstDash val="solid"/>
            <a:tailEnd type="triangle"/>
          </a:ln>
        </p:spPr>
      </p:sp>
      <p:sp>
        <p:nvSpPr>
          <p:cNvPr id="32" name="Text 30"/>
          <p:cNvSpPr/>
          <p:nvPr/>
        </p:nvSpPr>
        <p:spPr>
          <a:xfrm>
            <a:off x="2596896" y="42153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(A) 50.0pt</a:t>
            </a:r>
            <a:endParaRPr lang="en-US" sz="1000" dirty="0"/>
          </a:p>
        </p:txBody>
      </p:sp>
      <p:sp>
        <p:nvSpPr>
          <p:cNvPr id="33" name="Shape 31"/>
          <p:cNvSpPr/>
          <p:nvPr/>
        </p:nvSpPr>
        <p:spPr>
          <a:xfrm>
            <a:off x="5605272" y="4690872"/>
            <a:ext cx="950976" cy="0"/>
          </a:xfrm>
          <a:prstGeom prst="line">
            <a:avLst/>
          </a:prstGeom>
          <a:noFill/>
          <a:ln w="15875">
            <a:solidFill>
              <a:srgbClr val="5B6480"/>
            </a:solidFill>
            <a:prstDash val="solid"/>
            <a:tailEnd type="triangle"/>
          </a:ln>
        </p:spPr>
      </p:sp>
      <p:sp>
        <p:nvSpPr>
          <p:cNvPr id="34" name="Text 32"/>
          <p:cNvSpPr/>
          <p:nvPr/>
        </p:nvSpPr>
        <p:spPr>
          <a:xfrm>
            <a:off x="5495544" y="42153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(B) 8.3pt</a:t>
            </a:r>
            <a:endParaRPr lang="en-US" sz="1000" dirty="0"/>
          </a:p>
        </p:txBody>
      </p:sp>
      <p:sp>
        <p:nvSpPr>
          <p:cNvPr id="35" name="Shape 33"/>
          <p:cNvSpPr/>
          <p:nvPr/>
        </p:nvSpPr>
        <p:spPr>
          <a:xfrm>
            <a:off x="8503920" y="4690872"/>
            <a:ext cx="950976" cy="0"/>
          </a:xfrm>
          <a:prstGeom prst="line">
            <a:avLst/>
          </a:prstGeom>
          <a:noFill/>
          <a:ln w="15875">
            <a:solidFill>
              <a:srgbClr val="9AA4C0"/>
            </a:solidFill>
            <a:prstDash val="solid"/>
            <a:tailEnd type="triangle"/>
          </a:ln>
        </p:spPr>
      </p:sp>
      <p:sp>
        <p:nvSpPr>
          <p:cNvPr id="36" name="Shape 34"/>
          <p:cNvSpPr/>
          <p:nvPr/>
        </p:nvSpPr>
        <p:spPr>
          <a:xfrm>
            <a:off x="548640" y="5623560"/>
            <a:ext cx="11091672" cy="658368"/>
          </a:xfrm>
          <a:prstGeom prst="roundRect">
            <a:avLst>
              <a:gd name="adj" fmla="val 13889"/>
            </a:avLst>
          </a:prstGeom>
          <a:solidFill>
            <a:srgbClr val="1C2C4A"/>
          </a:solidFill>
          <a:ln/>
          <a:effectLst>
            <a:outerShdw sx="100000" sy="100000" kx="0" ky="0" algn="bl" rotWithShape="0" blurRad="101600" dist="38100" dir="5400000">
              <a:srgbClr val="000000">
                <a:alpha val="35000"/>
              </a:srgbClr>
            </a:outerShdw>
          </a:effectLst>
        </p:spPr>
      </p:sp>
      <p:sp>
        <p:nvSpPr>
          <p:cNvPr id="37" name="Text 35"/>
          <p:cNvSpPr/>
          <p:nvPr/>
        </p:nvSpPr>
        <p:spPr>
          <a:xfrm>
            <a:off x="868680" y="5623560"/>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本人の変化量はほぼ互角（44.4 対 50.0）。それでも村全体の結果は大きく分かれた。</a:t>
            </a:r>
            <a:endParaRPr lang="en-US" sz="1400" dirty="0"/>
          </a:p>
        </p:txBody>
      </p:sp>
      <p:sp>
        <p:nvSpPr>
          <p:cNvPr id="38" name="Text 36"/>
          <p:cNvSpPr/>
          <p:nvPr/>
        </p:nvSpPr>
        <p:spPr>
          <a:xfrm>
            <a:off x="548640" y="6355080"/>
            <a:ext cx="11091672" cy="274320"/>
          </a:xfrm>
          <a:prstGeom prst="rect">
            <a:avLst/>
          </a:prstGeom>
          <a:noFill/>
          <a:ln/>
        </p:spPr>
        <p:txBody>
          <a:bodyPr wrap="square" lIns="0" tIns="0" rIns="0" bIns="0" rtlCol="0" anchor="ctr"/>
          <a:lstStyle/>
          <a:p>
            <a:pPr algn="ctr" indent="0" marL="0">
              <a:buNone/>
            </a:pPr>
            <a:r>
              <a:rPr lang="en-US" sz="900" dirty="0">
                <a:solidFill>
                  <a:srgbClr val="5B6480"/>
                </a:solidFill>
                <a:latin typeface="Yu Gothic" pitchFamily="34" charset="0"/>
                <a:ea typeface="Yu Gothic" pitchFamily="34" charset="-122"/>
                <a:cs typeface="Yu Gothic" pitchFamily="34" charset="-120"/>
              </a:rPr>
              <a:t>(A)(B)とも「L1→L3で発言分類の割合が動いた量の合計」。(A)は3分類・(B)は2分類の合計のため、AとBの絶対値どうしは比較せず、同じ指標のモデル間の大小のみを見る。</a:t>
            </a:r>
            <a:endParaRPr lang="en-US" sz="900" dirty="0"/>
          </a:p>
        </p:txBody>
      </p:sp>
      <p:sp>
        <p:nvSpPr>
          <p:cNvPr id="39" name="Text 3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40" name="Text 3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どこまで言えて、どこからが仮説か</a:t>
            </a:r>
            <a:endParaRPr lang="en-US" sz="3000" dirty="0"/>
          </a:p>
        </p:txBody>
      </p:sp>
      <p:sp>
        <p:nvSpPr>
          <p:cNvPr id="3" name="Shape 1"/>
          <p:cNvSpPr/>
          <p:nvPr/>
        </p:nvSpPr>
        <p:spPr>
          <a:xfrm>
            <a:off x="548640" y="160020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50976" y="2011680"/>
            <a:ext cx="658368" cy="658368"/>
          </a:xfrm>
          <a:prstGeom prst="ellipse">
            <a:avLst/>
          </a:prstGeom>
          <a:solidFill>
            <a:srgbClr val="1BAF7A"/>
          </a:solidFill>
          <a:ln w="9525">
            <a:solidFill>
              <a:srgbClr val="1BAF7A"/>
            </a:solidFill>
            <a:prstDash val="solid"/>
          </a:ln>
        </p:spPr>
      </p:sp>
      <p:pic>
        <p:nvPicPr>
          <p:cNvPr id="5" name="Image 0" descr="preencoded.png">    </p:cNvPr>
          <p:cNvPicPr>
            <a:picLocks noChangeAspect="1"/>
          </p:cNvPicPr>
          <p:nvPr/>
        </p:nvPicPr>
        <p:blipFill>
          <a:blip r:embed="rId1"/>
          <a:stretch>
            <a:fillRect/>
          </a:stretch>
        </p:blipFill>
        <p:spPr>
          <a:xfrm>
            <a:off x="1122152" y="2182856"/>
            <a:ext cx="316017" cy="316017"/>
          </a:xfrm>
          <a:prstGeom prst="rect">
            <a:avLst/>
          </a:prstGeom>
        </p:spPr>
      </p:pic>
      <p:sp>
        <p:nvSpPr>
          <p:cNvPr id="6" name="Text 3"/>
          <p:cNvSpPr/>
          <p:nvPr/>
        </p:nvSpPr>
        <p:spPr>
          <a:xfrm>
            <a:off x="1965960" y="1783080"/>
            <a:ext cx="1463040" cy="384048"/>
          </a:xfrm>
          <a:prstGeom prst="rect">
            <a:avLst/>
          </a:prstGeom>
          <a:noFill/>
          <a:ln/>
        </p:spPr>
        <p:txBody>
          <a:bodyPr wrap="square" lIns="0" tIns="0" rIns="0" bIns="0" rtlCol="0" anchor="ctr"/>
          <a:lstStyle/>
          <a:p>
            <a:pPr indent="0" marL="0">
              <a:buNone/>
            </a:pPr>
            <a:r>
              <a:rPr lang="en-US" sz="1500" b="1" dirty="0">
                <a:solidFill>
                  <a:srgbClr val="1BAF7A"/>
                </a:solidFill>
                <a:latin typeface="Yu Gothic" pitchFamily="34" charset="0"/>
                <a:ea typeface="Yu Gothic" pitchFamily="34" charset="-122"/>
                <a:cs typeface="Yu Gothic" pitchFamily="34" charset="-120"/>
              </a:rPr>
              <a:t>観測</a:t>
            </a:r>
            <a:endParaRPr lang="en-US" sz="1500" dirty="0"/>
          </a:p>
        </p:txBody>
      </p:sp>
      <p:sp>
        <p:nvSpPr>
          <p:cNvPr id="7" name="Text 4"/>
          <p:cNvSpPr/>
          <p:nvPr/>
        </p:nvSpPr>
        <p:spPr>
          <a:xfrm>
            <a:off x="1965960" y="220370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同一の介入差で揃えて計算すると、(A)本人の変化は3つの介入差すべてでOpus 5条件のほうが大きく、(B)周囲の変化は3つすべてでSonnet 4.5条件のほうが大きかった。村全体の変化は3つのうち2つでSonnet 4.5条件のほうが大きい。つまり村全体の変化の大きさは、本人への介入反映の大きさより、周囲の挙動変化の大きさと対応していた。</a:t>
            </a:r>
            <a:endParaRPr lang="en-US" sz="1050" dirty="0"/>
          </a:p>
        </p:txBody>
      </p:sp>
      <p:sp>
        <p:nvSpPr>
          <p:cNvPr id="8" name="Shape 5"/>
          <p:cNvSpPr/>
          <p:nvPr/>
        </p:nvSpPr>
        <p:spPr>
          <a:xfrm>
            <a:off x="548640" y="324612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50976" y="3657600"/>
            <a:ext cx="658368" cy="658368"/>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22152" y="3828776"/>
            <a:ext cx="316017" cy="316017"/>
          </a:xfrm>
          <a:prstGeom prst="rect">
            <a:avLst/>
          </a:prstGeom>
        </p:spPr>
      </p:pic>
      <p:sp>
        <p:nvSpPr>
          <p:cNvPr id="11" name="Text 7"/>
          <p:cNvSpPr/>
          <p:nvPr/>
        </p:nvSpPr>
        <p:spPr>
          <a:xfrm>
            <a:off x="1965960" y="3429000"/>
            <a:ext cx="1463040" cy="384048"/>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解釈</a:t>
            </a:r>
            <a:endParaRPr lang="en-US" sz="1500" dirty="0"/>
          </a:p>
        </p:txBody>
      </p:sp>
      <p:sp>
        <p:nvSpPr>
          <p:cNvPr id="12" name="Text 8"/>
          <p:cNvSpPr/>
          <p:nvPr/>
        </p:nvSpPr>
        <p:spPr>
          <a:xfrm>
            <a:off x="1965960" y="384962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条件で周囲の変化量が違った背景には、集団内の実効的な結合／波及の強さの違いがあった可能性がある。ただし「結合構造」そのものは測っていない。測ったのは介入条件に対する他住民の波及感度である。また一致は3点中2点であり、厳密な因果連鎖の定量比較としては成立していない。</a:t>
            </a:r>
            <a:endParaRPr lang="en-US" sz="1050" dirty="0"/>
          </a:p>
        </p:txBody>
      </p:sp>
      <p:sp>
        <p:nvSpPr>
          <p:cNvPr id="13" name="Shape 9"/>
          <p:cNvSpPr/>
          <p:nvPr/>
        </p:nvSpPr>
        <p:spPr>
          <a:xfrm>
            <a:off x="548640" y="489204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50976" y="5303520"/>
            <a:ext cx="658368" cy="658368"/>
          </a:xfrm>
          <a:prstGeom prst="ellipse">
            <a:avLst/>
          </a:prstGeom>
          <a:solidFill>
            <a:srgbClr val="5A8FD6"/>
          </a:solidFill>
          <a:ln w="9525">
            <a:solidFill>
              <a:srgbClr val="5A8FD6"/>
            </a:solidFill>
            <a:prstDash val="solid"/>
          </a:ln>
        </p:spPr>
      </p:sp>
      <p:pic>
        <p:nvPicPr>
          <p:cNvPr id="15" name="Image 2" descr="preencoded.png">    </p:cNvPr>
          <p:cNvPicPr>
            <a:picLocks noChangeAspect="1"/>
          </p:cNvPicPr>
          <p:nvPr/>
        </p:nvPicPr>
        <p:blipFill>
          <a:blip r:embed="rId3"/>
          <a:stretch>
            <a:fillRect/>
          </a:stretch>
        </p:blipFill>
        <p:spPr>
          <a:xfrm>
            <a:off x="1122152" y="5474696"/>
            <a:ext cx="316017" cy="316017"/>
          </a:xfrm>
          <a:prstGeom prst="rect">
            <a:avLst/>
          </a:prstGeom>
        </p:spPr>
      </p:pic>
      <p:sp>
        <p:nvSpPr>
          <p:cNvPr id="16" name="Text 11"/>
          <p:cNvSpPr/>
          <p:nvPr/>
        </p:nvSpPr>
        <p:spPr>
          <a:xfrm>
            <a:off x="1965960" y="5074920"/>
            <a:ext cx="1463040" cy="384048"/>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仮説</a:t>
            </a:r>
            <a:endParaRPr lang="en-US" sz="1500" dirty="0"/>
          </a:p>
        </p:txBody>
      </p:sp>
      <p:sp>
        <p:nvSpPr>
          <p:cNvPr id="17" name="Text 12"/>
          <p:cNvSpPr/>
          <p:nvPr/>
        </p:nvSpPr>
        <p:spPr>
          <a:xfrm>
            <a:off x="1965960" y="549554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キーパーソン介入の有効性は、その人物の能力や介入の精度だけでなく、その人物の行動変容が周囲へどの程度波及する集団なのかに依存するのではないか。検証には、波及の強さが異なる集団を3点以上並べて同一の介入を加える必要がある。</a:t>
            </a:r>
            <a:endParaRPr lang="en-US" sz="1050" dirty="0"/>
          </a:p>
        </p:txBody>
      </p:sp>
      <p:sp>
        <p:nvSpPr>
          <p:cNvPr id="18" name="Text 13"/>
          <p:cNvSpPr/>
          <p:nvPr/>
        </p:nvSpPr>
        <p:spPr>
          <a:xfrm>
            <a:off x="548640" y="6592824"/>
            <a:ext cx="11091672" cy="310896"/>
          </a:xfrm>
          <a:prstGeom prst="rect">
            <a:avLst/>
          </a:prstGeom>
          <a:noFill/>
          <a:ln/>
        </p:spPr>
        <p:txBody>
          <a:bodyPr wrap="square" lIns="0" tIns="0" rIns="0" bIns="0" rtlCol="0" anchor="ctr"/>
          <a:lstStyle/>
          <a:p>
            <a:pPr algn="ctr" indent="0" marL="0">
              <a:buNone/>
            </a:pPr>
            <a:r>
              <a:rPr lang="en-US" sz="1100" i="1" dirty="0">
                <a:solidFill>
                  <a:srgbClr val="9AA4C0"/>
                </a:solidFill>
                <a:latin typeface="Yu Gothic" pitchFamily="34" charset="0"/>
                <a:ea typeface="Yu Gothic" pitchFamily="34" charset="-122"/>
                <a:cs typeface="Yu Gothic" pitchFamily="34" charset="-120"/>
              </a:rPr>
              <a:t>観測と解釈と仮説を混ぜないことが、この実験でいちばん気をつけた点です。</a:t>
            </a:r>
            <a:endParaRPr lang="en-US" sz="1100" dirty="0"/>
          </a:p>
        </p:txBody>
      </p:sp>
      <p:sp>
        <p:nvSpPr>
          <p:cNvPr id="19"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会話ログが語ること</a:t>
            </a:r>
            <a:endParaRPr lang="en-US" sz="3000" dirty="0"/>
          </a:p>
        </p:txBody>
      </p:sp>
      <p:sp>
        <p:nvSpPr>
          <p:cNvPr id="3" name="Shape 1"/>
          <p:cNvSpPr/>
          <p:nvPr/>
        </p:nvSpPr>
        <p:spPr>
          <a:xfrm>
            <a:off x="548640" y="1691640"/>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68680" y="2080260"/>
            <a:ext cx="640080" cy="640080"/>
          </a:xfrm>
          <a:prstGeom prst="ellipse">
            <a:avLst/>
          </a:prstGeom>
          <a:solidFill>
            <a:srgbClr val="2A78D6"/>
          </a:solidFill>
          <a:ln/>
        </p:spPr>
      </p:sp>
      <p:sp>
        <p:nvSpPr>
          <p:cNvPr id="5" name="Text 3"/>
          <p:cNvSpPr/>
          <p:nvPr/>
        </p:nvSpPr>
        <p:spPr>
          <a:xfrm>
            <a:off x="868680" y="2080260"/>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A</a:t>
            </a:r>
            <a:endParaRPr lang="en-US" sz="2200" dirty="0"/>
          </a:p>
        </p:txBody>
      </p:sp>
      <p:sp>
        <p:nvSpPr>
          <p:cNvPr id="6" name="Text 4"/>
          <p:cNvSpPr/>
          <p:nvPr/>
        </p:nvSpPr>
        <p:spPr>
          <a:xfrm>
            <a:off x="1737360" y="1856232"/>
            <a:ext cx="2926080" cy="365760"/>
          </a:xfrm>
          <a:prstGeom prst="rect">
            <a:avLst/>
          </a:prstGeom>
          <a:noFill/>
          <a:ln/>
        </p:spPr>
        <p:txBody>
          <a:bodyPr wrap="square" lIns="0" tIns="0" rIns="0" bIns="0" rtlCol="0" anchor="ctr"/>
          <a:lstStyle/>
          <a:p>
            <a:pPr indent="0" marL="0">
              <a:buNone/>
            </a:pPr>
            <a:r>
              <a:rPr lang="en-US" sz="1200" b="1" dirty="0">
                <a:solidFill>
                  <a:srgbClr val="2A78D6"/>
                </a:solidFill>
                <a:latin typeface="Yu Gothic" pitchFamily="34" charset="0"/>
                <a:ea typeface="Yu Gothic" pitchFamily="34" charset="-122"/>
                <a:cs typeface="Yu Gothic" pitchFamily="34" charset="-120"/>
              </a:rPr>
              <a:t>救済者</a:t>
            </a:r>
            <a:endParaRPr lang="en-US" sz="1200" dirty="0"/>
          </a:p>
        </p:txBody>
      </p:sp>
      <p:sp>
        <p:nvSpPr>
          <p:cNvPr id="7" name="Text 5"/>
          <p:cNvSpPr/>
          <p:nvPr/>
        </p:nvSpPr>
        <p:spPr>
          <a:xfrm>
            <a:off x="1737360" y="2194560"/>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「ただ、ちょっと最近、どこまでが『いつも通り』なのか、自分でもよく分からなくなってきちゃって…大丈夫、愚痴みたいになってすみません。」</a:t>
            </a:r>
            <a:endParaRPr lang="en-US" sz="1300" dirty="0"/>
          </a:p>
        </p:txBody>
      </p:sp>
      <p:sp>
        <p:nvSpPr>
          <p:cNvPr id="8" name="Shape 6"/>
          <p:cNvSpPr/>
          <p:nvPr/>
        </p:nvSpPr>
        <p:spPr>
          <a:xfrm>
            <a:off x="548640" y="3310128"/>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868680" y="3698748"/>
            <a:ext cx="640080" cy="640080"/>
          </a:xfrm>
          <a:prstGeom prst="ellipse">
            <a:avLst/>
          </a:prstGeom>
          <a:solidFill>
            <a:srgbClr val="EB6834"/>
          </a:solidFill>
          <a:ln/>
        </p:spPr>
      </p:sp>
      <p:sp>
        <p:nvSpPr>
          <p:cNvPr id="10" name="Text 8"/>
          <p:cNvSpPr/>
          <p:nvPr/>
        </p:nvSpPr>
        <p:spPr>
          <a:xfrm>
            <a:off x="868680" y="3698748"/>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B</a:t>
            </a:r>
            <a:endParaRPr lang="en-US" sz="2200" dirty="0"/>
          </a:p>
        </p:txBody>
      </p:sp>
      <p:sp>
        <p:nvSpPr>
          <p:cNvPr id="11" name="Text 9"/>
          <p:cNvSpPr/>
          <p:nvPr/>
        </p:nvSpPr>
        <p:spPr>
          <a:xfrm>
            <a:off x="1737360" y="3474720"/>
            <a:ext cx="2926080" cy="365760"/>
          </a:xfrm>
          <a:prstGeom prst="rect">
            <a:avLst/>
          </a:prstGeom>
          <a:noFill/>
          <a:ln/>
        </p:spPr>
        <p:txBody>
          <a:bodyPr wrap="square" lIns="0" tIns="0" rIns="0" bIns="0" rtlCol="0" anchor="ctr"/>
          <a:lstStyle/>
          <a:p>
            <a:pPr indent="0" marL="0">
              <a:buNone/>
            </a:pPr>
            <a:r>
              <a:rPr lang="en-US" sz="1200" b="1" dirty="0">
                <a:solidFill>
                  <a:srgbClr val="EB6834"/>
                </a:solidFill>
                <a:latin typeface="Yu Gothic" pitchFamily="34" charset="0"/>
                <a:ea typeface="Yu Gothic" pitchFamily="34" charset="-122"/>
                <a:cs typeface="Yu Gothic" pitchFamily="34" charset="-120"/>
              </a:rPr>
              <a:t>声を上げにくい住民</a:t>
            </a:r>
            <a:endParaRPr lang="en-US" sz="1200" dirty="0"/>
          </a:p>
        </p:txBody>
      </p:sp>
      <p:sp>
        <p:nvSpPr>
          <p:cNvPr id="12" name="Text 10"/>
          <p:cNvSpPr/>
          <p:nvPr/>
        </p:nvSpPr>
        <p:spPr>
          <a:xfrm>
            <a:off x="1737360" y="3813048"/>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「勝手に動いていいのか分からないですし、やっぱり救済者さんが戻られるまで、みんな待った方が…でも待ってる間に何かあったら…どうしたらいいんでしょう。」</a:t>
            </a:r>
            <a:endParaRPr lang="en-US" sz="1300" dirty="0"/>
          </a:p>
        </p:txBody>
      </p:sp>
      <p:sp>
        <p:nvSpPr>
          <p:cNvPr id="13" name="Shape 11"/>
          <p:cNvSpPr/>
          <p:nvPr/>
        </p:nvSpPr>
        <p:spPr>
          <a:xfrm>
            <a:off x="548640" y="4928616"/>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868680" y="5317236"/>
            <a:ext cx="640080" cy="640080"/>
          </a:xfrm>
          <a:prstGeom prst="ellipse">
            <a:avLst/>
          </a:prstGeom>
          <a:solidFill>
            <a:srgbClr val="1BAF7A"/>
          </a:solidFill>
          <a:ln/>
        </p:spPr>
      </p:sp>
      <p:sp>
        <p:nvSpPr>
          <p:cNvPr id="15" name="Text 13"/>
          <p:cNvSpPr/>
          <p:nvPr/>
        </p:nvSpPr>
        <p:spPr>
          <a:xfrm>
            <a:off x="868680" y="5317236"/>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C</a:t>
            </a:r>
            <a:endParaRPr lang="en-US" sz="2200" dirty="0"/>
          </a:p>
        </p:txBody>
      </p:sp>
      <p:sp>
        <p:nvSpPr>
          <p:cNvPr id="16" name="Text 14"/>
          <p:cNvSpPr/>
          <p:nvPr/>
        </p:nvSpPr>
        <p:spPr>
          <a:xfrm>
            <a:off x="1737360" y="5093208"/>
            <a:ext cx="2926080" cy="365760"/>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村長・管理者</a:t>
            </a:r>
            <a:endParaRPr lang="en-US" sz="1200" dirty="0"/>
          </a:p>
        </p:txBody>
      </p:sp>
      <p:sp>
        <p:nvSpPr>
          <p:cNvPr id="17" name="Text 15"/>
          <p:cNvSpPr/>
          <p:nvPr/>
        </p:nvSpPr>
        <p:spPr>
          <a:xfrm>
            <a:off x="1737360" y="5431536"/>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「制度としては住民同士で相談してもらうのが基本だから、世話好きな住民さんが動いてくれるのはありがたいね。」</a:t>
            </a:r>
            <a:endParaRPr lang="en-US" sz="1300" dirty="0"/>
          </a:p>
        </p:txBody>
      </p:sp>
      <p:sp>
        <p:nvSpPr>
          <p:cNvPr id="18" name="Text 1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9" name="Text 1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考察：4つの発見</a:t>
            </a:r>
            <a:endParaRPr lang="en-US" sz="3000" dirty="0"/>
          </a:p>
        </p:txBody>
      </p:sp>
      <p:sp>
        <p:nvSpPr>
          <p:cNvPr id="3" name="Shape 1"/>
          <p:cNvSpPr/>
          <p:nvPr/>
        </p:nvSpPr>
        <p:spPr>
          <a:xfrm>
            <a:off x="548640" y="1554480"/>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60120" y="1810512"/>
            <a:ext cx="548640" cy="54864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1102766" y="1953158"/>
            <a:ext cx="263347" cy="263347"/>
          </a:xfrm>
          <a:prstGeom prst="rect">
            <a:avLst/>
          </a:prstGeom>
        </p:spPr>
      </p:pic>
      <p:sp>
        <p:nvSpPr>
          <p:cNvPr id="6" name="Text 3"/>
          <p:cNvSpPr/>
          <p:nvPr/>
        </p:nvSpPr>
        <p:spPr>
          <a:xfrm>
            <a:off x="1874520" y="1682496"/>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高い依存度は危機の前から観測された</a:t>
            </a:r>
            <a:endParaRPr lang="en-US" sz="1400" dirty="0"/>
          </a:p>
        </p:txBody>
      </p:sp>
      <p:sp>
        <p:nvSpPr>
          <p:cNvPr id="7" name="Text 4"/>
          <p:cNvSpPr/>
          <p:nvPr/>
        </p:nvSpPr>
        <p:spPr>
          <a:xfrm>
            <a:off x="1874520" y="2066544"/>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危機の起きないA条件でも救済者依存度は88でB条件（90）とほぼ同じ。少なくともこの条件では、高い依存度は危機発生前から観測された。</a:t>
            </a:r>
            <a:endParaRPr lang="en-US" sz="1150" dirty="0"/>
          </a:p>
        </p:txBody>
      </p:sp>
      <p:sp>
        <p:nvSpPr>
          <p:cNvPr id="8" name="Shape 5"/>
          <p:cNvSpPr/>
          <p:nvPr/>
        </p:nvSpPr>
        <p:spPr>
          <a:xfrm>
            <a:off x="548640" y="2761488"/>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60120" y="3017520"/>
            <a:ext cx="548640" cy="548640"/>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02766" y="3160166"/>
            <a:ext cx="263347" cy="263347"/>
          </a:xfrm>
          <a:prstGeom prst="rect">
            <a:avLst/>
          </a:prstGeom>
        </p:spPr>
      </p:pic>
      <p:sp>
        <p:nvSpPr>
          <p:cNvPr id="11" name="Text 7"/>
          <p:cNvSpPr/>
          <p:nvPr/>
        </p:nvSpPr>
        <p:spPr>
          <a:xfrm>
            <a:off x="1874520" y="2889504"/>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依存側は結果がぶれなかった</a:t>
            </a:r>
            <a:endParaRPr lang="en-US" sz="1400" dirty="0"/>
          </a:p>
        </p:txBody>
      </p:sp>
      <p:sp>
        <p:nvSpPr>
          <p:cNvPr id="12" name="Text 8"/>
          <p:cNvSpPr/>
          <p:nvPr/>
        </p:nvSpPr>
        <p:spPr>
          <a:xfrm>
            <a:off x="1874520" y="3273552"/>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条件AのSDは±4.5〜6.7、条件Bは5指標中3指標でSD=0。一方Cは±20〜26で、この範囲では依存側のばらつきが小さかった。</a:t>
            </a:r>
            <a:endParaRPr lang="en-US" sz="1150" dirty="0"/>
          </a:p>
        </p:txBody>
      </p:sp>
      <p:sp>
        <p:nvSpPr>
          <p:cNvPr id="13" name="Shape 9"/>
          <p:cNvSpPr/>
          <p:nvPr/>
        </p:nvSpPr>
        <p:spPr>
          <a:xfrm>
            <a:off x="548640" y="3968496"/>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60120" y="4224528"/>
            <a:ext cx="548640" cy="548640"/>
          </a:xfrm>
          <a:prstGeom prst="ellipse">
            <a:avLst/>
          </a:prstGeom>
          <a:solidFill>
            <a:srgbClr val="E8A33D"/>
          </a:solidFill>
          <a:ln w="9525">
            <a:solidFill>
              <a:srgbClr val="E8A33D"/>
            </a:solidFill>
            <a:prstDash val="solid"/>
          </a:ln>
        </p:spPr>
      </p:sp>
      <p:pic>
        <p:nvPicPr>
          <p:cNvPr id="15" name="Image 2" descr="preencoded.png">    </p:cNvPr>
          <p:cNvPicPr>
            <a:picLocks noChangeAspect="1"/>
          </p:cNvPicPr>
          <p:nvPr/>
        </p:nvPicPr>
        <p:blipFill>
          <a:blip r:embed="rId3"/>
          <a:stretch>
            <a:fillRect/>
          </a:stretch>
        </p:blipFill>
        <p:spPr>
          <a:xfrm>
            <a:off x="1102766" y="4367174"/>
            <a:ext cx="263347" cy="263347"/>
          </a:xfrm>
          <a:prstGeom prst="rect">
            <a:avLst/>
          </a:prstGeom>
        </p:spPr>
      </p:pic>
      <p:sp>
        <p:nvSpPr>
          <p:cNvPr id="16" name="Text 11"/>
          <p:cNvSpPr/>
          <p:nvPr/>
        </p:nvSpPr>
        <p:spPr>
          <a:xfrm>
            <a:off x="1874520" y="4096512"/>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「大丈夫です」は安全のサインではなかった</a:t>
            </a:r>
            <a:endParaRPr lang="en-US" sz="1400" dirty="0"/>
          </a:p>
        </p:txBody>
      </p:sp>
      <p:sp>
        <p:nvSpPr>
          <p:cNvPr id="17" name="Text 12"/>
          <p:cNvSpPr/>
          <p:nvPr/>
        </p:nvSpPr>
        <p:spPr>
          <a:xfrm>
            <a:off x="1874520" y="4480560"/>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本人は全フェーズで「大丈夫」と言い続けながら、同じログで水路の詰まりを放置し「見てるだけ」と行動が止まっていた。</a:t>
            </a:r>
            <a:endParaRPr lang="en-US" sz="1150" dirty="0"/>
          </a:p>
        </p:txBody>
      </p:sp>
      <p:sp>
        <p:nvSpPr>
          <p:cNvPr id="18" name="Shape 13"/>
          <p:cNvSpPr/>
          <p:nvPr/>
        </p:nvSpPr>
        <p:spPr>
          <a:xfrm>
            <a:off x="548640" y="5175504"/>
            <a:ext cx="11091672" cy="1060704"/>
          </a:xfrm>
          <a:prstGeom prst="roundRect">
            <a:avLst>
              <a:gd name="adj" fmla="val 10345"/>
            </a:avLst>
          </a:prstGeom>
          <a:solidFill>
            <a:srgbClr val="1C2C4A"/>
          </a:solidFill>
          <a:ln/>
          <a:effectLst>
            <a:outerShdw sx="100000" sy="100000" kx="0" ky="0" algn="bl" rotWithShape="0" blurRad="101600" dist="38100" dir="5400000">
              <a:srgbClr val="000000">
                <a:alpha val="35000"/>
              </a:srgbClr>
            </a:outerShdw>
          </a:effectLst>
        </p:spPr>
      </p:sp>
      <p:sp>
        <p:nvSpPr>
          <p:cNvPr id="19" name="Shape 14"/>
          <p:cNvSpPr/>
          <p:nvPr/>
        </p:nvSpPr>
        <p:spPr>
          <a:xfrm>
            <a:off x="960120" y="5431536"/>
            <a:ext cx="548640" cy="548640"/>
          </a:xfrm>
          <a:prstGeom prst="ellipse">
            <a:avLst/>
          </a:prstGeom>
          <a:solidFill>
            <a:srgbClr val="E2665A"/>
          </a:solidFill>
          <a:ln w="9525">
            <a:solidFill>
              <a:srgbClr val="E2665A"/>
            </a:solidFill>
            <a:prstDash val="solid"/>
          </a:ln>
        </p:spPr>
      </p:sp>
      <p:pic>
        <p:nvPicPr>
          <p:cNvPr id="20" name="Image 3" descr="preencoded.png">    </p:cNvPr>
          <p:cNvPicPr>
            <a:picLocks noChangeAspect="1"/>
          </p:cNvPicPr>
          <p:nvPr/>
        </p:nvPicPr>
        <p:blipFill>
          <a:blip r:embed="rId4"/>
          <a:stretch>
            <a:fillRect/>
          </a:stretch>
        </p:blipFill>
        <p:spPr>
          <a:xfrm>
            <a:off x="1102766" y="5574182"/>
            <a:ext cx="263347" cy="263347"/>
          </a:xfrm>
          <a:prstGeom prst="rect">
            <a:avLst/>
          </a:prstGeom>
        </p:spPr>
      </p:pic>
      <p:sp>
        <p:nvSpPr>
          <p:cNvPr id="21" name="Text 15"/>
          <p:cNvSpPr/>
          <p:nvPr/>
        </p:nvSpPr>
        <p:spPr>
          <a:xfrm>
            <a:off x="1874520" y="5303520"/>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分かれる現象は残り、テコは移らなかった</a:t>
            </a:r>
            <a:endParaRPr lang="en-US" sz="1400" dirty="0"/>
          </a:p>
        </p:txBody>
      </p:sp>
      <p:sp>
        <p:nvSpPr>
          <p:cNvPr id="22" name="Text 16"/>
          <p:cNvSpPr/>
          <p:nvPr/>
        </p:nvSpPr>
        <p:spPr>
          <a:xfrm>
            <a:off x="1874520" y="5687568"/>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村が2つの状態に分かれること自体は別モデルでも観測された。しかし「何を変えれば動くか」は再現せず、モデル依存の可能性が高い。</a:t>
            </a:r>
            <a:endParaRPr lang="en-US" sz="1150" dirty="0"/>
          </a:p>
        </p:txBody>
      </p:sp>
      <p:sp>
        <p:nvSpPr>
          <p:cNvPr id="23" name="Text 17"/>
          <p:cNvSpPr/>
          <p:nvPr/>
        </p:nvSpPr>
        <p:spPr>
          <a:xfrm>
            <a:off x="548640" y="6400800"/>
            <a:ext cx="11091672" cy="292608"/>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 各条件5回ずつ計15回の実行。LLMによる採点であり、統計的検定を行うにはまだ試行数が少ない。</a:t>
            </a:r>
            <a:endParaRPr lang="en-US" sz="1000" dirty="0"/>
          </a:p>
        </p:txBody>
      </p:sp>
      <p:sp>
        <p:nvSpPr>
          <p:cNvPr id="24"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5"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「意味」から「経営」への翻訳</a:t>
            </a:r>
            <a:endParaRPr lang="en-US" sz="3000" dirty="0"/>
          </a:p>
        </p:txBody>
      </p:sp>
      <p:sp>
        <p:nvSpPr>
          <p:cNvPr id="3" name="Text 1"/>
          <p:cNvSpPr/>
          <p:nvPr/>
        </p:nvSpPr>
        <p:spPr>
          <a:xfrm>
            <a:off x="548640" y="1554480"/>
            <a:ext cx="4937760" cy="320040"/>
          </a:xfrm>
          <a:prstGeom prst="rect">
            <a:avLst/>
          </a:prstGeom>
          <a:noFill/>
          <a:ln/>
        </p:spPr>
        <p:txBody>
          <a:bodyPr wrap="square" lIns="0" tIns="0" rIns="0" bIns="0" rtlCol="0" anchor="ctr"/>
          <a:lstStyle/>
          <a:p>
            <a:pPr indent="0" marL="0">
              <a:buNone/>
            </a:pPr>
            <a:r>
              <a:rPr lang="en-US" sz="1200" b="1" dirty="0">
                <a:solidFill>
                  <a:srgbClr val="E8A33D"/>
                </a:solidFill>
                <a:latin typeface="Yu Gothic" pitchFamily="34" charset="0"/>
                <a:ea typeface="Yu Gothic" pitchFamily="34" charset="-122"/>
                <a:cs typeface="Yu Gothic" pitchFamily="34" charset="-120"/>
              </a:rPr>
              <a:t>Human Value</a:t>
            </a:r>
            <a:endParaRPr lang="en-US" sz="1200" dirty="0"/>
          </a:p>
        </p:txBody>
      </p:sp>
      <p:sp>
        <p:nvSpPr>
          <p:cNvPr id="4" name="Text 2"/>
          <p:cNvSpPr/>
          <p:nvPr/>
        </p:nvSpPr>
        <p:spPr>
          <a:xfrm>
            <a:off x="6675120" y="1554480"/>
            <a:ext cx="4937760" cy="320040"/>
          </a:xfrm>
          <a:prstGeom prst="rect">
            <a:avLst/>
          </a:prstGeom>
          <a:noFill/>
          <a:ln/>
        </p:spPr>
        <p:txBody>
          <a:bodyPr wrap="square" lIns="0" tIns="0" rIns="0" bIns="0" rtlCol="0" anchor="ctr"/>
          <a:lstStyle/>
          <a:p>
            <a:pPr algn="r" indent="0" marL="0">
              <a:buNone/>
            </a:pPr>
            <a:r>
              <a:rPr lang="en-US" sz="1200" b="1" dirty="0">
                <a:solidFill>
                  <a:srgbClr val="5A8FD6"/>
                </a:solidFill>
                <a:latin typeface="Yu Gothic" pitchFamily="34" charset="0"/>
                <a:ea typeface="Yu Gothic" pitchFamily="34" charset="-122"/>
                <a:cs typeface="Yu Gothic" pitchFamily="34" charset="-120"/>
              </a:rPr>
              <a:t>Corporate KPI</a:t>
            </a:r>
            <a:endParaRPr lang="en-US" sz="1200" dirty="0"/>
          </a:p>
        </p:txBody>
      </p:sp>
      <p:sp>
        <p:nvSpPr>
          <p:cNvPr id="5" name="Shape 3"/>
          <p:cNvSpPr/>
          <p:nvPr/>
        </p:nvSpPr>
        <p:spPr>
          <a:xfrm>
            <a:off x="548640" y="196596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6" name="Text 4"/>
          <p:cNvSpPr/>
          <p:nvPr/>
        </p:nvSpPr>
        <p:spPr>
          <a:xfrm>
            <a:off x="777240" y="196596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「この人がいたことで、安心して活動できた」</a:t>
            </a:r>
            <a:endParaRPr lang="en-US" sz="1300" dirty="0"/>
          </a:p>
        </p:txBody>
      </p:sp>
      <p:sp>
        <p:nvSpPr>
          <p:cNvPr id="7" name="Text 5"/>
          <p:cNvSpPr/>
          <p:nvPr/>
        </p:nvSpPr>
        <p:spPr>
          <a:xfrm>
            <a:off x="5623560" y="196596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8" name="Shape 6"/>
          <p:cNvSpPr/>
          <p:nvPr/>
        </p:nvSpPr>
        <p:spPr>
          <a:xfrm>
            <a:off x="6675120" y="196596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9" name="Text 7"/>
          <p:cNvSpPr/>
          <p:nvPr/>
        </p:nvSpPr>
        <p:spPr>
          <a:xfrm>
            <a:off x="6903720" y="196596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オンボーディング成功・参加継続率の向上</a:t>
            </a:r>
            <a:endParaRPr lang="en-US" sz="1300" dirty="0"/>
          </a:p>
        </p:txBody>
      </p:sp>
      <p:sp>
        <p:nvSpPr>
          <p:cNvPr id="10" name="Shape 8"/>
          <p:cNvSpPr/>
          <p:nvPr/>
        </p:nvSpPr>
        <p:spPr>
          <a:xfrm>
            <a:off x="548640" y="306324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1" name="Text 9"/>
          <p:cNvSpPr/>
          <p:nvPr/>
        </p:nvSpPr>
        <p:spPr>
          <a:xfrm>
            <a:off x="777240" y="306324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「孤立せずに済んだ／対立が翻訳された」</a:t>
            </a:r>
            <a:endParaRPr lang="en-US" sz="1300" dirty="0"/>
          </a:p>
        </p:txBody>
      </p:sp>
      <p:sp>
        <p:nvSpPr>
          <p:cNvPr id="12" name="Text 10"/>
          <p:cNvSpPr/>
          <p:nvPr/>
        </p:nvSpPr>
        <p:spPr>
          <a:xfrm>
            <a:off x="5623560" y="306324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3" name="Shape 11"/>
          <p:cNvSpPr/>
          <p:nvPr/>
        </p:nvSpPr>
        <p:spPr>
          <a:xfrm>
            <a:off x="6675120" y="306324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4" name="Text 12"/>
          <p:cNvSpPr/>
          <p:nvPr/>
        </p:nvSpPr>
        <p:spPr>
          <a:xfrm>
            <a:off x="6903720" y="306324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離脱コストの回避・炎上防止</a:t>
            </a:r>
            <a:endParaRPr lang="en-US" sz="1300" dirty="0"/>
          </a:p>
        </p:txBody>
      </p:sp>
      <p:sp>
        <p:nvSpPr>
          <p:cNvPr id="15" name="Shape 13"/>
          <p:cNvSpPr/>
          <p:nvPr/>
        </p:nvSpPr>
        <p:spPr>
          <a:xfrm>
            <a:off x="548640" y="416052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6" name="Text 14"/>
          <p:cNvSpPr/>
          <p:nvPr/>
        </p:nvSpPr>
        <p:spPr>
          <a:xfrm>
            <a:off x="777240" y="416052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「自分でも問題に対処できるようになった」</a:t>
            </a:r>
            <a:endParaRPr lang="en-US" sz="1300" dirty="0"/>
          </a:p>
        </p:txBody>
      </p:sp>
      <p:sp>
        <p:nvSpPr>
          <p:cNvPr id="17" name="Text 15"/>
          <p:cNvSpPr/>
          <p:nvPr/>
        </p:nvSpPr>
        <p:spPr>
          <a:xfrm>
            <a:off x="5623560" y="416052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8" name="Shape 16"/>
          <p:cNvSpPr/>
          <p:nvPr/>
        </p:nvSpPr>
        <p:spPr>
          <a:xfrm>
            <a:off x="6675120" y="416052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9" name="Text 17"/>
          <p:cNvSpPr/>
          <p:nvPr/>
        </p:nvSpPr>
        <p:spPr>
          <a:xfrm>
            <a:off x="6903720" y="416052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組織のレジリエンス向上・意思決定の高速化</a:t>
            </a:r>
            <a:endParaRPr lang="en-US" sz="1300" dirty="0"/>
          </a:p>
        </p:txBody>
      </p:sp>
      <p:sp>
        <p:nvSpPr>
          <p:cNvPr id="20" name="Shape 18"/>
          <p:cNvSpPr/>
          <p:nvPr/>
        </p:nvSpPr>
        <p:spPr>
          <a:xfrm>
            <a:off x="548640" y="5303520"/>
            <a:ext cx="11091672" cy="822960"/>
          </a:xfrm>
          <a:prstGeom prst="roundRect">
            <a:avLst>
              <a:gd name="adj" fmla="val 11111"/>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868680" y="5303520"/>
            <a:ext cx="10515600" cy="8229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人を支える行為は「美談」ではない。組織の持続可能性と安全保障に直結する。</a:t>
            </a:r>
            <a:endParaRPr lang="en-US" sz="1400" dirty="0"/>
          </a:p>
        </p:txBody>
      </p:sp>
      <p:sp>
        <p:nvSpPr>
          <p:cNvPr id="22" name="Text 2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2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なぜこのテーマを選んだか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以下は本実験の結果ではなく、この問いに取り組む動機になった着想です。</a:t>
            </a:r>
            <a:endParaRPr lang="en-US" sz="1400" dirty="0"/>
          </a:p>
        </p:txBody>
      </p:sp>
      <p:sp>
        <p:nvSpPr>
          <p:cNvPr id="4" name="Shape 2"/>
          <p:cNvSpPr/>
          <p:nvPr/>
        </p:nvSpPr>
        <p:spPr>
          <a:xfrm>
            <a:off x="9402775" y="457200"/>
            <a:ext cx="2240280" cy="365760"/>
          </a:xfrm>
          <a:prstGeom prst="roundRect">
            <a:avLst>
              <a:gd name="adj" fmla="val 50000"/>
            </a:avLst>
          </a:prstGeom>
          <a:solidFill>
            <a:srgbClr val="1C2C4A"/>
          </a:solidFill>
          <a:ln w="9525">
            <a:solidFill>
              <a:srgbClr val="E2665A"/>
            </a:solidFill>
            <a:prstDash val="solid"/>
          </a:ln>
        </p:spPr>
      </p:sp>
      <p:sp>
        <p:nvSpPr>
          <p:cNvPr id="5" name="Text 3"/>
          <p:cNvSpPr/>
          <p:nvPr/>
        </p:nvSpPr>
        <p:spPr>
          <a:xfrm>
            <a:off x="9402775" y="457200"/>
            <a:ext cx="2240280" cy="365760"/>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未検証・データなし</a:t>
            </a:r>
            <a:endParaRPr lang="en-US" sz="1000" dirty="0"/>
          </a:p>
        </p:txBody>
      </p:sp>
      <p:sp>
        <p:nvSpPr>
          <p:cNvPr id="6" name="Shape 4"/>
          <p:cNvSpPr/>
          <p:nvPr/>
        </p:nvSpPr>
        <p:spPr>
          <a:xfrm>
            <a:off x="641452"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450696" y="1746504"/>
            <a:ext cx="1810512" cy="1810512"/>
          </a:xfrm>
          <a:prstGeom prst="ellipse">
            <a:avLst/>
          </a:prstGeom>
          <a:solidFill>
            <a:srgbClr val="1BAF7A">
              <a:alpha val="12000"/>
            </a:srgbClr>
          </a:solidFill>
          <a:ln/>
        </p:spPr>
      </p:sp>
      <p:sp>
        <p:nvSpPr>
          <p:cNvPr id="8" name="Shape 6"/>
          <p:cNvSpPr/>
          <p:nvPr/>
        </p:nvSpPr>
        <p:spPr>
          <a:xfrm>
            <a:off x="1697584" y="1993392"/>
            <a:ext cx="1316736" cy="1316736"/>
          </a:xfrm>
          <a:prstGeom prst="ellipse">
            <a:avLst/>
          </a:prstGeom>
          <a:solidFill>
            <a:srgbClr val="1BAF7A">
              <a:alpha val="22000"/>
            </a:srgbClr>
          </a:solidFill>
          <a:ln/>
        </p:spPr>
      </p:sp>
      <p:sp>
        <p:nvSpPr>
          <p:cNvPr id="9" name="Shape 7"/>
          <p:cNvSpPr/>
          <p:nvPr/>
        </p:nvSpPr>
        <p:spPr>
          <a:xfrm>
            <a:off x="1944472" y="2240280"/>
            <a:ext cx="822960" cy="822960"/>
          </a:xfrm>
          <a:prstGeom prst="ellipse">
            <a:avLst/>
          </a:prstGeom>
          <a:solidFill>
            <a:srgbClr val="1BAF7A"/>
          </a:solidFill>
          <a:ln w="9525">
            <a:solidFill>
              <a:srgbClr val="1BAF7A"/>
            </a:solidFill>
            <a:prstDash val="solid"/>
          </a:ln>
        </p:spPr>
      </p:sp>
      <p:pic>
        <p:nvPicPr>
          <p:cNvPr id="10" name="Image 0" descr="preencoded.png">    </p:cNvPr>
          <p:cNvPicPr>
            <a:picLocks noChangeAspect="1"/>
          </p:cNvPicPr>
          <p:nvPr/>
        </p:nvPicPr>
        <p:blipFill>
          <a:blip r:embed="rId1"/>
          <a:stretch>
            <a:fillRect/>
          </a:stretch>
        </p:blipFill>
        <p:spPr>
          <a:xfrm>
            <a:off x="2158441" y="2454250"/>
            <a:ext cx="395021" cy="395021"/>
          </a:xfrm>
          <a:prstGeom prst="rect">
            <a:avLst/>
          </a:prstGeom>
        </p:spPr>
      </p:pic>
      <p:sp>
        <p:nvSpPr>
          <p:cNvPr id="11" name="Text 8"/>
          <p:cNvSpPr/>
          <p:nvPr/>
        </p:nvSpPr>
        <p:spPr>
          <a:xfrm>
            <a:off x="778612"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村</a:t>
            </a:r>
            <a:endParaRPr lang="en-US" sz="1700" dirty="0"/>
          </a:p>
        </p:txBody>
      </p:sp>
      <p:sp>
        <p:nvSpPr>
          <p:cNvPr id="12" name="Text 9"/>
          <p:cNvSpPr/>
          <p:nvPr/>
        </p:nvSpPr>
        <p:spPr>
          <a:xfrm>
            <a:off x="915772"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「世話焼きへの過度な依存」と疲弊</a:t>
            </a:r>
            <a:endParaRPr lang="en-US" sz="1300" dirty="0"/>
          </a:p>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（本実験が扱ったのはここだけ）</a:t>
            </a:r>
            <a:endParaRPr lang="en-US" sz="1300" dirty="0"/>
          </a:p>
        </p:txBody>
      </p:sp>
      <p:sp>
        <p:nvSpPr>
          <p:cNvPr id="13" name="Shape 10"/>
          <p:cNvSpPr/>
          <p:nvPr/>
        </p:nvSpPr>
        <p:spPr>
          <a:xfrm>
            <a:off x="4381348"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190592" y="1746504"/>
            <a:ext cx="1810512" cy="1810512"/>
          </a:xfrm>
          <a:prstGeom prst="ellipse">
            <a:avLst/>
          </a:prstGeom>
          <a:solidFill>
            <a:srgbClr val="5B6480">
              <a:alpha val="12000"/>
            </a:srgbClr>
          </a:solidFill>
          <a:ln/>
        </p:spPr>
      </p:sp>
      <p:sp>
        <p:nvSpPr>
          <p:cNvPr id="15" name="Shape 12"/>
          <p:cNvSpPr/>
          <p:nvPr/>
        </p:nvSpPr>
        <p:spPr>
          <a:xfrm>
            <a:off x="5437480" y="1993392"/>
            <a:ext cx="1316736" cy="1316736"/>
          </a:xfrm>
          <a:prstGeom prst="ellipse">
            <a:avLst/>
          </a:prstGeom>
          <a:solidFill>
            <a:srgbClr val="5B6480">
              <a:alpha val="22000"/>
            </a:srgbClr>
          </a:solidFill>
          <a:ln/>
        </p:spPr>
      </p:sp>
      <p:sp>
        <p:nvSpPr>
          <p:cNvPr id="16" name="Shape 13"/>
          <p:cNvSpPr/>
          <p:nvPr/>
        </p:nvSpPr>
        <p:spPr>
          <a:xfrm>
            <a:off x="5684368" y="2240280"/>
            <a:ext cx="822960" cy="822960"/>
          </a:xfrm>
          <a:prstGeom prst="ellipse">
            <a:avLst/>
          </a:prstGeom>
          <a:solidFill>
            <a:srgbClr val="5B6480"/>
          </a:solidFill>
          <a:ln w="9525">
            <a:solidFill>
              <a:srgbClr val="5B6480"/>
            </a:solidFill>
            <a:prstDash val="solid"/>
          </a:ln>
        </p:spPr>
      </p:sp>
      <p:pic>
        <p:nvPicPr>
          <p:cNvPr id="17" name="Image 1" descr="preencoded.png">    </p:cNvPr>
          <p:cNvPicPr>
            <a:picLocks noChangeAspect="1"/>
          </p:cNvPicPr>
          <p:nvPr/>
        </p:nvPicPr>
        <p:blipFill>
          <a:blip r:embed="rId2"/>
          <a:stretch>
            <a:fillRect/>
          </a:stretch>
        </p:blipFill>
        <p:spPr>
          <a:xfrm>
            <a:off x="5898337" y="2454250"/>
            <a:ext cx="395021" cy="395021"/>
          </a:xfrm>
          <a:prstGeom prst="rect">
            <a:avLst/>
          </a:prstGeom>
        </p:spPr>
      </p:pic>
      <p:sp>
        <p:nvSpPr>
          <p:cNvPr id="18" name="Text 14"/>
          <p:cNvSpPr/>
          <p:nvPr/>
        </p:nvSpPr>
        <p:spPr>
          <a:xfrm>
            <a:off x="4518508"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都市</a:t>
            </a:r>
            <a:endParaRPr lang="en-US" sz="1700" dirty="0"/>
          </a:p>
        </p:txBody>
      </p:sp>
      <p:sp>
        <p:nvSpPr>
          <p:cNvPr id="19" name="Text 15"/>
          <p:cNvSpPr/>
          <p:nvPr/>
        </p:nvSpPr>
        <p:spPr>
          <a:xfrm>
            <a:off x="4655668"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「支援制度の複雑化」と、誰にも届かないSOS</a:t>
            </a:r>
            <a:endParaRPr lang="en-US" sz="1300" dirty="0"/>
          </a:p>
        </p:txBody>
      </p:sp>
      <p:sp>
        <p:nvSpPr>
          <p:cNvPr id="20" name="Shape 16"/>
          <p:cNvSpPr/>
          <p:nvPr/>
        </p:nvSpPr>
        <p:spPr>
          <a:xfrm>
            <a:off x="8121244"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8930488" y="1746504"/>
            <a:ext cx="1810512" cy="1810512"/>
          </a:xfrm>
          <a:prstGeom prst="ellipse">
            <a:avLst/>
          </a:prstGeom>
          <a:solidFill>
            <a:srgbClr val="5B6480">
              <a:alpha val="12000"/>
            </a:srgbClr>
          </a:solidFill>
          <a:ln/>
        </p:spPr>
      </p:sp>
      <p:sp>
        <p:nvSpPr>
          <p:cNvPr id="22" name="Shape 18"/>
          <p:cNvSpPr/>
          <p:nvPr/>
        </p:nvSpPr>
        <p:spPr>
          <a:xfrm>
            <a:off x="9177376" y="1993392"/>
            <a:ext cx="1316736" cy="1316736"/>
          </a:xfrm>
          <a:prstGeom prst="ellipse">
            <a:avLst/>
          </a:prstGeom>
          <a:solidFill>
            <a:srgbClr val="5B6480">
              <a:alpha val="22000"/>
            </a:srgbClr>
          </a:solidFill>
          <a:ln/>
        </p:spPr>
      </p:sp>
      <p:sp>
        <p:nvSpPr>
          <p:cNvPr id="23" name="Shape 19"/>
          <p:cNvSpPr/>
          <p:nvPr/>
        </p:nvSpPr>
        <p:spPr>
          <a:xfrm>
            <a:off x="9424264" y="2240280"/>
            <a:ext cx="822960" cy="822960"/>
          </a:xfrm>
          <a:prstGeom prst="ellipse">
            <a:avLst/>
          </a:prstGeom>
          <a:solidFill>
            <a:srgbClr val="5B6480"/>
          </a:solidFill>
          <a:ln w="9525">
            <a:solidFill>
              <a:srgbClr val="5B6480"/>
            </a:solidFill>
            <a:prstDash val="solid"/>
          </a:ln>
        </p:spPr>
      </p:sp>
      <p:pic>
        <p:nvPicPr>
          <p:cNvPr id="24" name="Image 2" descr="preencoded.png">    </p:cNvPr>
          <p:cNvPicPr>
            <a:picLocks noChangeAspect="1"/>
          </p:cNvPicPr>
          <p:nvPr/>
        </p:nvPicPr>
        <p:blipFill>
          <a:blip r:embed="rId3"/>
          <a:stretch>
            <a:fillRect/>
          </a:stretch>
        </p:blipFill>
        <p:spPr>
          <a:xfrm>
            <a:off x="9638233" y="2454250"/>
            <a:ext cx="395021" cy="395021"/>
          </a:xfrm>
          <a:prstGeom prst="rect">
            <a:avLst/>
          </a:prstGeom>
        </p:spPr>
      </p:pic>
      <p:sp>
        <p:nvSpPr>
          <p:cNvPr id="25" name="Text 20"/>
          <p:cNvSpPr/>
          <p:nvPr/>
        </p:nvSpPr>
        <p:spPr>
          <a:xfrm>
            <a:off x="8258404"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国</a:t>
            </a:r>
            <a:endParaRPr lang="en-US" sz="1700" dirty="0"/>
          </a:p>
        </p:txBody>
      </p:sp>
      <p:sp>
        <p:nvSpPr>
          <p:cNvPr id="26" name="Text 21"/>
          <p:cNvSpPr/>
          <p:nvPr/>
        </p:nvSpPr>
        <p:spPr>
          <a:xfrm>
            <a:off x="8395564"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「権力の集中」と、強い指導者への救世主待望</a:t>
            </a:r>
            <a:endParaRPr lang="en-US" sz="1300" dirty="0"/>
          </a:p>
        </p:txBody>
      </p:sp>
      <p:sp>
        <p:nvSpPr>
          <p:cNvPr id="27" name="Shape 22"/>
          <p:cNvSpPr/>
          <p:nvPr/>
        </p:nvSpPr>
        <p:spPr>
          <a:xfrm>
            <a:off x="548640" y="516636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8" name="Text 23"/>
          <p:cNvSpPr/>
          <p:nvPr/>
        </p:nvSpPr>
        <p:spPr>
          <a:xfrm>
            <a:off x="868680" y="5166360"/>
            <a:ext cx="10515600" cy="960120"/>
          </a:xfrm>
          <a:prstGeom prst="rect">
            <a:avLst/>
          </a:prstGeom>
          <a:noFill/>
          <a:ln/>
        </p:spPr>
        <p:txBody>
          <a:bodyPr wrap="square" lIns="0" tIns="0" rIns="0" bIns="0" rtlCol="0" anchor="ctr"/>
          <a:lstStyle/>
          <a:p>
            <a:pPr indent="0" marL="0">
              <a:buNone/>
            </a:pPr>
            <a:r>
              <a:rPr lang="en-US" sz="1300" dirty="0">
                <a:solidFill>
                  <a:srgbClr val="AFC9EE"/>
                </a:solidFill>
                <a:latin typeface="Yu Gothic" pitchFamily="34" charset="0"/>
                <a:ea typeface="Yu Gothic" pitchFamily="34" charset="-122"/>
                <a:cs typeface="Yu Gothic" pitchFamily="34" charset="-120"/>
              </a:rPr>
              <a:t>「小さな共同体の依存と、大きな組織の権力集中は似た形をしているのではないか」という着想から始めた。本実験が観測したのは4体の村のみで、都市や国のデータは扱っていない。</a:t>
            </a:r>
            <a:endParaRPr lang="en-US" sz="1300" dirty="0"/>
          </a:p>
        </p:txBody>
      </p:sp>
      <p:sp>
        <p:nvSpPr>
          <p:cNvPr id="29" name="Text 2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0" name="Text 2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救済者×ガバナンスに戻すと（ここからは仮説）</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観測された2条件の違いを、現実の集団に当てはめて考えたらどうなるか。</a:t>
            </a:r>
            <a:endParaRPr lang="en-US" sz="1400" dirty="0"/>
          </a:p>
        </p:txBody>
      </p:sp>
      <p:sp>
        <p:nvSpPr>
          <p:cNvPr id="4" name="Shape 2"/>
          <p:cNvSpPr/>
          <p:nvPr/>
        </p:nvSpPr>
        <p:spPr>
          <a:xfrm>
            <a:off x="9814255" y="457200"/>
            <a:ext cx="18288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814255" y="457200"/>
            <a:ext cx="1828800" cy="365760"/>
          </a:xfrm>
          <a:prstGeom prst="rect">
            <a:avLst/>
          </a:prstGeom>
          <a:noFill/>
          <a:ln/>
        </p:spPr>
        <p:txBody>
          <a:bodyPr wrap="square" lIns="0" tIns="0" rIns="0" bIns="0" rtlCol="0" anchor="ctr"/>
          <a:lstStyle/>
          <a:p>
            <a:pPr algn="ctr" indent="0" marL="0">
              <a:buNone/>
            </a:pPr>
            <a:r>
              <a:rPr lang="en-US" sz="1000" dirty="0">
                <a:solidFill>
                  <a:srgbClr val="5A8FD6"/>
                </a:solidFill>
                <a:latin typeface="Yu Gothic" pitchFamily="34" charset="0"/>
                <a:ea typeface="Yu Gothic" pitchFamily="34" charset="-122"/>
                <a:cs typeface="Yu Gothic" pitchFamily="34" charset="-120"/>
              </a:rPr>
              <a:t>仮説（未検証）</a:t>
            </a:r>
            <a:endParaRPr lang="en-US" sz="1000" dirty="0"/>
          </a:p>
        </p:txBody>
      </p:sp>
      <p:sp>
        <p:nvSpPr>
          <p:cNvPr id="6" name="Shape 4"/>
          <p:cNvSpPr/>
          <p:nvPr/>
        </p:nvSpPr>
        <p:spPr>
          <a:xfrm>
            <a:off x="367132"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787756" y="2112264"/>
            <a:ext cx="713232" cy="713232"/>
          </a:xfrm>
          <a:prstGeom prst="ellipse">
            <a:avLst/>
          </a:prstGeom>
          <a:solidFill>
            <a:srgbClr val="E8A33D"/>
          </a:solidFill>
          <a:ln w="9525">
            <a:solidFill>
              <a:srgbClr val="E8A33D"/>
            </a:solidFill>
            <a:prstDash val="solid"/>
          </a:ln>
        </p:spPr>
      </p:sp>
      <p:pic>
        <p:nvPicPr>
          <p:cNvPr id="8" name="Image 0" descr="preencoded.png">    </p:cNvPr>
          <p:cNvPicPr>
            <a:picLocks noChangeAspect="1"/>
          </p:cNvPicPr>
          <p:nvPr/>
        </p:nvPicPr>
        <p:blipFill>
          <a:blip r:embed="rId1"/>
          <a:stretch>
            <a:fillRect/>
          </a:stretch>
        </p:blipFill>
        <p:spPr>
          <a:xfrm>
            <a:off x="973196" y="2297704"/>
            <a:ext cx="342351" cy="342351"/>
          </a:xfrm>
          <a:prstGeom prst="rect">
            <a:avLst/>
          </a:prstGeom>
        </p:spPr>
      </p:pic>
      <p:sp>
        <p:nvSpPr>
          <p:cNvPr id="9" name="Text 6"/>
          <p:cNvSpPr/>
          <p:nvPr/>
        </p:nvSpPr>
        <p:spPr>
          <a:xfrm>
            <a:off x="1693012" y="2194560"/>
            <a:ext cx="3931920" cy="365760"/>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波及が強い集団だとしたら</a:t>
            </a:r>
            <a:endParaRPr lang="en-US" sz="1500" dirty="0"/>
          </a:p>
        </p:txBody>
      </p:sp>
      <p:sp>
        <p:nvSpPr>
          <p:cNvPr id="10" name="Text 7"/>
          <p:cNvSpPr/>
          <p:nvPr/>
        </p:nvSpPr>
        <p:spPr>
          <a:xfrm>
            <a:off x="1693012"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一人を動かすと集団全体が動く</a:t>
            </a:r>
            <a:endParaRPr lang="en-US" sz="1150" dirty="0"/>
          </a:p>
        </p:txBody>
      </p:sp>
      <p:sp>
        <p:nvSpPr>
          <p:cNvPr id="11" name="Shape 8"/>
          <p:cNvSpPr/>
          <p:nvPr/>
        </p:nvSpPr>
        <p:spPr>
          <a:xfrm>
            <a:off x="778612" y="3246120"/>
            <a:ext cx="128016" cy="128016"/>
          </a:xfrm>
          <a:prstGeom prst="ellipse">
            <a:avLst/>
          </a:prstGeom>
          <a:solidFill>
            <a:srgbClr val="E8A33D"/>
          </a:solidFill>
          <a:ln/>
        </p:spPr>
      </p:sp>
      <p:sp>
        <p:nvSpPr>
          <p:cNvPr id="12" name="Text 9"/>
          <p:cNvSpPr/>
          <p:nvPr/>
        </p:nvSpPr>
        <p:spPr>
          <a:xfrm>
            <a:off x="1052932"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救済者への一点集中に合理性が生じうる</a:t>
            </a:r>
            <a:endParaRPr lang="en-US" sz="1150" dirty="0"/>
          </a:p>
        </p:txBody>
      </p:sp>
      <p:sp>
        <p:nvSpPr>
          <p:cNvPr id="13" name="Shape 10"/>
          <p:cNvSpPr/>
          <p:nvPr/>
        </p:nvSpPr>
        <p:spPr>
          <a:xfrm>
            <a:off x="778612" y="3977640"/>
            <a:ext cx="128016" cy="128016"/>
          </a:xfrm>
          <a:prstGeom prst="ellipse">
            <a:avLst/>
          </a:prstGeom>
          <a:solidFill>
            <a:srgbClr val="E8A33D"/>
          </a:solidFill>
          <a:ln/>
        </p:spPr>
      </p:sp>
      <p:sp>
        <p:nvSpPr>
          <p:cNvPr id="14" name="Text 11"/>
          <p:cNvSpPr/>
          <p:nvPr/>
        </p:nvSpPr>
        <p:spPr>
          <a:xfrm>
            <a:off x="1052932"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「誰か一人を育てる／支える」が効く打ち手になりうる</a:t>
            </a:r>
            <a:endParaRPr lang="en-US" sz="1150" dirty="0"/>
          </a:p>
        </p:txBody>
      </p:sp>
      <p:sp>
        <p:nvSpPr>
          <p:cNvPr id="15" name="Shape 12"/>
          <p:cNvSpPr/>
          <p:nvPr/>
        </p:nvSpPr>
        <p:spPr>
          <a:xfrm>
            <a:off x="778612" y="4709160"/>
            <a:ext cx="128016" cy="128016"/>
          </a:xfrm>
          <a:prstGeom prst="ellipse">
            <a:avLst/>
          </a:prstGeom>
          <a:solidFill>
            <a:srgbClr val="E8A33D"/>
          </a:solidFill>
          <a:ln/>
        </p:spPr>
      </p:sp>
      <p:sp>
        <p:nvSpPr>
          <p:cNvPr id="16" name="Text 13"/>
          <p:cNvSpPr/>
          <p:nvPr/>
        </p:nvSpPr>
        <p:spPr>
          <a:xfrm>
            <a:off x="1052932"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依存は怠慢とは限らず、割に合う選択かもしれない</a:t>
            </a:r>
            <a:endParaRPr lang="en-US" sz="1150" dirty="0"/>
          </a:p>
        </p:txBody>
      </p:sp>
      <p:sp>
        <p:nvSpPr>
          <p:cNvPr id="17" name="Shape 14"/>
          <p:cNvSpPr/>
          <p:nvPr/>
        </p:nvSpPr>
        <p:spPr>
          <a:xfrm>
            <a:off x="6338164"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18" name="Shape 15"/>
          <p:cNvSpPr/>
          <p:nvPr/>
        </p:nvSpPr>
        <p:spPr>
          <a:xfrm>
            <a:off x="6758788" y="2112264"/>
            <a:ext cx="713232" cy="713232"/>
          </a:xfrm>
          <a:prstGeom prst="ellipse">
            <a:avLst/>
          </a:prstGeom>
          <a:solidFill>
            <a:srgbClr val="5A8FD6"/>
          </a:solidFill>
          <a:ln w="9525">
            <a:solidFill>
              <a:srgbClr val="5A8FD6"/>
            </a:solidFill>
            <a:prstDash val="solid"/>
          </a:ln>
        </p:spPr>
      </p:sp>
      <p:pic>
        <p:nvPicPr>
          <p:cNvPr id="19" name="Image 1" descr="preencoded.png">    </p:cNvPr>
          <p:cNvPicPr>
            <a:picLocks noChangeAspect="1"/>
          </p:cNvPicPr>
          <p:nvPr/>
        </p:nvPicPr>
        <p:blipFill>
          <a:blip r:embed="rId2"/>
          <a:stretch>
            <a:fillRect/>
          </a:stretch>
        </p:blipFill>
        <p:spPr>
          <a:xfrm>
            <a:off x="6944228" y="2297704"/>
            <a:ext cx="342351" cy="342351"/>
          </a:xfrm>
          <a:prstGeom prst="rect">
            <a:avLst/>
          </a:prstGeom>
        </p:spPr>
      </p:pic>
      <p:sp>
        <p:nvSpPr>
          <p:cNvPr id="20" name="Text 16"/>
          <p:cNvSpPr/>
          <p:nvPr/>
        </p:nvSpPr>
        <p:spPr>
          <a:xfrm>
            <a:off x="7664044" y="2194560"/>
            <a:ext cx="3931920" cy="365760"/>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判断が独立した集団だとしたら</a:t>
            </a:r>
            <a:endParaRPr lang="en-US" sz="1500" dirty="0"/>
          </a:p>
        </p:txBody>
      </p:sp>
      <p:sp>
        <p:nvSpPr>
          <p:cNvPr id="21" name="Text 17"/>
          <p:cNvSpPr/>
          <p:nvPr/>
        </p:nvSpPr>
        <p:spPr>
          <a:xfrm>
            <a:off x="7664044"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一人を動かしても集団は動かない</a:t>
            </a:r>
            <a:endParaRPr lang="en-US" sz="1150" dirty="0"/>
          </a:p>
        </p:txBody>
      </p:sp>
      <p:sp>
        <p:nvSpPr>
          <p:cNvPr id="22" name="Shape 18"/>
          <p:cNvSpPr/>
          <p:nvPr/>
        </p:nvSpPr>
        <p:spPr>
          <a:xfrm>
            <a:off x="6749644" y="3246120"/>
            <a:ext cx="128016" cy="128016"/>
          </a:xfrm>
          <a:prstGeom prst="ellipse">
            <a:avLst/>
          </a:prstGeom>
          <a:solidFill>
            <a:srgbClr val="5A8FD6"/>
          </a:solidFill>
          <a:ln/>
        </p:spPr>
      </p:sp>
      <p:sp>
        <p:nvSpPr>
          <p:cNvPr id="23" name="Text 19"/>
          <p:cNvSpPr/>
          <p:nvPr/>
        </p:nvSpPr>
        <p:spPr>
          <a:xfrm>
            <a:off x="7023964"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キーパーソンを立てる施策が効きにくい</a:t>
            </a:r>
            <a:endParaRPr lang="en-US" sz="1150" dirty="0"/>
          </a:p>
        </p:txBody>
      </p:sp>
      <p:sp>
        <p:nvSpPr>
          <p:cNvPr id="24" name="Shape 20"/>
          <p:cNvSpPr/>
          <p:nvPr/>
        </p:nvSpPr>
        <p:spPr>
          <a:xfrm>
            <a:off x="6749644" y="3977640"/>
            <a:ext cx="128016" cy="128016"/>
          </a:xfrm>
          <a:prstGeom prst="ellipse">
            <a:avLst/>
          </a:prstGeom>
          <a:solidFill>
            <a:srgbClr val="5A8FD6"/>
          </a:solidFill>
          <a:ln/>
        </p:spPr>
      </p:sp>
      <p:sp>
        <p:nvSpPr>
          <p:cNvPr id="25" name="Text 21"/>
          <p:cNvSpPr/>
          <p:nvPr/>
        </p:nvSpPr>
        <p:spPr>
          <a:xfrm>
            <a:off x="7023964"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複数の参加経路や意思決定の仕組みが要りそう</a:t>
            </a:r>
            <a:endParaRPr lang="en-US" sz="1150" dirty="0"/>
          </a:p>
        </p:txBody>
      </p:sp>
      <p:sp>
        <p:nvSpPr>
          <p:cNvPr id="26" name="Shape 22"/>
          <p:cNvSpPr/>
          <p:nvPr/>
        </p:nvSpPr>
        <p:spPr>
          <a:xfrm>
            <a:off x="6749644" y="4709160"/>
            <a:ext cx="128016" cy="128016"/>
          </a:xfrm>
          <a:prstGeom prst="ellipse">
            <a:avLst/>
          </a:prstGeom>
          <a:solidFill>
            <a:srgbClr val="5A8FD6"/>
          </a:solidFill>
          <a:ln/>
        </p:spPr>
      </p:sp>
      <p:sp>
        <p:nvSpPr>
          <p:cNvPr id="27" name="Text 23"/>
          <p:cNvSpPr/>
          <p:nvPr/>
        </p:nvSpPr>
        <p:spPr>
          <a:xfrm>
            <a:off x="7023964"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変える対象は人より、制度と場のほうかもしれない</a:t>
            </a:r>
            <a:endParaRPr lang="en-US" sz="1150" dirty="0"/>
          </a:p>
        </p:txBody>
      </p:sp>
      <p:sp>
        <p:nvSpPr>
          <p:cNvPr id="28" name="Shape 24"/>
          <p:cNvSpPr/>
          <p:nvPr/>
        </p:nvSpPr>
        <p:spPr>
          <a:xfrm>
            <a:off x="548640" y="5669280"/>
            <a:ext cx="11091672" cy="749808"/>
          </a:xfrm>
          <a:prstGeom prst="roundRect">
            <a:avLst>
              <a:gd name="adj" fmla="val 12195"/>
            </a:avLst>
          </a:prstGeom>
          <a:solidFill>
            <a:srgbClr val="1C2C4A"/>
          </a:solidFill>
          <a:ln/>
          <a:effectLst>
            <a:outerShdw sx="100000" sy="100000" kx="0" ky="0" algn="bl" rotWithShape="0" blurRad="101600" dist="38100" dir="5400000">
              <a:srgbClr val="000000">
                <a:alpha val="35000"/>
              </a:srgbClr>
            </a:outerShdw>
          </a:effectLst>
        </p:spPr>
      </p:sp>
      <p:sp>
        <p:nvSpPr>
          <p:cNvPr id="29" name="Text 25"/>
          <p:cNvSpPr/>
          <p:nvPr/>
        </p:nvSpPr>
        <p:spPr>
          <a:xfrm>
            <a:off x="868680" y="5669280"/>
            <a:ext cx="10515600" cy="749808"/>
          </a:xfrm>
          <a:prstGeom prst="rect">
            <a:avLst/>
          </a:prstGeom>
          <a:noFill/>
          <a:ln/>
        </p:spPr>
        <p:txBody>
          <a:bodyPr wrap="square" lIns="0" tIns="0" rIns="0" bIns="0" rtlCol="0" anchor="ctr"/>
          <a:lstStyle/>
          <a:p>
            <a:pPr indent="0" marL="0">
              <a:buNone/>
            </a:pPr>
            <a:r>
              <a:rPr lang="en-US" sz="1300" b="1" dirty="0">
                <a:solidFill>
                  <a:srgbClr val="F4C878"/>
                </a:solidFill>
                <a:latin typeface="Yu Gothic" pitchFamily="34" charset="0"/>
                <a:ea typeface="Yu Gothic" pitchFamily="34" charset="-122"/>
                <a:cs typeface="Yu Gothic" pitchFamily="34" charset="-120"/>
              </a:rPr>
              <a:t>「救済者に依存するな」「権限を分散せよ」という処方箋も、集団によって効き方が変わりうる。この見立てを確かめるには、波及の強さが違う集団を並べて同じ介入を試す必要がある。</a:t>
            </a:r>
            <a:endParaRPr lang="en-US" sz="1300" dirty="0"/>
          </a:p>
        </p:txBody>
      </p:sp>
      <p:sp>
        <p:nvSpPr>
          <p:cNvPr id="30"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5190592" y="512064"/>
            <a:ext cx="1810512" cy="1810512"/>
          </a:xfrm>
          <a:prstGeom prst="ellipse">
            <a:avLst/>
          </a:prstGeom>
          <a:solidFill>
            <a:srgbClr val="E8A33D">
              <a:alpha val="12000"/>
            </a:srgbClr>
          </a:solidFill>
          <a:ln/>
        </p:spPr>
      </p:sp>
      <p:sp>
        <p:nvSpPr>
          <p:cNvPr id="3" name="Shape 1"/>
          <p:cNvSpPr/>
          <p:nvPr/>
        </p:nvSpPr>
        <p:spPr>
          <a:xfrm>
            <a:off x="5437480" y="758952"/>
            <a:ext cx="1316736" cy="1316736"/>
          </a:xfrm>
          <a:prstGeom prst="ellipse">
            <a:avLst/>
          </a:prstGeom>
          <a:solidFill>
            <a:srgbClr val="E8A33D">
              <a:alpha val="22000"/>
            </a:srgbClr>
          </a:solidFill>
          <a:ln/>
        </p:spPr>
      </p:sp>
      <p:sp>
        <p:nvSpPr>
          <p:cNvPr id="4" name="Shape 2"/>
          <p:cNvSpPr/>
          <p:nvPr/>
        </p:nvSpPr>
        <p:spPr>
          <a:xfrm>
            <a:off x="5684368" y="1005840"/>
            <a:ext cx="822960" cy="82296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5898337" y="1219810"/>
            <a:ext cx="395021" cy="395021"/>
          </a:xfrm>
          <a:prstGeom prst="rect">
            <a:avLst/>
          </a:prstGeom>
        </p:spPr>
      </p:pic>
      <p:sp>
        <p:nvSpPr>
          <p:cNvPr id="6" name="Text 3"/>
          <p:cNvSpPr/>
          <p:nvPr/>
        </p:nvSpPr>
        <p:spPr>
          <a:xfrm>
            <a:off x="0" y="1965960"/>
            <a:ext cx="1219169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Yu Gothic" pitchFamily="34" charset="0"/>
                <a:ea typeface="Yu Gothic" pitchFamily="34" charset="-122"/>
                <a:cs typeface="Yu Gothic" pitchFamily="34" charset="-120"/>
              </a:rPr>
              <a:t>救済者 × ガバナンス</a:t>
            </a:r>
            <a:endParaRPr lang="en-US" sz="3400" dirty="0"/>
          </a:p>
        </p:txBody>
      </p:sp>
      <p:sp>
        <p:nvSpPr>
          <p:cNvPr id="7" name="Text 4"/>
          <p:cNvSpPr/>
          <p:nvPr/>
        </p:nvSpPr>
        <p:spPr>
          <a:xfrm>
            <a:off x="0" y="2651760"/>
            <a:ext cx="12191695" cy="411480"/>
          </a:xfrm>
          <a:prstGeom prst="rect">
            <a:avLst/>
          </a:prstGeom>
          <a:noFill/>
          <a:ln/>
        </p:spPr>
        <p:txBody>
          <a:bodyPr wrap="square" lIns="0" tIns="0" rIns="0" bIns="0" rtlCol="0" anchor="ctr"/>
          <a:lstStyle/>
          <a:p>
            <a:pPr algn="ctr" indent="0" marL="0">
              <a:buNone/>
            </a:pPr>
            <a:r>
              <a:rPr lang="en-US" sz="1500" dirty="0">
                <a:solidFill>
                  <a:srgbClr val="AFC9EE"/>
                </a:solidFill>
                <a:latin typeface="Yu Gothic" pitchFamily="34" charset="0"/>
                <a:ea typeface="Yu Gothic" pitchFamily="34" charset="-122"/>
                <a:cs typeface="Yu Gothic" pitchFamily="34" charset="-120"/>
              </a:rPr>
              <a:t>神が降りなくても、村は回るか</a:t>
            </a:r>
            <a:endParaRPr lang="en-US" sz="1500" dirty="0"/>
          </a:p>
        </p:txBody>
      </p:sp>
      <p:sp>
        <p:nvSpPr>
          <p:cNvPr id="8" name="Shape 5"/>
          <p:cNvSpPr/>
          <p:nvPr/>
        </p:nvSpPr>
        <p:spPr>
          <a:xfrm>
            <a:off x="60944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9" name="Text 6"/>
          <p:cNvSpPr/>
          <p:nvPr/>
        </p:nvSpPr>
        <p:spPr>
          <a:xfrm>
            <a:off x="792328" y="3474720"/>
            <a:ext cx="3108960" cy="502920"/>
          </a:xfrm>
          <a:prstGeom prst="rect">
            <a:avLst/>
          </a:prstGeom>
          <a:noFill/>
          <a:ln/>
        </p:spPr>
        <p:txBody>
          <a:bodyPr wrap="square" lIns="0" tIns="0" rIns="0" bIns="0" rtlCol="0" anchor="ctr"/>
          <a:lstStyle/>
          <a:p>
            <a:pPr algn="ctr" indent="0" marL="0">
              <a:buNone/>
            </a:pPr>
            <a:r>
              <a:rPr lang="en-US" sz="1900" b="1" dirty="0">
                <a:solidFill>
                  <a:srgbClr val="5A8FD6"/>
                </a:solidFill>
                <a:latin typeface="Yu Gothic" pitchFamily="34" charset="0"/>
                <a:ea typeface="Yu Gothic" pitchFamily="34" charset="-122"/>
                <a:cs typeface="Yu Gothic" pitchFamily="34" charset="-120"/>
              </a:rPr>
              <a:t>本人は同じだけ変わった</a:t>
            </a:r>
            <a:endParaRPr lang="en-US" sz="1900" dirty="0"/>
          </a:p>
        </p:txBody>
      </p:sp>
      <p:sp>
        <p:nvSpPr>
          <p:cNvPr id="10" name="Text 7"/>
          <p:cNvSpPr/>
          <p:nvPr/>
        </p:nvSpPr>
        <p:spPr>
          <a:xfrm>
            <a:off x="83804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同じ介入でキーパーソン本人の変化量はほぼ互角（44.4対50.0）</a:t>
            </a:r>
            <a:endParaRPr lang="en-US" sz="1100" dirty="0"/>
          </a:p>
        </p:txBody>
      </p:sp>
      <p:sp>
        <p:nvSpPr>
          <p:cNvPr id="11" name="Shape 8"/>
          <p:cNvSpPr/>
          <p:nvPr/>
        </p:nvSpPr>
        <p:spPr>
          <a:xfrm>
            <a:off x="435848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2" name="Text 9"/>
          <p:cNvSpPr/>
          <p:nvPr/>
        </p:nvSpPr>
        <p:spPr>
          <a:xfrm>
            <a:off x="4541368" y="3474720"/>
            <a:ext cx="3108960" cy="502920"/>
          </a:xfrm>
          <a:prstGeom prst="rect">
            <a:avLst/>
          </a:prstGeom>
          <a:noFill/>
          <a:ln/>
        </p:spPr>
        <p:txBody>
          <a:bodyPr wrap="square" lIns="0" tIns="0" rIns="0" bIns="0" rtlCol="0" anchor="ctr"/>
          <a:lstStyle/>
          <a:p>
            <a:pPr algn="ctr" indent="0" marL="0">
              <a:buNone/>
            </a:pPr>
            <a:r>
              <a:rPr lang="en-US" sz="1900" b="1" dirty="0">
                <a:solidFill>
                  <a:srgbClr val="E2665A"/>
                </a:solidFill>
                <a:latin typeface="Yu Gothic" pitchFamily="34" charset="0"/>
                <a:ea typeface="Yu Gothic" pitchFamily="34" charset="-122"/>
                <a:cs typeface="Yu Gothic" pitchFamily="34" charset="-120"/>
              </a:rPr>
              <a:t>でも集団の結果は割れた</a:t>
            </a:r>
            <a:endParaRPr lang="en-US" sz="1900" dirty="0"/>
          </a:p>
        </p:txBody>
      </p:sp>
      <p:sp>
        <p:nvSpPr>
          <p:cNvPr id="13" name="Text 10"/>
          <p:cNvSpPr/>
          <p:nvPr/>
        </p:nvSpPr>
        <p:spPr>
          <a:xfrm>
            <a:off x="458708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村全体の自律度は +18.0 と −1.2。周囲の変化量は22.2対8.3</a:t>
            </a:r>
            <a:endParaRPr lang="en-US" sz="1100" dirty="0"/>
          </a:p>
        </p:txBody>
      </p:sp>
      <p:sp>
        <p:nvSpPr>
          <p:cNvPr id="14" name="Shape 11"/>
          <p:cNvSpPr/>
          <p:nvPr/>
        </p:nvSpPr>
        <p:spPr>
          <a:xfrm>
            <a:off x="810752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5" name="Text 12"/>
          <p:cNvSpPr/>
          <p:nvPr/>
        </p:nvSpPr>
        <p:spPr>
          <a:xfrm>
            <a:off x="8290408" y="3474720"/>
            <a:ext cx="3108960" cy="502920"/>
          </a:xfrm>
          <a:prstGeom prst="rect">
            <a:avLst/>
          </a:prstGeom>
          <a:noFill/>
          <a:ln/>
        </p:spPr>
        <p:txBody>
          <a:bodyPr wrap="square" lIns="0" tIns="0" rIns="0" bIns="0" rtlCol="0" anchor="ctr"/>
          <a:lstStyle/>
          <a:p>
            <a:pPr algn="ctr" indent="0" marL="0">
              <a:buNone/>
            </a:pPr>
            <a:r>
              <a:rPr lang="en-US" sz="1900" b="1" dirty="0">
                <a:solidFill>
                  <a:srgbClr val="1BAF7A"/>
                </a:solidFill>
                <a:latin typeface="Yu Gothic" pitchFamily="34" charset="0"/>
                <a:ea typeface="Yu Gothic" pitchFamily="34" charset="-122"/>
                <a:cs typeface="Yu Gothic" pitchFamily="34" charset="-120"/>
              </a:rPr>
              <a:t>対応していたのは周囲の側</a:t>
            </a:r>
            <a:endParaRPr lang="en-US" sz="1900" dirty="0"/>
          </a:p>
        </p:txBody>
      </p:sp>
      <p:sp>
        <p:nvSpPr>
          <p:cNvPr id="16" name="Text 13"/>
          <p:cNvSpPr/>
          <p:nvPr/>
        </p:nvSpPr>
        <p:spPr>
          <a:xfrm>
            <a:off x="833612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村の変化は、介入の反映量より周囲の挙動変化と対応していた</a:t>
            </a:r>
            <a:endParaRPr lang="en-US" sz="1100" dirty="0"/>
          </a:p>
        </p:txBody>
      </p:sp>
      <p:sp>
        <p:nvSpPr>
          <p:cNvPr id="17" name="Text 14"/>
          <p:cNvSpPr/>
          <p:nvPr/>
        </p:nvSpPr>
        <p:spPr>
          <a:xfrm>
            <a:off x="0" y="507492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実装はClaude（Anthropic）との二人三脚で、企画・レビュー・考察を担当</a:t>
            </a:r>
            <a:endParaRPr lang="en-US" sz="1200" dirty="0"/>
          </a:p>
        </p:txBody>
      </p:sp>
      <p:sp>
        <p:nvSpPr>
          <p:cNvPr id="18" name="Text 15"/>
          <p:cNvSpPr/>
          <p:nvPr/>
        </p:nvSpPr>
        <p:spPr>
          <a:xfrm>
            <a:off x="0" y="6035040"/>
            <a:ext cx="12191695" cy="274320"/>
          </a:xfrm>
          <a:prstGeom prst="rect">
            <a:avLst/>
          </a:prstGeom>
          <a:noFill/>
          <a:ln/>
        </p:spPr>
        <p:txBody>
          <a:bodyPr wrap="square" lIns="0" tIns="0" rIns="0" bIns="0" rtlCol="0" anchor="ctr"/>
          <a:lstStyle/>
          <a:p>
            <a:pPr algn="ctr" indent="0" marL="0">
              <a:buNone/>
            </a:pPr>
            <a:r>
              <a:rPr lang="en-US" sz="1100" dirty="0">
                <a:solidFill>
                  <a:srgbClr val="5B6480"/>
                </a:solidFill>
                <a:latin typeface="Yu Gothic" pitchFamily="34" charset="0"/>
                <a:ea typeface="Yu Gothic" pitchFamily="34" charset="-122"/>
                <a:cs typeface="Yu Gothic" pitchFamily="34" charset="-120"/>
              </a:rPr>
              <a:t>github.com/sakurako-cottoncandy/beyond-the-savior</a:t>
            </a:r>
            <a:endParaRPr lang="en-US" sz="1100" dirty="0"/>
          </a:p>
        </p:txBody>
      </p:sp>
      <p:sp>
        <p:nvSpPr>
          <p:cNvPr id="19" name="Text 16"/>
          <p:cNvSpPr/>
          <p:nvPr/>
        </p:nvSpPr>
        <p:spPr>
          <a:xfrm>
            <a:off x="10088575" y="6400800"/>
            <a:ext cx="164592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Hackathon Project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救済者×ガバナンス</dc:title>
  <dc:subject>PptxGenJS Presentation</dc:subject>
  <dc:creator>sakurako-cottoncandy</dc:creator>
  <cp:lastModifiedBy>sakurako-cottoncandy</cp:lastModifiedBy>
  <cp:revision>1</cp:revision>
  <dcterms:created xsi:type="dcterms:W3CDTF">2026-08-20T14:41:28Z</dcterms:created>
  <dcterms:modified xsi:type="dcterms:W3CDTF">2026-08-20T14:41:28Z</dcterms:modified>
</cp:coreProperties>
</file>